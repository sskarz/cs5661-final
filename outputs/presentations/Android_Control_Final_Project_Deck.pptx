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scope. The project eventually explored AndroidWorld deployment, but this presentation covers the AndroidControl portion: the data setup, the failed coordinate-regression path, the pivot to accessibility-native element prediction, and the final Run L result. The headline is a held-out full-test improvement from 0.3935 to 0.5311 element-accuracy.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as grounded action prediction. The model must map a goal and a screenshot or UI state to a structured Android action. The central research question is not merely whether fine-tuning helps, but what representation makes the supervision learnable. That is why the project spends so much time comparing coordinate regression against accessibility-native element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is deliberately simple: supervised fine-tuning on step-level examples. The hardware constraint matters because it shaped the project: a single RTX 4090 with QLoRA, so the project emphasized fast iteration, checkpoint sweeps, and cheap representation changes rather than massive pretraining. The final a11y-native phase uses about 73 thousand train rows, 686 validation rows, and 8,217 test rows. Below the row counts is the training profile of the first AC SFT run: about 30 million trainable parameters, 0.58 percent of base, 8 hours and 41 minutes wall on the 4090, and a final adapter of just 119 megabytes. Every later run inherits this budget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between the setup and the failed early runs. The loss curve looks textbook: monotone descent from 10.24 at step 10 to about 0.42 at the end of one epoch. There were no NaN, gradient norms stayed in a narrow band around 0.8 to 1.6, and the run was wall-clock predictable. By every dashboard metric, Run A was healthy. The eval told a different story — full-match dropped from baseline 0.288 to 0.232. The reason was that the loss was averaged across the entire rendered conversation, including 256 image patch tokens. Image-patch self-CE converges quickly because each token is largely predictable from neighbouring tokens, so the headline loss number was dominated by the easy patch tokens, not the JSON action we actually needed to optimize. This diagnosis is the seed of the rest of the project: every later recipe in this deck is a response to the gap between training-loss health and eval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began with the obvious representation: predict normalized x and y coordinates. This looks general and easy to evaluate, but it creates a mismatch between language-model cross entropy and geometric screen distance. The model is rewarded for token strings, not for pointing to a nearby UI element. This mismatch drives the early failure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run history in one table. The team tried the common levers: larger LoRA, lower learning rate and early stopping, a coordinate-aware Huber term, discrete coordinate tokens, class weights, and finally a trainable multimodal projector. These improved diagnostics but did not beat the coordinate zero-shot baseline. The important scientific value is that the negative results narrowed the cause: not merely undertraining, not merely rank, and not merely optimizer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diagnosis has three parts. First, early LoRAs were good at emitting valid JSON, so this was not primarily a parsing problem. Second, the spatial diagnostic showed structural mode collapse: Run B emitted nine canonical screen positions for over half of all its tap predictions. Predictions cluster on screen-center, top-left corner, and bottom-edge — not on whatever element the screenshot actually contains. Third, an audit showed the multimodal projector was frozen even when the vision tower and language model had LoRA adapters. This layer is where spatial visual features enter the language embedding space. Unfreezing it raised Run H to 0.275, a real lift, but still below the 0.288 zero-shot baseline. The bug was load-bearing; the coordinate framing was the deeper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turning point. Two coordinate-free alternatives were implemented. Set-of-Marks was conceptually attractive, but the zero-shot 2B model could not reliably use visual marks. Path W worked immediately: use the accessibility tree as a text legend and ask the model to choose an element ID. This aligns the target with what UI agents actually execute: clicking a UI node, not an abstract coordinate.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switching to Path W, the team realized the old tap-radius metric was now misleading. If two icons are close, the model can select the wrong element yet still be within the radius. Element-accuracy is stricter and better aligned with production behavior. It also changed the interpretation of Run I: what looked like overfitting under tap-radius was actual continued learning under element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result is not a single lucky run; it is a controlled ablation chain. Run I establishes the a11y-native baseline. Run J tests class-balanced loss and loses. Run K changes only the output schema to a hierarchical CAP style and wins. Run L adds a prior-action history prefix and wins again, mostly on scroll. This makes the final methodology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K was motivated by CoCo-Agent-style conditional action prediction: generate the action type first, then the type-specific arguments. This structurally separates action selection from argument generation. The payoff was dramatic for open_app: it rose from about 2 percent under Run I to about 72 percent under Run K on full test, which is the main source of Run K’s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L adds a one-step prior action history. The hypothesis was that it might help temporal classes like wait. That hypothesis was wrong; wait remained near zero. But the run discovered a different win: scroll direction. The history prefix reduced a systematic scroll-down to scroll-up flip, lifting scroll accuracy from 21.5 percent to 39.8 percent and producing the final best overall element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results slide. The final selected model is Run L checkpoint 2100, chosen by validation element accuracy and then evaluated on the full 8,217-row AndroidControl test. It improves from 0.3935 to 0.5311, a 13.76 percentage point absolute gain and 35 percent relative improvement. Run J is included because it is an important negative ablation: class weighting did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improvement is broad compared with zero-shot, but the mechanisms differ. CAP produces the large open_app lift. The accessibility-native target drives tap gains. Prior-action history helps scroll. Wait remains essentially unsolved because a single screenshot often cannot tell whether the right move is to wait. This helps keep the conclusion honest: the model improved, but some residual errors are structural.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meant to synthesize the project. The strongest lesson is that representation dominated optimizer tuning. The second lesson is metric choice: a metric that was reasonable for coordinates became wrong for element prediction. The third is methodological: the final result is credible because many alternatives were tested and documented, including negative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opens the AndroidWorld arc and frames the structural reason a per-step win does not automatically transfer. Two things differ from AndroidControl. First the metric: AndroidWorld scores whole episodes via the harness is_successful check, not per-step accuracy. Second the distribution: AW tasks are programmatically synthesized across 20 real apps under a live emulator, not human-curated single-step demonstrations. The compounding-error table makes the pessimistic case concrete: even at 95 percent per-step accuracy, ten-step episodes succeed only 60 percent of the time, and at 70 percent per step, twenty-step episodes essentially never succeed. Run L is around 70 percent per-step on tap, which is exactly the regime where compounding will eat the model alive unless the rollout itself is part of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AndroidWorld result. The starting floor was hard zero: the canonical M3A harness on the bare Gemma 4 E2B baseline scored 0 of 82 attempted tasks, and the Run-L LoRA — our AC SFT champion — collapsed to 0 of 31 in a v3-harness sweep before being halted. Plugging an offline-SFT model into a multi-step rollout exposed an OOD-prompt narrowness failure mode and the LoRA stopped being able to follow English instructions. We then ran an autoresearch loop documented in sections 53 and 54 of the training log. Three load-bearing changes carried us off the floor: synthesizing trajectory data from a stronger teacher, mixing AndroidControl with AndroidLab so the model has open_app exemplars, and switching the SFT base to Qwen 3.5 4B which has noticeably better agent priors. The current best, r62, layers a two-epoch genesis-vision continuation on top of the r57b adapter and lands at ten of one hundred fifteen attempted, 8.70 percent. That is not the literature ceiling — UI-TARS-2 is at 73 percent — but it is a clean lift off zero on the canonical benchmark with a 4B model and no GUI pretraining.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candid failure analysis. The anchoring data is the M3A baseline failure-mode breakdown from section 52 of the training log. Sixty-eight percent of the time, the model never emits a terminal status and just runs out of steps. Twelve percent of the time the majority of steps in the episode failed to parse. Seven percent of the time it emits an answer that is wrong, six percent claims complete prematurely, and five percent gives up calling the task infeasible. The right panel ties three structural gaps to that distribution. Per-step to episode dropoff is the math from the prior slide. OOD-prompt narrowness is the empirical observation that the Run-L LoRA, trained on a single-shot prompt format, mode-collapsed and even hallucinated action types like navigate_to and record_audio that are not in the schema. The terminal-state gap is the observation that wait and status complete need temporal information the single screenshot does not encode. None of these are fixed by a better recipe at the same task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"what we did not run, and why it plausibly works" slide — the constructive close before the conclusion. Four cards, each grounded in a literature precedent we actually cite in the training log. Trajectory-replay SFT is what UI-TARS-2 and V-Droid do, and the DigiRL paper went from 17.7 percent SFT to 67.2 percent post-RL on a sister benchmark. Schema-enforced decoding directly attacks the hallucination class we observed in the failed Run-L sweep — outlines or JSON-grammar at inference time would simply not let the model emit navigate_to or record_audio because those are not legal in the schema. CoT or ReAct-format labels at training time match what every published AW-above-floor model uses: the prompt the harness sends has Thought slash Action structure, and our LoRA was trained without it. Finally, an inference-time reflector or planner / executor split — Mobile-Agent-E reports plus 22 points from harness changes alone, no retraining. None of these fit in a one-term project budget, but each is documented in the training log future-work table with cost, risk, and expected-gain estimates and is the natural next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two parallel results. AndroidControl is the headline: 0.5311 element-accuracy on the full 8,217-row test versus 0.3935 zero-shot, a 13.76 percentage-point absolute lift, achieved by reframing tap prediction as accessibility-native element selection and layering CAP schema and one-step history on top. AndroidWorld is the depth: 8.70 percent AW-116 success rate with the r62 Qwen-based recipe, lifted off the hard zero floor that bare baselines and the offline-SFT LoRA both hit. Both numbers are in the deck because both belong in the project record. The bridge between them — closing the per-step to episode-success gap — needs trajectory-level training and harness-aware scaffolding, both of which are documented in the training log's future-work table as the natural next steps. The contribution is not "we hit the literature ceiling," it is "we mapped the gap honestly and identified the four follow-on moves with the highest expected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111827"/>
          </a:solidFill>
          <a:ln w="12700">
            <a:solidFill>
              <a:srgbClr val="111827"/>
            </a:solidFill>
            <a:prstDash val="solid"/>
          </a:ln>
        </p:spPr>
      </p:sp>
      <p:sp>
        <p:nvSpPr>
          <p:cNvPr id="3" name="Text 1"/>
          <p:cNvSpPr/>
          <p:nvPr/>
        </p:nvSpPr>
        <p:spPr>
          <a:xfrm>
            <a:off x="411480" y="6601968"/>
            <a:ext cx="7772400" cy="164592"/>
          </a:xfrm>
          <a:prstGeom prst="rect">
            <a:avLst/>
          </a:prstGeom>
          <a:noFill/>
          <a:ln/>
        </p:spPr>
        <p:txBody>
          <a:bodyPr wrap="square" lIns="0" tIns="0" rIns="0" bIns="0" rtlCol="0" anchor="ctr"/>
          <a:lstStyle/>
          <a:p>
            <a:pPr indent="0" marL="0">
              <a:buNone/>
            </a:pPr>
            <a:r>
              <a:rPr lang="en-US" sz="650" dirty="0">
                <a:solidFill>
                  <a:srgbClr val="94A3B8"/>
                </a:solidFill>
                <a:latin typeface="Aptos" pitchFamily="34" charset="0"/>
                <a:ea typeface="Aptos" pitchFamily="34" charset="-122"/>
                <a:cs typeface="Aptos" pitchFamily="34" charset="-120"/>
              </a:rPr>
              <a:t>AndroidControl SFT • Gemma 4 E2B • CS5661 Final Project</a:t>
            </a:r>
            <a:endParaRPr lang="en-US" sz="65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sp>
      <p:sp>
        <p:nvSpPr>
          <p:cNvPr id="3" name="Shape 1"/>
          <p:cNvSpPr/>
          <p:nvPr/>
        </p:nvSpPr>
        <p:spPr>
          <a:xfrm>
            <a:off x="8046720" y="-731520"/>
            <a:ext cx="4937760" cy="4937760"/>
          </a:xfrm>
          <a:prstGeom prst="arc">
            <a:avLst/>
          </a:prstGeom>
          <a:solidFill>
            <a:srgbClr val="0B1020">
              <a:alpha val="0"/>
            </a:srgbClr>
          </a:solidFill>
          <a:ln w="38100">
            <a:solidFill>
              <a:srgbClr val="22D3EE">
                <a:alpha val="65000"/>
              </a:srgbClr>
            </a:solidFill>
            <a:prstDash val="solid"/>
          </a:ln>
        </p:spPr>
      </p:sp>
      <p:sp>
        <p:nvSpPr>
          <p:cNvPr id="4" name="Shape 2"/>
          <p:cNvSpPr/>
          <p:nvPr/>
        </p:nvSpPr>
        <p:spPr>
          <a:xfrm>
            <a:off x="8686800" y="91440"/>
            <a:ext cx="3566160" cy="3566160"/>
          </a:xfrm>
          <a:prstGeom prst="arc">
            <a:avLst/>
          </a:prstGeom>
          <a:solidFill>
            <a:srgbClr val="0B1020">
              <a:alpha val="0"/>
            </a:srgbClr>
          </a:solidFill>
          <a:ln w="25400">
            <a:solidFill>
              <a:srgbClr val="A78BFA">
                <a:alpha val="55000"/>
              </a:srgbClr>
            </a:solidFill>
            <a:prstDash val="solid"/>
          </a:ln>
        </p:spPr>
      </p:sp>
      <p:sp>
        <p:nvSpPr>
          <p:cNvPr id="5" name="Shape 3"/>
          <p:cNvSpPr/>
          <p:nvPr/>
        </p:nvSpPr>
        <p:spPr>
          <a:xfrm>
            <a:off x="594360" y="658368"/>
            <a:ext cx="1645920" cy="274320"/>
          </a:xfrm>
          <a:prstGeom prst="roundRect">
            <a:avLst>
              <a:gd name="adj" fmla="val 20000"/>
            </a:avLst>
          </a:prstGeom>
          <a:solidFill>
            <a:srgbClr val="22D3EE">
              <a:alpha val="92000"/>
            </a:srgbClr>
          </a:solidFill>
          <a:ln w="12700">
            <a:solidFill>
              <a:srgbClr val="22D3EE">
                <a:alpha val="90000"/>
              </a:srgbClr>
            </a:solidFill>
            <a:prstDash val="solid"/>
          </a:ln>
        </p:spPr>
      </p:sp>
      <p:sp>
        <p:nvSpPr>
          <p:cNvPr id="6" name="Text 4"/>
          <p:cNvSpPr/>
          <p:nvPr/>
        </p:nvSpPr>
        <p:spPr>
          <a:xfrm>
            <a:off x="594360" y="726948"/>
            <a:ext cx="1645920" cy="100584"/>
          </a:xfrm>
          <a:prstGeom prst="rect">
            <a:avLst/>
          </a:prstGeom>
          <a:noFill/>
          <a:ln/>
        </p:spPr>
        <p:txBody>
          <a:bodyPr wrap="square" lIns="0" tIns="0" rIns="0" bIns="0" rtlCol="0" anchor="ctr"/>
          <a:lstStyle/>
          <a:p>
            <a:pPr algn="ctr" indent="0" marL="0">
              <a:buNone/>
            </a:pPr>
            <a:r>
              <a:rPr lang="en-US" sz="750" b="1" dirty="0">
                <a:solidFill>
                  <a:srgbClr val="0B1020"/>
                </a:solidFill>
              </a:rPr>
              <a:t>ANDROID CONTROL</a:t>
            </a:r>
            <a:endParaRPr lang="en-US" sz="750" dirty="0"/>
          </a:p>
        </p:txBody>
      </p:sp>
      <p:sp>
        <p:nvSpPr>
          <p:cNvPr id="7" name="Shape 5"/>
          <p:cNvSpPr/>
          <p:nvPr/>
        </p:nvSpPr>
        <p:spPr>
          <a:xfrm>
            <a:off x="2395728" y="658368"/>
            <a:ext cx="841248" cy="274320"/>
          </a:xfrm>
          <a:prstGeom prst="roundRect">
            <a:avLst>
              <a:gd name="adj" fmla="val 20000"/>
            </a:avLst>
          </a:prstGeom>
          <a:solidFill>
            <a:srgbClr val="A78BFA">
              <a:alpha val="92000"/>
            </a:srgbClr>
          </a:solidFill>
          <a:ln w="12700">
            <a:solidFill>
              <a:srgbClr val="A78BFA">
                <a:alpha val="90000"/>
              </a:srgbClr>
            </a:solidFill>
            <a:prstDash val="solid"/>
          </a:ln>
        </p:spPr>
      </p:sp>
      <p:sp>
        <p:nvSpPr>
          <p:cNvPr id="8" name="Text 6"/>
          <p:cNvSpPr/>
          <p:nvPr/>
        </p:nvSpPr>
        <p:spPr>
          <a:xfrm>
            <a:off x="2395728" y="726948"/>
            <a:ext cx="841248" cy="100584"/>
          </a:xfrm>
          <a:prstGeom prst="rect">
            <a:avLst/>
          </a:prstGeom>
          <a:noFill/>
          <a:ln/>
        </p:spPr>
        <p:txBody>
          <a:bodyPr wrap="square" lIns="0" tIns="0" rIns="0" bIns="0" rtlCol="0" anchor="ctr"/>
          <a:lstStyle/>
          <a:p>
            <a:pPr algn="ctr" indent="0" marL="0">
              <a:buNone/>
            </a:pPr>
            <a:r>
              <a:rPr lang="en-US" sz="750" b="1" dirty="0">
                <a:solidFill>
                  <a:srgbClr val="0B1020"/>
                </a:solidFill>
              </a:rPr>
              <a:t>QLoRA</a:t>
            </a:r>
            <a:endParaRPr lang="en-US" sz="750" dirty="0"/>
          </a:p>
        </p:txBody>
      </p:sp>
      <p:sp>
        <p:nvSpPr>
          <p:cNvPr id="9" name="Text 7"/>
          <p:cNvSpPr/>
          <p:nvPr/>
        </p:nvSpPr>
        <p:spPr>
          <a:xfrm>
            <a:off x="594360" y="1170432"/>
            <a:ext cx="7589520" cy="1051560"/>
          </a:xfrm>
          <a:prstGeom prst="rect">
            <a:avLst/>
          </a:prstGeom>
          <a:noFill/>
          <a:ln/>
        </p:spPr>
        <p:txBody>
          <a:bodyPr wrap="square" lIns="0" tIns="0" rIns="0" bIns="0" rtlCol="0" anchor="ctr">
            <a:normAutofit/>
          </a:bodyPr>
          <a:lstStyle/>
          <a:p>
            <a:pPr indent="0" marL="0">
              <a:buNone/>
            </a:pPr>
            <a:r>
              <a:rPr lang="en-US" sz="3400" b="1" dirty="0">
                <a:solidFill>
                  <a:srgbClr val="E5E7EB"/>
                </a:solidFill>
              </a:rPr>
              <a:t>Learning Android UI Control</a:t>
            </a:r>
            <a:endParaRPr lang="en-US" sz="3400" dirty="0"/>
          </a:p>
          <a:p>
            <a:pPr indent="0" marL="0">
              <a:buNone/>
            </a:pPr>
            <a:r>
              <a:rPr lang="en-US" sz="3400" b="1" dirty="0">
                <a:solidFill>
                  <a:srgbClr val="E5E7EB"/>
                </a:solidFill>
              </a:rPr>
              <a:t>with Gemma 4 E2B</a:t>
            </a:r>
            <a:endParaRPr lang="en-US" sz="3400" dirty="0"/>
          </a:p>
        </p:txBody>
      </p:sp>
      <p:sp>
        <p:nvSpPr>
          <p:cNvPr id="10" name="Text 8"/>
          <p:cNvSpPr/>
          <p:nvPr/>
        </p:nvSpPr>
        <p:spPr>
          <a:xfrm>
            <a:off x="612648" y="2423160"/>
            <a:ext cx="6858000" cy="256032"/>
          </a:xfrm>
          <a:prstGeom prst="rect">
            <a:avLst/>
          </a:prstGeom>
          <a:noFill/>
          <a:ln/>
        </p:spPr>
        <p:txBody>
          <a:bodyPr wrap="square" lIns="0" tIns="0" rIns="0" bIns="0" rtlCol="0" anchor="ctr"/>
          <a:lstStyle/>
          <a:p>
            <a:pPr indent="0" marL="0">
              <a:buNone/>
            </a:pPr>
            <a:r>
              <a:rPr lang="en-US" sz="1300" dirty="0">
                <a:solidFill>
                  <a:srgbClr val="94A3B8"/>
                </a:solidFill>
              </a:rPr>
              <a:t>Master’s AI final project — focused on the AndroidControl training phase</a:t>
            </a:r>
            <a:endParaRPr lang="en-US" sz="1300" dirty="0"/>
          </a:p>
        </p:txBody>
      </p:sp>
      <p:sp>
        <p:nvSpPr>
          <p:cNvPr id="11" name="Shape 9"/>
          <p:cNvSpPr/>
          <p:nvPr/>
        </p:nvSpPr>
        <p:spPr>
          <a:xfrm>
            <a:off x="594360" y="3063240"/>
            <a:ext cx="10698480" cy="1508760"/>
          </a:xfrm>
          <a:prstGeom prst="roundRect">
            <a:avLst>
              <a:gd name="adj" fmla="val 4848"/>
            </a:avLst>
          </a:prstGeom>
          <a:solidFill>
            <a:srgbClr val="0F172A"/>
          </a:solidFill>
          <a:ln w="12700">
            <a:solidFill>
              <a:srgbClr val="334155">
                <a:alpha val="85000"/>
              </a:srgbClr>
            </a:solidFill>
            <a:prstDash val="solid"/>
          </a:ln>
        </p:spPr>
      </p:sp>
      <p:sp>
        <p:nvSpPr>
          <p:cNvPr id="12" name="Text 10"/>
          <p:cNvSpPr/>
          <p:nvPr/>
        </p:nvSpPr>
        <p:spPr>
          <a:xfrm>
            <a:off x="914400" y="3429000"/>
            <a:ext cx="2011680" cy="438912"/>
          </a:xfrm>
          <a:prstGeom prst="rect">
            <a:avLst/>
          </a:prstGeom>
          <a:noFill/>
          <a:ln/>
        </p:spPr>
        <p:txBody>
          <a:bodyPr wrap="square" lIns="0" tIns="0" rIns="0" bIns="0" rtlCol="0" anchor="ctr"/>
          <a:lstStyle/>
          <a:p>
            <a:pPr algn="ctr" indent="0" marL="0">
              <a:buNone/>
            </a:pPr>
            <a:r>
              <a:rPr lang="en-US" sz="3000" b="1" dirty="0">
                <a:solidFill>
                  <a:srgbClr val="34D399"/>
                </a:solidFill>
              </a:rPr>
              <a:t>0.5311</a:t>
            </a:r>
            <a:endParaRPr lang="en-US" sz="3000" dirty="0"/>
          </a:p>
        </p:txBody>
      </p:sp>
      <p:sp>
        <p:nvSpPr>
          <p:cNvPr id="13" name="Text 11"/>
          <p:cNvSpPr/>
          <p:nvPr/>
        </p:nvSpPr>
        <p:spPr>
          <a:xfrm>
            <a:off x="914400" y="3931920"/>
            <a:ext cx="2011680" cy="320040"/>
          </a:xfrm>
          <a:prstGeom prst="rect">
            <a:avLst/>
          </a:prstGeom>
          <a:noFill/>
          <a:ln/>
        </p:spPr>
        <p:txBody>
          <a:bodyPr wrap="square" lIns="0" tIns="0" rIns="0" bIns="0" rtlCol="0" anchor="ctr"/>
          <a:lstStyle/>
          <a:p>
            <a:pPr algn="ctr" indent="0" marL="0">
              <a:buNone/>
            </a:pPr>
            <a:r>
              <a:rPr lang="en-US" sz="950" dirty="0">
                <a:solidFill>
                  <a:srgbClr val="94A3B8"/>
                </a:solidFill>
              </a:rPr>
              <a:t>final element-accuracy</a:t>
            </a:r>
            <a:endParaRPr lang="en-US" sz="950" dirty="0"/>
          </a:p>
        </p:txBody>
      </p:sp>
      <p:sp>
        <p:nvSpPr>
          <p:cNvPr id="14" name="Text 12"/>
          <p:cNvSpPr/>
          <p:nvPr/>
        </p:nvSpPr>
        <p:spPr>
          <a:xfrm>
            <a:off x="3474720" y="3429000"/>
            <a:ext cx="2103120" cy="438912"/>
          </a:xfrm>
          <a:prstGeom prst="rect">
            <a:avLst/>
          </a:prstGeom>
          <a:noFill/>
          <a:ln/>
        </p:spPr>
        <p:txBody>
          <a:bodyPr wrap="square" lIns="0" tIns="0" rIns="0" bIns="0" rtlCol="0" anchor="ctr"/>
          <a:lstStyle/>
          <a:p>
            <a:pPr algn="ctr" indent="0" marL="0">
              <a:buNone/>
            </a:pPr>
            <a:r>
              <a:rPr lang="en-US" sz="3000" b="1" dirty="0">
                <a:solidFill>
                  <a:srgbClr val="22D3EE"/>
                </a:solidFill>
              </a:rPr>
              <a:t>+13.76 pp</a:t>
            </a:r>
            <a:endParaRPr lang="en-US" sz="3000" dirty="0"/>
          </a:p>
        </p:txBody>
      </p:sp>
      <p:sp>
        <p:nvSpPr>
          <p:cNvPr id="15" name="Text 13"/>
          <p:cNvSpPr/>
          <p:nvPr/>
        </p:nvSpPr>
        <p:spPr>
          <a:xfrm>
            <a:off x="3474720" y="3931920"/>
            <a:ext cx="2103120" cy="320040"/>
          </a:xfrm>
          <a:prstGeom prst="rect">
            <a:avLst/>
          </a:prstGeom>
          <a:noFill/>
          <a:ln/>
        </p:spPr>
        <p:txBody>
          <a:bodyPr wrap="square" lIns="0" tIns="0" rIns="0" bIns="0" rtlCol="0" anchor="ctr"/>
          <a:lstStyle/>
          <a:p>
            <a:pPr algn="ctr" indent="0" marL="0">
              <a:buNone/>
            </a:pPr>
            <a:r>
              <a:rPr lang="en-US" sz="950" dirty="0">
                <a:solidFill>
                  <a:srgbClr val="94A3B8"/>
                </a:solidFill>
              </a:rPr>
              <a:t>absolute lift vs zero-shot</a:t>
            </a:r>
            <a:endParaRPr lang="en-US" sz="950" dirty="0"/>
          </a:p>
        </p:txBody>
      </p:sp>
      <p:sp>
        <p:nvSpPr>
          <p:cNvPr id="16" name="Text 14"/>
          <p:cNvSpPr/>
          <p:nvPr/>
        </p:nvSpPr>
        <p:spPr>
          <a:xfrm>
            <a:off x="6080760" y="3429000"/>
            <a:ext cx="1828800" cy="438912"/>
          </a:xfrm>
          <a:prstGeom prst="rect">
            <a:avLst/>
          </a:prstGeom>
          <a:noFill/>
          <a:ln/>
        </p:spPr>
        <p:txBody>
          <a:bodyPr wrap="square" lIns="0" tIns="0" rIns="0" bIns="0" rtlCol="0" anchor="ctr"/>
          <a:lstStyle/>
          <a:p>
            <a:pPr algn="ctr" indent="0" marL="0">
              <a:buNone/>
            </a:pPr>
            <a:r>
              <a:rPr lang="en-US" sz="3000" b="1" dirty="0">
                <a:solidFill>
                  <a:srgbClr val="A78BFA"/>
                </a:solidFill>
              </a:rPr>
              <a:t>+35%</a:t>
            </a:r>
            <a:endParaRPr lang="en-US" sz="3000" dirty="0"/>
          </a:p>
        </p:txBody>
      </p:sp>
      <p:sp>
        <p:nvSpPr>
          <p:cNvPr id="17" name="Text 15"/>
          <p:cNvSpPr/>
          <p:nvPr/>
        </p:nvSpPr>
        <p:spPr>
          <a:xfrm>
            <a:off x="6080760" y="3931920"/>
            <a:ext cx="1828800" cy="320040"/>
          </a:xfrm>
          <a:prstGeom prst="rect">
            <a:avLst/>
          </a:prstGeom>
          <a:noFill/>
          <a:ln/>
        </p:spPr>
        <p:txBody>
          <a:bodyPr wrap="square" lIns="0" tIns="0" rIns="0" bIns="0" rtlCol="0" anchor="ctr"/>
          <a:lstStyle/>
          <a:p>
            <a:pPr algn="ctr" indent="0" marL="0">
              <a:buNone/>
            </a:pPr>
            <a:r>
              <a:rPr lang="en-US" sz="950" dirty="0">
                <a:solidFill>
                  <a:srgbClr val="94A3B8"/>
                </a:solidFill>
              </a:rPr>
              <a:t>relative improvement</a:t>
            </a:r>
            <a:endParaRPr lang="en-US" sz="950" dirty="0"/>
          </a:p>
        </p:txBody>
      </p:sp>
      <p:sp>
        <p:nvSpPr>
          <p:cNvPr id="18" name="Text 16"/>
          <p:cNvSpPr/>
          <p:nvPr/>
        </p:nvSpPr>
        <p:spPr>
          <a:xfrm>
            <a:off x="8412480" y="3429000"/>
            <a:ext cx="2011680" cy="438912"/>
          </a:xfrm>
          <a:prstGeom prst="rect">
            <a:avLst/>
          </a:prstGeom>
          <a:noFill/>
          <a:ln/>
        </p:spPr>
        <p:txBody>
          <a:bodyPr wrap="square" lIns="0" tIns="0" rIns="0" bIns="0" rtlCol="0" anchor="ctr"/>
          <a:lstStyle/>
          <a:p>
            <a:pPr algn="ctr" indent="0" marL="0">
              <a:buNone/>
            </a:pPr>
            <a:r>
              <a:rPr lang="en-US" sz="3000" b="1" dirty="0">
                <a:solidFill>
                  <a:srgbClr val="FBBF24"/>
                </a:solidFill>
              </a:rPr>
              <a:t>8,217</a:t>
            </a:r>
            <a:endParaRPr lang="en-US" sz="3000" dirty="0"/>
          </a:p>
        </p:txBody>
      </p:sp>
      <p:sp>
        <p:nvSpPr>
          <p:cNvPr id="19" name="Text 17"/>
          <p:cNvSpPr/>
          <p:nvPr/>
        </p:nvSpPr>
        <p:spPr>
          <a:xfrm>
            <a:off x="8412480" y="3931920"/>
            <a:ext cx="2011680" cy="320040"/>
          </a:xfrm>
          <a:prstGeom prst="rect">
            <a:avLst/>
          </a:prstGeom>
          <a:noFill/>
          <a:ln/>
        </p:spPr>
        <p:txBody>
          <a:bodyPr wrap="square" lIns="0" tIns="0" rIns="0" bIns="0" rtlCol="0" anchor="ctr"/>
          <a:lstStyle/>
          <a:p>
            <a:pPr algn="ctr" indent="0" marL="0">
              <a:buNone/>
            </a:pPr>
            <a:r>
              <a:rPr lang="en-US" sz="950" dirty="0">
                <a:solidFill>
                  <a:srgbClr val="94A3B8"/>
                </a:solidFill>
              </a:rPr>
              <a:t>AndroidControl test rows</a:t>
            </a:r>
            <a:endParaRPr lang="en-US" sz="950" dirty="0"/>
          </a:p>
        </p:txBody>
      </p:sp>
      <p:sp>
        <p:nvSpPr>
          <p:cNvPr id="20" name="Text 18"/>
          <p:cNvSpPr/>
          <p:nvPr/>
        </p:nvSpPr>
        <p:spPr>
          <a:xfrm>
            <a:off x="658368" y="6080760"/>
            <a:ext cx="10241280" cy="274320"/>
          </a:xfrm>
          <a:prstGeom prst="rect">
            <a:avLst/>
          </a:prstGeom>
          <a:noFill/>
          <a:ln/>
        </p:spPr>
        <p:txBody>
          <a:bodyPr wrap="square" lIns="0" tIns="0" rIns="0" bIns="0" rtlCol="0" anchor="ctr"/>
          <a:lstStyle/>
          <a:p>
            <a:pPr indent="0" marL="0">
              <a:buNone/>
            </a:pPr>
            <a:r>
              <a:rPr lang="en-US" sz="1000" i="1" dirty="0">
                <a:solidFill>
                  <a:srgbClr val="94A3B8"/>
                </a:solidFill>
              </a:rPr>
              <a:t>Scope note: this deck intentionally excludes the later AndroidWorld side quest except as a final transition.</a:t>
            </a:r>
            <a:endParaRPr lang="en-US" sz="100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PROBLEM</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Research problem: mobile UI agents need grounded actions</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640080" y="1417320"/>
            <a:ext cx="3200400" cy="4251960"/>
          </a:xfrm>
          <a:prstGeom prst="roundRect">
            <a:avLst>
              <a:gd name="adj" fmla="val 2286"/>
            </a:avLst>
          </a:prstGeom>
          <a:solidFill>
            <a:srgbClr val="111827"/>
          </a:solidFill>
          <a:ln w="12700">
            <a:solidFill>
              <a:srgbClr val="334155">
                <a:alpha val="85000"/>
              </a:srgbClr>
            </a:solidFill>
            <a:prstDash val="solid"/>
          </a:ln>
        </p:spPr>
      </p:sp>
      <p:sp>
        <p:nvSpPr>
          <p:cNvPr id="6" name="Shape 4"/>
          <p:cNvSpPr/>
          <p:nvPr/>
        </p:nvSpPr>
        <p:spPr>
          <a:xfrm>
            <a:off x="914400" y="1828800"/>
            <a:ext cx="2651760" cy="658368"/>
          </a:xfrm>
          <a:prstGeom prst="roundRect">
            <a:avLst>
              <a:gd name="adj" fmla="val 8333"/>
            </a:avLst>
          </a:prstGeom>
          <a:solidFill>
            <a:srgbClr val="1D4ED8">
              <a:alpha val="92000"/>
            </a:srgbClr>
          </a:solidFill>
          <a:ln w="15240">
            <a:solidFill>
              <a:srgbClr val="1D4ED8"/>
            </a:solidFill>
            <a:prstDash val="solid"/>
          </a:ln>
        </p:spPr>
      </p:sp>
      <p:sp>
        <p:nvSpPr>
          <p:cNvPr id="7" name="Text 5"/>
          <p:cNvSpPr/>
          <p:nvPr/>
        </p:nvSpPr>
        <p:spPr>
          <a:xfrm>
            <a:off x="987552" y="1938528"/>
            <a:ext cx="2505456" cy="49377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Instruction</a:t>
            </a:r>
            <a:endParaRPr lang="en-US" sz="1020" dirty="0"/>
          </a:p>
          <a:p>
            <a:pPr algn="ctr" indent="0" marL="0">
              <a:buNone/>
            </a:pPr>
            <a:r>
              <a:rPr lang="en-US" sz="1020" b="1" dirty="0">
                <a:solidFill>
                  <a:srgbClr val="FFFFFF"/>
                </a:solidFill>
              </a:rPr>
              <a:t>“Add Alice as a contact”</a:t>
            </a:r>
            <a:endParaRPr lang="en-US" sz="1020" dirty="0"/>
          </a:p>
        </p:txBody>
      </p:sp>
      <p:sp>
        <p:nvSpPr>
          <p:cNvPr id="8" name="Shape 6"/>
          <p:cNvSpPr/>
          <p:nvPr/>
        </p:nvSpPr>
        <p:spPr>
          <a:xfrm>
            <a:off x="2240280" y="2606040"/>
            <a:ext cx="0" cy="457200"/>
          </a:xfrm>
          <a:prstGeom prst="line">
            <a:avLst/>
          </a:prstGeom>
          <a:noFill/>
          <a:ln w="19050">
            <a:solidFill>
              <a:srgbClr val="94A3B8"/>
            </a:solidFill>
            <a:prstDash val="solid"/>
            <a:headEnd type="none"/>
            <a:tailEnd type="triangle"/>
          </a:ln>
        </p:spPr>
      </p:sp>
      <p:sp>
        <p:nvSpPr>
          <p:cNvPr id="9" name="Shape 7"/>
          <p:cNvSpPr/>
          <p:nvPr/>
        </p:nvSpPr>
        <p:spPr>
          <a:xfrm>
            <a:off x="914400" y="3063240"/>
            <a:ext cx="2651760" cy="658368"/>
          </a:xfrm>
          <a:prstGeom prst="roundRect">
            <a:avLst>
              <a:gd name="adj" fmla="val 8333"/>
            </a:avLst>
          </a:prstGeom>
          <a:solidFill>
            <a:srgbClr val="0E7490">
              <a:alpha val="92000"/>
            </a:srgbClr>
          </a:solidFill>
          <a:ln w="15240">
            <a:solidFill>
              <a:srgbClr val="0E7490"/>
            </a:solidFill>
            <a:prstDash val="solid"/>
          </a:ln>
        </p:spPr>
      </p:sp>
      <p:sp>
        <p:nvSpPr>
          <p:cNvPr id="10" name="Text 8"/>
          <p:cNvSpPr/>
          <p:nvPr/>
        </p:nvSpPr>
        <p:spPr>
          <a:xfrm>
            <a:off x="987552" y="3172968"/>
            <a:ext cx="2505456" cy="49377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Screenshot + UI state</a:t>
            </a:r>
            <a:endParaRPr lang="en-US" sz="1020" dirty="0"/>
          </a:p>
        </p:txBody>
      </p:sp>
      <p:sp>
        <p:nvSpPr>
          <p:cNvPr id="11" name="Shape 9"/>
          <p:cNvSpPr/>
          <p:nvPr/>
        </p:nvSpPr>
        <p:spPr>
          <a:xfrm>
            <a:off x="2240280" y="3840480"/>
            <a:ext cx="0" cy="457200"/>
          </a:xfrm>
          <a:prstGeom prst="line">
            <a:avLst/>
          </a:prstGeom>
          <a:noFill/>
          <a:ln w="19050">
            <a:solidFill>
              <a:srgbClr val="94A3B8"/>
            </a:solidFill>
            <a:prstDash val="solid"/>
            <a:headEnd type="none"/>
            <a:tailEnd type="triangle"/>
          </a:ln>
        </p:spPr>
      </p:sp>
      <p:sp>
        <p:nvSpPr>
          <p:cNvPr id="12" name="Shape 10"/>
          <p:cNvSpPr/>
          <p:nvPr/>
        </p:nvSpPr>
        <p:spPr>
          <a:xfrm>
            <a:off x="914400" y="4297680"/>
            <a:ext cx="2651760" cy="658368"/>
          </a:xfrm>
          <a:prstGeom prst="roundRect">
            <a:avLst>
              <a:gd name="adj" fmla="val 8333"/>
            </a:avLst>
          </a:prstGeom>
          <a:solidFill>
            <a:srgbClr val="047857">
              <a:alpha val="92000"/>
            </a:srgbClr>
          </a:solidFill>
          <a:ln w="15240">
            <a:solidFill>
              <a:srgbClr val="047857"/>
            </a:solidFill>
            <a:prstDash val="solid"/>
          </a:ln>
        </p:spPr>
      </p:sp>
      <p:sp>
        <p:nvSpPr>
          <p:cNvPr id="13" name="Text 11"/>
          <p:cNvSpPr/>
          <p:nvPr/>
        </p:nvSpPr>
        <p:spPr>
          <a:xfrm>
            <a:off x="987552" y="4407408"/>
            <a:ext cx="2505456" cy="49377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Action JSON</a:t>
            </a:r>
            <a:endParaRPr lang="en-US" sz="1020" dirty="0"/>
          </a:p>
          <a:p>
            <a:pPr algn="ctr" indent="0" marL="0">
              <a:buNone/>
            </a:pPr>
            <a:r>
              <a:rPr lang="en-US" sz="1020" b="1" dirty="0">
                <a:solidFill>
                  <a:srgbClr val="FFFFFF"/>
                </a:solidFill>
              </a:rPr>
              <a:t>tap / type / scroll / ...</a:t>
            </a:r>
            <a:endParaRPr lang="en-US" sz="1020" dirty="0"/>
          </a:p>
        </p:txBody>
      </p:sp>
      <p:sp>
        <p:nvSpPr>
          <p:cNvPr id="14" name="Shape 12"/>
          <p:cNvSpPr/>
          <p:nvPr/>
        </p:nvSpPr>
        <p:spPr>
          <a:xfrm>
            <a:off x="4206240" y="1417320"/>
            <a:ext cx="3429000" cy="4251960"/>
          </a:xfrm>
          <a:prstGeom prst="roundRect">
            <a:avLst>
              <a:gd name="adj" fmla="val 2133"/>
            </a:avLst>
          </a:prstGeom>
          <a:solidFill>
            <a:srgbClr val="111827"/>
          </a:solidFill>
          <a:ln w="12700">
            <a:solidFill>
              <a:srgbClr val="334155">
                <a:alpha val="85000"/>
              </a:srgbClr>
            </a:solidFill>
            <a:prstDash val="solid"/>
          </a:ln>
        </p:spPr>
      </p:sp>
      <p:sp>
        <p:nvSpPr>
          <p:cNvPr id="15" name="Text 13"/>
          <p:cNvSpPr/>
          <p:nvPr/>
        </p:nvSpPr>
        <p:spPr>
          <a:xfrm>
            <a:off x="4480560" y="1719072"/>
            <a:ext cx="2834640" cy="228600"/>
          </a:xfrm>
          <a:prstGeom prst="rect">
            <a:avLst/>
          </a:prstGeom>
          <a:noFill/>
          <a:ln/>
        </p:spPr>
        <p:txBody>
          <a:bodyPr wrap="square" lIns="0" tIns="0" rIns="0" bIns="0" rtlCol="0" anchor="ctr"/>
          <a:lstStyle/>
          <a:p>
            <a:pPr indent="0" marL="0">
              <a:buNone/>
            </a:pPr>
            <a:r>
              <a:rPr lang="en-US" sz="1500" b="1" dirty="0">
                <a:solidFill>
                  <a:srgbClr val="E5E7EB"/>
                </a:solidFill>
              </a:rPr>
              <a:t>Why this is hard</a:t>
            </a:r>
            <a:endParaRPr lang="en-US" sz="1500" dirty="0"/>
          </a:p>
        </p:txBody>
      </p:sp>
      <p:sp>
        <p:nvSpPr>
          <p:cNvPr id="16" name="Text 14"/>
          <p:cNvSpPr/>
          <p:nvPr/>
        </p:nvSpPr>
        <p:spPr>
          <a:xfrm>
            <a:off x="4480560" y="2148840"/>
            <a:ext cx="2743200" cy="2468880"/>
          </a:xfrm>
          <a:prstGeom prst="rect">
            <a:avLst/>
          </a:prstGeom>
          <a:noFill/>
          <a:ln/>
        </p:spPr>
        <p:txBody>
          <a:bodyPr wrap="square" lIns="1016" tIns="1016" rIns="1016" bIns="1016" rtlCol="0" anchor="ctr">
            <a:normAutofit/>
          </a:bodyPr>
          <a:lstStyle/>
          <a:p>
            <a:pPr marL="127000" indent="-127000">
              <a:buSzPct val="100000"/>
              <a:buChar char="•"/>
            </a:pPr>
            <a:r>
              <a:rPr lang="en-US" sz="1220" dirty="0">
                <a:solidFill>
                  <a:srgbClr val="E5E7EB"/>
                </a:solidFill>
              </a:rPr>
              <a:t>Small UI targets after vision downsampling</a:t>
            </a:r>
            <a:endParaRPr lang="en-US" sz="1220" dirty="0"/>
          </a:p>
          <a:p>
            <a:pPr marL="127000" indent="-127000">
              <a:buSzPct val="100000"/>
              <a:buChar char="•"/>
            </a:pPr>
            <a:r>
              <a:rPr lang="en-US" sz="1220" dirty="0">
                <a:solidFill>
                  <a:srgbClr val="E5E7EB"/>
                </a:solidFill>
              </a:rPr>
              <a:t>Action space mixes grounding + planning + text entry</a:t>
            </a:r>
            <a:endParaRPr lang="en-US" sz="1220" dirty="0"/>
          </a:p>
          <a:p>
            <a:pPr marL="127000" indent="-127000">
              <a:buSzPct val="100000"/>
              <a:buChar char="•"/>
            </a:pPr>
            <a:r>
              <a:rPr lang="en-US" sz="1220" dirty="0">
                <a:solidFill>
                  <a:srgbClr val="E5E7EB"/>
                </a:solidFill>
              </a:rPr>
              <a:t>Tap labels are noisy: “near” is not always “correct”</a:t>
            </a:r>
            <a:endParaRPr lang="en-US" sz="1220" dirty="0"/>
          </a:p>
          <a:p>
            <a:pPr marL="127000" indent="-127000">
              <a:buSzPct val="100000"/>
              <a:buChar char="•"/>
            </a:pPr>
            <a:r>
              <a:rPr lang="en-US" sz="1220" dirty="0">
                <a:solidFill>
                  <a:srgbClr val="E5E7EB"/>
                </a:solidFill>
              </a:rPr>
              <a:t>Single screenshot often lacks temporal state</a:t>
            </a:r>
            <a:endParaRPr lang="en-US" sz="1220" dirty="0"/>
          </a:p>
        </p:txBody>
      </p:sp>
      <p:sp>
        <p:nvSpPr>
          <p:cNvPr id="17" name="Shape 15"/>
          <p:cNvSpPr/>
          <p:nvPr/>
        </p:nvSpPr>
        <p:spPr>
          <a:xfrm>
            <a:off x="8001000" y="1417320"/>
            <a:ext cx="3474720" cy="4251960"/>
          </a:xfrm>
          <a:prstGeom prst="roundRect">
            <a:avLst>
              <a:gd name="adj" fmla="val 2105"/>
            </a:avLst>
          </a:prstGeom>
          <a:solidFill>
            <a:srgbClr val="111827"/>
          </a:solidFill>
          <a:ln w="12700">
            <a:solidFill>
              <a:srgbClr val="334155">
                <a:alpha val="85000"/>
              </a:srgbClr>
            </a:solidFill>
            <a:prstDash val="solid"/>
          </a:ln>
        </p:spPr>
      </p:sp>
      <p:sp>
        <p:nvSpPr>
          <p:cNvPr id="18" name="Text 16"/>
          <p:cNvSpPr/>
          <p:nvPr/>
        </p:nvSpPr>
        <p:spPr>
          <a:xfrm>
            <a:off x="8275320" y="1719072"/>
            <a:ext cx="2834640" cy="228600"/>
          </a:xfrm>
          <a:prstGeom prst="rect">
            <a:avLst/>
          </a:prstGeom>
          <a:noFill/>
          <a:ln/>
        </p:spPr>
        <p:txBody>
          <a:bodyPr wrap="square" lIns="0" tIns="0" rIns="0" bIns="0" rtlCol="0" anchor="ctr"/>
          <a:lstStyle/>
          <a:p>
            <a:pPr indent="0" marL="0">
              <a:buNone/>
            </a:pPr>
            <a:r>
              <a:rPr lang="en-US" sz="1500" b="1" dirty="0">
                <a:solidFill>
                  <a:srgbClr val="E5E7EB"/>
                </a:solidFill>
              </a:rPr>
              <a:t>Research question</a:t>
            </a:r>
            <a:endParaRPr lang="en-US" sz="1500" dirty="0"/>
          </a:p>
        </p:txBody>
      </p:sp>
      <p:sp>
        <p:nvSpPr>
          <p:cNvPr id="19" name="Text 17"/>
          <p:cNvSpPr/>
          <p:nvPr/>
        </p:nvSpPr>
        <p:spPr>
          <a:xfrm>
            <a:off x="8275320" y="2148840"/>
            <a:ext cx="2788920" cy="1417320"/>
          </a:xfrm>
          <a:prstGeom prst="rect">
            <a:avLst/>
          </a:prstGeom>
          <a:noFill/>
          <a:ln/>
        </p:spPr>
        <p:txBody>
          <a:bodyPr wrap="square" lIns="254" tIns="254" rIns="254" bIns="254" rtlCol="0" anchor="ctr">
            <a:normAutofit/>
          </a:bodyPr>
          <a:lstStyle/>
          <a:p>
            <a:pPr indent="0" marL="0">
              <a:buNone/>
            </a:pPr>
            <a:r>
              <a:rPr lang="en-US" sz="1600" b="1" dirty="0">
                <a:solidFill>
                  <a:srgbClr val="FFFFFF"/>
                </a:solidFill>
              </a:rPr>
              <a:t>Can a 2B-class VLM be fine-tuned on AndroidControl to outperform its zero-shot policy — and which task formulation makes the learning signal usable?</a:t>
            </a:r>
            <a:endParaRPr lang="en-US" sz="1600" dirty="0"/>
          </a:p>
        </p:txBody>
      </p:sp>
      <p:sp>
        <p:nvSpPr>
          <p:cNvPr id="20" name="Shape 18"/>
          <p:cNvSpPr/>
          <p:nvPr/>
        </p:nvSpPr>
        <p:spPr>
          <a:xfrm>
            <a:off x="8275320" y="4343400"/>
            <a:ext cx="2468880" cy="274320"/>
          </a:xfrm>
          <a:prstGeom prst="roundRect">
            <a:avLst>
              <a:gd name="adj" fmla="val 20000"/>
            </a:avLst>
          </a:prstGeom>
          <a:solidFill>
            <a:srgbClr val="34D399">
              <a:alpha val="92000"/>
            </a:srgbClr>
          </a:solidFill>
          <a:ln w="12700">
            <a:solidFill>
              <a:srgbClr val="34D399">
                <a:alpha val="90000"/>
              </a:srgbClr>
            </a:solidFill>
            <a:prstDash val="solid"/>
          </a:ln>
        </p:spPr>
      </p:sp>
      <p:sp>
        <p:nvSpPr>
          <p:cNvPr id="21" name="Text 19"/>
          <p:cNvSpPr/>
          <p:nvPr/>
        </p:nvSpPr>
        <p:spPr>
          <a:xfrm>
            <a:off x="8275320" y="4411980"/>
            <a:ext cx="2468880" cy="100584"/>
          </a:xfrm>
          <a:prstGeom prst="rect">
            <a:avLst/>
          </a:prstGeom>
          <a:noFill/>
          <a:ln/>
        </p:spPr>
        <p:txBody>
          <a:bodyPr wrap="square" lIns="0" tIns="0" rIns="0" bIns="0" rtlCol="0" anchor="ctr"/>
          <a:lstStyle/>
          <a:p>
            <a:pPr algn="ctr" indent="0" marL="0">
              <a:buNone/>
            </a:pPr>
            <a:r>
              <a:rPr lang="en-US" sz="750" b="1" dirty="0">
                <a:solidFill>
                  <a:srgbClr val="0B1020"/>
                </a:solidFill>
              </a:rPr>
              <a:t>answer: yes, if element-native</a:t>
            </a:r>
            <a:endParaRPr lang="en-US" sz="75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DATA + SETUP</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Experimental setup: AndroidControl → step-level SFT</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685800" y="1325880"/>
            <a:ext cx="4892040" cy="4480560"/>
          </a:xfrm>
          <a:prstGeom prst="roundRect">
            <a:avLst>
              <a:gd name="adj" fmla="val 1633"/>
            </a:avLst>
          </a:prstGeom>
          <a:solidFill>
            <a:srgbClr val="111827"/>
          </a:solidFill>
          <a:ln w="12700">
            <a:solidFill>
              <a:srgbClr val="334155">
                <a:alpha val="85000"/>
              </a:srgbClr>
            </a:solidFill>
            <a:prstDash val="solid"/>
          </a:ln>
        </p:spPr>
      </p:sp>
      <p:sp>
        <p:nvSpPr>
          <p:cNvPr id="6" name="Text 4"/>
          <p:cNvSpPr/>
          <p:nvPr/>
        </p:nvSpPr>
        <p:spPr>
          <a:xfrm>
            <a:off x="960120" y="1600200"/>
            <a:ext cx="3474720" cy="228600"/>
          </a:xfrm>
          <a:prstGeom prst="rect">
            <a:avLst/>
          </a:prstGeom>
          <a:noFill/>
          <a:ln/>
        </p:spPr>
        <p:txBody>
          <a:bodyPr wrap="square" lIns="0" tIns="0" rIns="0" bIns="0" rtlCol="0" anchor="ctr"/>
          <a:lstStyle/>
          <a:p>
            <a:pPr indent="0" marL="0">
              <a:buNone/>
            </a:pPr>
            <a:r>
              <a:rPr lang="en-US" sz="1500" b="1" dirty="0">
                <a:solidFill>
                  <a:srgbClr val="E5E7EB"/>
                </a:solidFill>
              </a:rPr>
              <a:t>Dataset and preprocessing</a:t>
            </a:r>
            <a:endParaRPr lang="en-US" sz="1500" dirty="0"/>
          </a:p>
        </p:txBody>
      </p:sp>
      <p:sp>
        <p:nvSpPr>
          <p:cNvPr id="7" name="Text 5"/>
          <p:cNvSpPr/>
          <p:nvPr/>
        </p:nvSpPr>
        <p:spPr>
          <a:xfrm>
            <a:off x="960120" y="2029968"/>
            <a:ext cx="4251960" cy="2468880"/>
          </a:xfrm>
          <a:prstGeom prst="rect">
            <a:avLst/>
          </a:prstGeom>
          <a:noFill/>
          <a:ln/>
        </p:spPr>
        <p:txBody>
          <a:bodyPr wrap="square" lIns="1016" tIns="1016" rIns="1016" bIns="1016" rtlCol="0" anchor="ctr">
            <a:normAutofit/>
          </a:bodyPr>
          <a:lstStyle/>
          <a:p>
            <a:pPr marL="127000" indent="-127000">
              <a:buSzPct val="100000"/>
              <a:buChar char="•"/>
            </a:pPr>
            <a:r>
              <a:rPr lang="en-US" sz="1170" dirty="0">
                <a:solidFill>
                  <a:srgbClr val="E5E7EB"/>
                </a:solidFill>
              </a:rPr>
              <a:t>Source: AndroidControl; later switched to GCS canonical splits for a11y trees</a:t>
            </a:r>
            <a:endParaRPr lang="en-US" sz="1170" dirty="0"/>
          </a:p>
          <a:p>
            <a:pPr marL="127000" indent="-127000">
              <a:buSzPct val="100000"/>
              <a:buChar char="•"/>
            </a:pPr>
            <a:r>
              <a:rPr lang="en-US" sz="1170" dirty="0">
                <a:solidFill>
                  <a:srgbClr val="E5E7EB"/>
                </a:solidFill>
              </a:rPr>
              <a:t>One training row = one screenshot + one target action</a:t>
            </a:r>
            <a:endParaRPr lang="en-US" sz="1170" dirty="0"/>
          </a:p>
          <a:p>
            <a:pPr marL="127000" indent="-127000">
              <a:buSzPct val="100000"/>
              <a:buChar char="•"/>
            </a:pPr>
            <a:r>
              <a:rPr lang="en-US" sz="1170" dirty="0">
                <a:solidFill>
                  <a:srgbClr val="E5E7EB"/>
                </a:solidFill>
              </a:rPr>
              <a:t>Two instruction granularities: episode goal and step instruction</a:t>
            </a:r>
            <a:endParaRPr lang="en-US" sz="1170" dirty="0"/>
          </a:p>
          <a:p>
            <a:pPr marL="127000" indent="-127000">
              <a:buSzPct val="100000"/>
              <a:buChar char="•"/>
            </a:pPr>
            <a:r>
              <a:rPr lang="en-US" sz="1170" dirty="0">
                <a:solidFill>
                  <a:srgbClr val="E5E7EB"/>
                </a:solidFill>
              </a:rPr>
              <a:t>Coordinate normalization used actual PNG dimensions</a:t>
            </a:r>
            <a:endParaRPr lang="en-US" sz="1170" dirty="0"/>
          </a:p>
          <a:p>
            <a:pPr marL="127000" indent="-127000">
              <a:buSzPct val="100000"/>
              <a:buChar char="•"/>
            </a:pPr>
            <a:r>
              <a:rPr lang="en-US" sz="1170" dirty="0">
                <a:solidFill>
                  <a:srgbClr val="E5E7EB"/>
                </a:solidFill>
              </a:rPr>
              <a:t>Val split used for checkpoint selection; test not used for selection</a:t>
            </a:r>
            <a:endParaRPr lang="en-US" sz="1170" dirty="0"/>
          </a:p>
        </p:txBody>
      </p:sp>
      <p:sp>
        <p:nvSpPr>
          <p:cNvPr id="8" name="Shape 6"/>
          <p:cNvSpPr/>
          <p:nvPr/>
        </p:nvSpPr>
        <p:spPr>
          <a:xfrm>
            <a:off x="5989320" y="1325880"/>
            <a:ext cx="5440680" cy="4480560"/>
          </a:xfrm>
          <a:prstGeom prst="roundRect">
            <a:avLst>
              <a:gd name="adj" fmla="val 1633"/>
            </a:avLst>
          </a:prstGeom>
          <a:solidFill>
            <a:srgbClr val="111827"/>
          </a:solidFill>
          <a:ln w="12700">
            <a:solidFill>
              <a:srgbClr val="334155">
                <a:alpha val="85000"/>
              </a:srgbClr>
            </a:solidFill>
            <a:prstDash val="solid"/>
          </a:ln>
        </p:spPr>
      </p:sp>
      <p:sp>
        <p:nvSpPr>
          <p:cNvPr id="9" name="Text 7"/>
          <p:cNvSpPr/>
          <p:nvPr/>
        </p:nvSpPr>
        <p:spPr>
          <a:xfrm>
            <a:off x="6263640" y="1600200"/>
            <a:ext cx="2743200" cy="228600"/>
          </a:xfrm>
          <a:prstGeom prst="rect">
            <a:avLst/>
          </a:prstGeom>
          <a:noFill/>
          <a:ln/>
        </p:spPr>
        <p:txBody>
          <a:bodyPr wrap="square" lIns="0" tIns="0" rIns="0" bIns="0" rtlCol="0" anchor="ctr"/>
          <a:lstStyle/>
          <a:p>
            <a:pPr indent="0" marL="0">
              <a:buNone/>
            </a:pPr>
            <a:r>
              <a:rPr lang="en-US" sz="1500" b="1" dirty="0">
                <a:solidFill>
                  <a:srgbClr val="E5E7EB"/>
                </a:solidFill>
              </a:rPr>
              <a:t>Training stack</a:t>
            </a:r>
            <a:endParaRPr lang="en-US" sz="1500" dirty="0"/>
          </a:p>
        </p:txBody>
      </p:sp>
      <p:sp>
        <p:nvSpPr>
          <p:cNvPr id="10" name="Shape 8"/>
          <p:cNvSpPr/>
          <p:nvPr/>
        </p:nvSpPr>
        <p:spPr>
          <a:xfrm>
            <a:off x="6355080" y="2103120"/>
            <a:ext cx="1645920" cy="502920"/>
          </a:xfrm>
          <a:prstGeom prst="roundRect">
            <a:avLst>
              <a:gd name="adj" fmla="val 10909"/>
            </a:avLst>
          </a:prstGeom>
          <a:solidFill>
            <a:srgbClr val="60A5FA">
              <a:alpha val="92000"/>
            </a:srgbClr>
          </a:solidFill>
          <a:ln w="15240">
            <a:solidFill>
              <a:srgbClr val="60A5FA"/>
            </a:solidFill>
            <a:prstDash val="solid"/>
          </a:ln>
        </p:spPr>
      </p:sp>
      <p:sp>
        <p:nvSpPr>
          <p:cNvPr id="11" name="Text 9"/>
          <p:cNvSpPr/>
          <p:nvPr/>
        </p:nvSpPr>
        <p:spPr>
          <a:xfrm>
            <a:off x="6428232" y="2212848"/>
            <a:ext cx="1499616" cy="33832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Gemma 4 E2B</a:t>
            </a:r>
            <a:endParaRPr lang="en-US" sz="1020" dirty="0"/>
          </a:p>
        </p:txBody>
      </p:sp>
      <p:sp>
        <p:nvSpPr>
          <p:cNvPr id="12" name="Shape 10"/>
          <p:cNvSpPr/>
          <p:nvPr/>
        </p:nvSpPr>
        <p:spPr>
          <a:xfrm>
            <a:off x="8092440" y="2359152"/>
            <a:ext cx="548640" cy="0"/>
          </a:xfrm>
          <a:prstGeom prst="line">
            <a:avLst/>
          </a:prstGeom>
          <a:noFill/>
          <a:ln w="19050">
            <a:solidFill>
              <a:srgbClr val="94A3B8"/>
            </a:solidFill>
            <a:prstDash val="solid"/>
            <a:headEnd type="none"/>
            <a:tailEnd type="triangle"/>
          </a:ln>
        </p:spPr>
      </p:sp>
      <p:sp>
        <p:nvSpPr>
          <p:cNvPr id="13" name="Shape 11"/>
          <p:cNvSpPr/>
          <p:nvPr/>
        </p:nvSpPr>
        <p:spPr>
          <a:xfrm>
            <a:off x="8732520" y="2103120"/>
            <a:ext cx="1828800" cy="502920"/>
          </a:xfrm>
          <a:prstGeom prst="roundRect">
            <a:avLst>
              <a:gd name="adj" fmla="val 10909"/>
            </a:avLst>
          </a:prstGeom>
          <a:solidFill>
            <a:srgbClr val="A78BFA">
              <a:alpha val="92000"/>
            </a:srgbClr>
          </a:solidFill>
          <a:ln w="15240">
            <a:solidFill>
              <a:srgbClr val="A78BFA"/>
            </a:solidFill>
            <a:prstDash val="solid"/>
          </a:ln>
        </p:spPr>
      </p:sp>
      <p:sp>
        <p:nvSpPr>
          <p:cNvPr id="14" name="Text 12"/>
          <p:cNvSpPr/>
          <p:nvPr/>
        </p:nvSpPr>
        <p:spPr>
          <a:xfrm>
            <a:off x="8805672" y="2212848"/>
            <a:ext cx="1682496" cy="33832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Unsloth QLoRA</a:t>
            </a:r>
            <a:endParaRPr lang="en-US" sz="1020" dirty="0"/>
          </a:p>
        </p:txBody>
      </p:sp>
      <p:sp>
        <p:nvSpPr>
          <p:cNvPr id="15" name="Shape 13"/>
          <p:cNvSpPr/>
          <p:nvPr/>
        </p:nvSpPr>
        <p:spPr>
          <a:xfrm>
            <a:off x="6355080" y="2971800"/>
            <a:ext cx="1645920" cy="566928"/>
          </a:xfrm>
          <a:prstGeom prst="roundRect">
            <a:avLst>
              <a:gd name="adj" fmla="val 9677"/>
            </a:avLst>
          </a:prstGeom>
          <a:solidFill>
            <a:srgbClr val="0F766E">
              <a:alpha val="92000"/>
            </a:srgbClr>
          </a:solidFill>
          <a:ln w="15240">
            <a:solidFill>
              <a:srgbClr val="0F766E"/>
            </a:solidFill>
            <a:prstDash val="solid"/>
          </a:ln>
        </p:spPr>
      </p:sp>
      <p:sp>
        <p:nvSpPr>
          <p:cNvPr id="16" name="Text 14"/>
          <p:cNvSpPr/>
          <p:nvPr/>
        </p:nvSpPr>
        <p:spPr>
          <a:xfrm>
            <a:off x="6428232" y="3081528"/>
            <a:ext cx="1499616" cy="40233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RTX 4090</a:t>
            </a:r>
            <a:endParaRPr lang="en-US" sz="1020" dirty="0"/>
          </a:p>
          <a:p>
            <a:pPr algn="ctr" indent="0" marL="0">
              <a:buNone/>
            </a:pPr>
            <a:r>
              <a:rPr lang="en-US" sz="1020" b="1" dirty="0">
                <a:solidFill>
                  <a:srgbClr val="FFFFFF"/>
                </a:solidFill>
              </a:rPr>
              <a:t>24 GB</a:t>
            </a:r>
            <a:endParaRPr lang="en-US" sz="1020" dirty="0"/>
          </a:p>
        </p:txBody>
      </p:sp>
      <p:sp>
        <p:nvSpPr>
          <p:cNvPr id="17" name="Shape 15"/>
          <p:cNvSpPr/>
          <p:nvPr/>
        </p:nvSpPr>
        <p:spPr>
          <a:xfrm>
            <a:off x="8092440" y="3255264"/>
            <a:ext cx="548640" cy="0"/>
          </a:xfrm>
          <a:prstGeom prst="line">
            <a:avLst/>
          </a:prstGeom>
          <a:noFill/>
          <a:ln w="19050">
            <a:solidFill>
              <a:srgbClr val="94A3B8"/>
            </a:solidFill>
            <a:prstDash val="solid"/>
            <a:headEnd type="none"/>
            <a:tailEnd type="triangle"/>
          </a:ln>
        </p:spPr>
      </p:sp>
      <p:sp>
        <p:nvSpPr>
          <p:cNvPr id="18" name="Shape 16"/>
          <p:cNvSpPr/>
          <p:nvPr/>
        </p:nvSpPr>
        <p:spPr>
          <a:xfrm>
            <a:off x="8732520" y="2971800"/>
            <a:ext cx="1828800" cy="566928"/>
          </a:xfrm>
          <a:prstGeom prst="roundRect">
            <a:avLst>
              <a:gd name="adj" fmla="val 9677"/>
            </a:avLst>
          </a:prstGeom>
          <a:solidFill>
            <a:srgbClr val="B45309">
              <a:alpha val="92000"/>
            </a:srgbClr>
          </a:solidFill>
          <a:ln w="15240">
            <a:solidFill>
              <a:srgbClr val="B45309"/>
            </a:solidFill>
            <a:prstDash val="solid"/>
          </a:ln>
        </p:spPr>
      </p:sp>
      <p:sp>
        <p:nvSpPr>
          <p:cNvPr id="19" name="Text 17"/>
          <p:cNvSpPr/>
          <p:nvPr/>
        </p:nvSpPr>
        <p:spPr>
          <a:xfrm>
            <a:off x="8805672" y="3081528"/>
            <a:ext cx="1682496" cy="40233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Val sweep → best ckpt</a:t>
            </a:r>
            <a:endParaRPr lang="en-US" sz="1020" dirty="0"/>
          </a:p>
        </p:txBody>
      </p:sp>
      <p:sp>
        <p:nvSpPr>
          <p:cNvPr id="20" name="Text 18"/>
          <p:cNvSpPr/>
          <p:nvPr/>
        </p:nvSpPr>
        <p:spPr>
          <a:xfrm>
            <a:off x="6172200" y="3931920"/>
            <a:ext cx="1417320" cy="438912"/>
          </a:xfrm>
          <a:prstGeom prst="rect">
            <a:avLst/>
          </a:prstGeom>
          <a:noFill/>
          <a:ln/>
        </p:spPr>
        <p:txBody>
          <a:bodyPr wrap="square" lIns="0" tIns="0" rIns="0" bIns="0" rtlCol="0" anchor="ctr"/>
          <a:lstStyle/>
          <a:p>
            <a:pPr algn="ctr" indent="0" marL="0">
              <a:buNone/>
            </a:pPr>
            <a:r>
              <a:rPr lang="en-US" sz="3000" b="1" dirty="0">
                <a:solidFill>
                  <a:srgbClr val="22D3EE"/>
                </a:solidFill>
              </a:rPr>
              <a:t>73K</a:t>
            </a:r>
            <a:endParaRPr lang="en-US" sz="3000" dirty="0"/>
          </a:p>
        </p:txBody>
      </p:sp>
      <p:sp>
        <p:nvSpPr>
          <p:cNvPr id="21" name="Text 19"/>
          <p:cNvSpPr/>
          <p:nvPr/>
        </p:nvSpPr>
        <p:spPr>
          <a:xfrm>
            <a:off x="6172200" y="4434840"/>
            <a:ext cx="1417320" cy="320040"/>
          </a:xfrm>
          <a:prstGeom prst="rect">
            <a:avLst/>
          </a:prstGeom>
          <a:noFill/>
          <a:ln/>
        </p:spPr>
        <p:txBody>
          <a:bodyPr wrap="square" lIns="0" tIns="0" rIns="0" bIns="0" rtlCol="0" anchor="ctr"/>
          <a:lstStyle/>
          <a:p>
            <a:pPr algn="ctr" indent="0" marL="0">
              <a:buNone/>
            </a:pPr>
            <a:r>
              <a:rPr lang="en-US" sz="950" dirty="0">
                <a:solidFill>
                  <a:srgbClr val="94A3B8"/>
                </a:solidFill>
              </a:rPr>
              <a:t>a11y-native train rows</a:t>
            </a:r>
            <a:endParaRPr lang="en-US" sz="950" dirty="0"/>
          </a:p>
        </p:txBody>
      </p:sp>
      <p:sp>
        <p:nvSpPr>
          <p:cNvPr id="22" name="Text 20"/>
          <p:cNvSpPr/>
          <p:nvPr/>
        </p:nvSpPr>
        <p:spPr>
          <a:xfrm>
            <a:off x="7680960" y="3931920"/>
            <a:ext cx="1188720" cy="438912"/>
          </a:xfrm>
          <a:prstGeom prst="rect">
            <a:avLst/>
          </a:prstGeom>
          <a:noFill/>
          <a:ln/>
        </p:spPr>
        <p:txBody>
          <a:bodyPr wrap="square" lIns="0" tIns="0" rIns="0" bIns="0" rtlCol="0" anchor="ctr"/>
          <a:lstStyle/>
          <a:p>
            <a:pPr algn="ctr" indent="0" marL="0">
              <a:buNone/>
            </a:pPr>
            <a:r>
              <a:rPr lang="en-US" sz="3000" b="1" dirty="0">
                <a:solidFill>
                  <a:srgbClr val="FBBF24"/>
                </a:solidFill>
              </a:rPr>
              <a:t>686</a:t>
            </a:r>
            <a:endParaRPr lang="en-US" sz="3000" dirty="0"/>
          </a:p>
        </p:txBody>
      </p:sp>
      <p:sp>
        <p:nvSpPr>
          <p:cNvPr id="23" name="Text 21"/>
          <p:cNvSpPr/>
          <p:nvPr/>
        </p:nvSpPr>
        <p:spPr>
          <a:xfrm>
            <a:off x="7680960" y="4434840"/>
            <a:ext cx="1188720" cy="320040"/>
          </a:xfrm>
          <a:prstGeom prst="rect">
            <a:avLst/>
          </a:prstGeom>
          <a:noFill/>
          <a:ln/>
        </p:spPr>
        <p:txBody>
          <a:bodyPr wrap="square" lIns="0" tIns="0" rIns="0" bIns="0" rtlCol="0" anchor="ctr"/>
          <a:lstStyle/>
          <a:p>
            <a:pPr algn="ctr" indent="0" marL="0">
              <a:buNone/>
            </a:pPr>
            <a:r>
              <a:rPr lang="en-US" sz="950" dirty="0">
                <a:solidFill>
                  <a:srgbClr val="94A3B8"/>
                </a:solidFill>
              </a:rPr>
              <a:t>validation rows</a:t>
            </a:r>
            <a:endParaRPr lang="en-US" sz="950" dirty="0"/>
          </a:p>
        </p:txBody>
      </p:sp>
      <p:sp>
        <p:nvSpPr>
          <p:cNvPr id="24" name="Text 22"/>
          <p:cNvSpPr/>
          <p:nvPr/>
        </p:nvSpPr>
        <p:spPr>
          <a:xfrm>
            <a:off x="9144000" y="3931920"/>
            <a:ext cx="1417320" cy="438912"/>
          </a:xfrm>
          <a:prstGeom prst="rect">
            <a:avLst/>
          </a:prstGeom>
          <a:noFill/>
          <a:ln/>
        </p:spPr>
        <p:txBody>
          <a:bodyPr wrap="square" lIns="0" tIns="0" rIns="0" bIns="0" rtlCol="0" anchor="ctr"/>
          <a:lstStyle/>
          <a:p>
            <a:pPr algn="ctr" indent="0" marL="0">
              <a:buNone/>
            </a:pPr>
            <a:r>
              <a:rPr lang="en-US" sz="3000" b="1" dirty="0">
                <a:solidFill>
                  <a:srgbClr val="34D399"/>
                </a:solidFill>
              </a:rPr>
              <a:t>8,217</a:t>
            </a:r>
            <a:endParaRPr lang="en-US" sz="3000" dirty="0"/>
          </a:p>
        </p:txBody>
      </p:sp>
      <p:sp>
        <p:nvSpPr>
          <p:cNvPr id="25" name="Text 23"/>
          <p:cNvSpPr/>
          <p:nvPr/>
        </p:nvSpPr>
        <p:spPr>
          <a:xfrm>
            <a:off x="9144000" y="4434840"/>
            <a:ext cx="1417320" cy="320040"/>
          </a:xfrm>
          <a:prstGeom prst="rect">
            <a:avLst/>
          </a:prstGeom>
          <a:noFill/>
          <a:ln/>
        </p:spPr>
        <p:txBody>
          <a:bodyPr wrap="square" lIns="0" tIns="0" rIns="0" bIns="0" rtlCol="0" anchor="ctr"/>
          <a:lstStyle/>
          <a:p>
            <a:pPr algn="ctr" indent="0" marL="0">
              <a:buNone/>
            </a:pPr>
            <a:r>
              <a:rPr lang="en-US" sz="950" dirty="0">
                <a:solidFill>
                  <a:srgbClr val="94A3B8"/>
                </a:solidFill>
              </a:rPr>
              <a:t>test rows</a:t>
            </a:r>
            <a:endParaRPr lang="en-US" sz="950" dirty="0"/>
          </a:p>
        </p:txBody>
      </p:sp>
      <p:sp>
        <p:nvSpPr>
          <p:cNvPr id="26" name="Shape 24"/>
          <p:cNvSpPr/>
          <p:nvPr/>
        </p:nvSpPr>
        <p:spPr>
          <a:xfrm>
            <a:off x="6172200" y="4864608"/>
            <a:ext cx="5074920" cy="0"/>
          </a:xfrm>
          <a:prstGeom prst="line">
            <a:avLst/>
          </a:prstGeom>
          <a:noFill/>
          <a:ln w="6350">
            <a:solidFill>
              <a:srgbClr val="334155"/>
            </a:solidFill>
            <a:prstDash val="solid"/>
          </a:ln>
        </p:spPr>
      </p:sp>
      <p:sp>
        <p:nvSpPr>
          <p:cNvPr id="27" name="Text 25"/>
          <p:cNvSpPr/>
          <p:nvPr/>
        </p:nvSpPr>
        <p:spPr>
          <a:xfrm>
            <a:off x="6263640" y="4956048"/>
            <a:ext cx="4572000" cy="201168"/>
          </a:xfrm>
          <a:prstGeom prst="rect">
            <a:avLst/>
          </a:prstGeom>
          <a:noFill/>
          <a:ln/>
        </p:spPr>
        <p:txBody>
          <a:bodyPr wrap="square" lIns="0" tIns="0" rIns="0" bIns="0" rtlCol="0" anchor="ctr"/>
          <a:lstStyle/>
          <a:p>
            <a:pPr indent="0" marL="0">
              <a:buNone/>
            </a:pPr>
            <a:r>
              <a:rPr lang="en-US" sz="1000" b="1" dirty="0">
                <a:solidFill>
                  <a:srgbClr val="22D3EE"/>
                </a:solidFill>
              </a:rPr>
              <a:t>Training profile (Run A baseline SFT)</a:t>
            </a:r>
            <a:endParaRPr lang="en-US" sz="1000" dirty="0"/>
          </a:p>
        </p:txBody>
      </p:sp>
      <p:sp>
        <p:nvSpPr>
          <p:cNvPr id="28" name="Text 26"/>
          <p:cNvSpPr/>
          <p:nvPr/>
        </p:nvSpPr>
        <p:spPr>
          <a:xfrm>
            <a:off x="6263640" y="5166360"/>
            <a:ext cx="5074920" cy="640080"/>
          </a:xfrm>
          <a:prstGeom prst="rect">
            <a:avLst/>
          </a:prstGeom>
          <a:noFill/>
          <a:ln/>
        </p:spPr>
        <p:txBody>
          <a:bodyPr wrap="square" lIns="1016" tIns="1016" rIns="1016" bIns="1016" rtlCol="0" anchor="ctr">
            <a:normAutofit/>
          </a:bodyPr>
          <a:lstStyle/>
          <a:p>
            <a:pPr marL="127000" indent="-127000">
              <a:buSzPct val="100000"/>
              <a:buChar char="•"/>
            </a:pPr>
            <a:r>
              <a:rPr lang="en-US" sz="950" dirty="0">
                <a:solidFill>
                  <a:srgbClr val="E5E7EB"/>
                </a:solidFill>
              </a:rPr>
              <a:t>19,886 steps · 1.0 epoch · 8 h 41 min wall · 5.08 samples/s</a:t>
            </a:r>
            <a:endParaRPr lang="en-US" sz="950" dirty="0"/>
          </a:p>
          <a:p>
            <a:pPr marL="127000" indent="-127000">
              <a:buSzPct val="100000"/>
              <a:buChar char="•"/>
            </a:pPr>
            <a:r>
              <a:rPr lang="en-US" sz="950" dirty="0">
                <a:solidFill>
                  <a:srgbClr val="E5E7EB"/>
                </a:solidFill>
              </a:rPr>
              <a:t>29.86 M trainable params (0.58 % of 5.15 B base, QLoRA r=16/α=16, all-linear)</a:t>
            </a:r>
            <a:endParaRPr lang="en-US" sz="950" dirty="0"/>
          </a:p>
          <a:p>
            <a:pPr marL="127000" indent="-127000">
              <a:buSzPct val="100000"/>
              <a:buChar char="•"/>
            </a:pPr>
            <a:r>
              <a:rPr lang="en-US" sz="950" dirty="0">
                <a:solidFill>
                  <a:srgbClr val="E5E7EB"/>
                </a:solidFill>
              </a:rPr>
              <a:t>bf16 · 4-bit base · 2 × 4 grad-accum · ~9.9 / 24 GB VRAM · 119 MB adapter</a:t>
            </a:r>
            <a:endParaRPr lang="en-US" sz="95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TRAINING</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Training dynamics: loss is monotone, the eval is the surprise</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640080" y="1325880"/>
            <a:ext cx="6766560" cy="4526280"/>
          </a:xfrm>
          <a:prstGeom prst="roundRect">
            <a:avLst>
              <a:gd name="adj" fmla="val 1616"/>
            </a:avLst>
          </a:prstGeom>
          <a:solidFill>
            <a:srgbClr val="111827"/>
          </a:solidFill>
          <a:ln w="12700">
            <a:solidFill>
              <a:srgbClr val="334155">
                <a:alpha val="85000"/>
              </a:srgbClr>
            </a:solidFill>
            <a:prstDash val="solid"/>
          </a:ln>
        </p:spPr>
      </p:sp>
      <p:sp>
        <p:nvSpPr>
          <p:cNvPr id="6" name="Text 4"/>
          <p:cNvSpPr/>
          <p:nvPr/>
        </p:nvSpPr>
        <p:spPr>
          <a:xfrm>
            <a:off x="914400" y="1627632"/>
            <a:ext cx="4572000" cy="228600"/>
          </a:xfrm>
          <a:prstGeom prst="rect">
            <a:avLst/>
          </a:prstGeom>
          <a:noFill/>
          <a:ln/>
        </p:spPr>
        <p:txBody>
          <a:bodyPr wrap="square" lIns="0" tIns="0" rIns="0" bIns="0" rtlCol="0" anchor="ctr"/>
          <a:lstStyle/>
          <a:p>
            <a:pPr indent="0" marL="0">
              <a:buNone/>
            </a:pPr>
            <a:r>
              <a:rPr lang="en-US" sz="1400" b="1" dirty="0">
                <a:solidFill>
                  <a:srgbClr val="E5E7EB"/>
                </a:solidFill>
              </a:rPr>
              <a:t>Run A loss curve (full epoch, 19,886 steps)</a:t>
            </a:r>
            <a:endParaRPr lang="en-US" sz="1400" dirty="0"/>
          </a:p>
        </p:txBody>
      </p:sp>
      <p:sp>
        <p:nvSpPr>
          <p:cNvPr id="7" name="Shape 5"/>
          <p:cNvSpPr/>
          <p:nvPr/>
        </p:nvSpPr>
        <p:spPr>
          <a:xfrm>
            <a:off x="914400" y="1993392"/>
            <a:ext cx="6263640" cy="3291840"/>
          </a:xfrm>
          <a:prstGeom prst="rect">
            <a:avLst/>
          </a:prstGeom>
          <a:solidFill>
            <a:srgbClr val="0F172A"/>
          </a:solidFill>
          <a:ln w="6350">
            <a:solidFill>
              <a:srgbClr val="1E293B"/>
            </a:solidFill>
            <a:prstDash val="solid"/>
          </a:ln>
        </p:spPr>
      </p:sp>
      <p:sp>
        <p:nvSpPr>
          <p:cNvPr id="8" name="Shape 6"/>
          <p:cNvSpPr/>
          <p:nvPr/>
        </p:nvSpPr>
        <p:spPr>
          <a:xfrm>
            <a:off x="1417320" y="2843784"/>
            <a:ext cx="5596128" cy="0"/>
          </a:xfrm>
          <a:prstGeom prst="line">
            <a:avLst/>
          </a:prstGeom>
          <a:noFill/>
          <a:ln w="6350">
            <a:solidFill>
              <a:srgbClr val="1E293B"/>
            </a:solidFill>
            <a:prstDash val="solid"/>
          </a:ln>
        </p:spPr>
      </p:sp>
      <p:sp>
        <p:nvSpPr>
          <p:cNvPr id="9" name="Shape 7"/>
          <p:cNvSpPr/>
          <p:nvPr/>
        </p:nvSpPr>
        <p:spPr>
          <a:xfrm>
            <a:off x="1417320" y="3529584"/>
            <a:ext cx="5596128" cy="0"/>
          </a:xfrm>
          <a:prstGeom prst="line">
            <a:avLst/>
          </a:prstGeom>
          <a:noFill/>
          <a:ln w="6350">
            <a:solidFill>
              <a:srgbClr val="1E293B"/>
            </a:solidFill>
            <a:prstDash val="solid"/>
          </a:ln>
        </p:spPr>
      </p:sp>
      <p:sp>
        <p:nvSpPr>
          <p:cNvPr id="10" name="Shape 8"/>
          <p:cNvSpPr/>
          <p:nvPr/>
        </p:nvSpPr>
        <p:spPr>
          <a:xfrm>
            <a:off x="1417320" y="4215384"/>
            <a:ext cx="5596128" cy="0"/>
          </a:xfrm>
          <a:prstGeom prst="line">
            <a:avLst/>
          </a:prstGeom>
          <a:noFill/>
          <a:ln w="6350">
            <a:solidFill>
              <a:srgbClr val="1E293B"/>
            </a:solidFill>
            <a:prstDash val="solid"/>
          </a:ln>
        </p:spPr>
      </p:sp>
      <p:sp>
        <p:nvSpPr>
          <p:cNvPr id="11" name="Shape 9"/>
          <p:cNvSpPr/>
          <p:nvPr/>
        </p:nvSpPr>
        <p:spPr>
          <a:xfrm>
            <a:off x="1417320" y="2157984"/>
            <a:ext cx="0" cy="2743200"/>
          </a:xfrm>
          <a:prstGeom prst="line">
            <a:avLst/>
          </a:prstGeom>
          <a:noFill/>
          <a:ln w="8890">
            <a:solidFill>
              <a:srgbClr val="94A3B8"/>
            </a:solidFill>
            <a:prstDash val="solid"/>
          </a:ln>
        </p:spPr>
      </p:sp>
      <p:sp>
        <p:nvSpPr>
          <p:cNvPr id="12" name="Shape 10"/>
          <p:cNvSpPr/>
          <p:nvPr/>
        </p:nvSpPr>
        <p:spPr>
          <a:xfrm>
            <a:off x="1417320" y="4901184"/>
            <a:ext cx="5596128" cy="0"/>
          </a:xfrm>
          <a:prstGeom prst="line">
            <a:avLst/>
          </a:prstGeom>
          <a:noFill/>
          <a:ln w="8890">
            <a:solidFill>
              <a:srgbClr val="94A3B8"/>
            </a:solidFill>
            <a:prstDash val="solid"/>
          </a:ln>
        </p:spPr>
      </p:sp>
      <p:sp>
        <p:nvSpPr>
          <p:cNvPr id="13" name="Text 11"/>
          <p:cNvSpPr/>
          <p:nvPr/>
        </p:nvSpPr>
        <p:spPr>
          <a:xfrm>
            <a:off x="932688" y="2103120"/>
            <a:ext cx="448056" cy="182880"/>
          </a:xfrm>
          <a:prstGeom prst="rect">
            <a:avLst/>
          </a:prstGeom>
          <a:noFill/>
          <a:ln/>
        </p:spPr>
        <p:txBody>
          <a:bodyPr wrap="square" lIns="0" tIns="0" rIns="0" bIns="0" rtlCol="0" anchor="ctr"/>
          <a:lstStyle/>
          <a:p>
            <a:pPr algn="r" indent="0" marL="0">
              <a:buNone/>
            </a:pPr>
            <a:r>
              <a:rPr lang="en-US" sz="750" dirty="0">
                <a:solidFill>
                  <a:srgbClr val="94A3B8"/>
                </a:solidFill>
              </a:rPr>
              <a:t>11.0</a:t>
            </a:r>
            <a:endParaRPr lang="en-US" sz="750" dirty="0"/>
          </a:p>
        </p:txBody>
      </p:sp>
      <p:sp>
        <p:nvSpPr>
          <p:cNvPr id="14" name="Text 12"/>
          <p:cNvSpPr/>
          <p:nvPr/>
        </p:nvSpPr>
        <p:spPr>
          <a:xfrm>
            <a:off x="932688" y="3456432"/>
            <a:ext cx="448056" cy="182880"/>
          </a:xfrm>
          <a:prstGeom prst="rect">
            <a:avLst/>
          </a:prstGeom>
          <a:noFill/>
          <a:ln/>
        </p:spPr>
        <p:txBody>
          <a:bodyPr wrap="square" lIns="0" tIns="0" rIns="0" bIns="0" rtlCol="0" anchor="ctr"/>
          <a:lstStyle/>
          <a:p>
            <a:pPr algn="r" indent="0" marL="0">
              <a:buNone/>
            </a:pPr>
            <a:r>
              <a:rPr lang="en-US" sz="750" dirty="0">
                <a:solidFill>
                  <a:srgbClr val="94A3B8"/>
                </a:solidFill>
              </a:rPr>
              <a:t>5.5</a:t>
            </a:r>
            <a:endParaRPr lang="en-US" sz="750" dirty="0"/>
          </a:p>
        </p:txBody>
      </p:sp>
      <p:sp>
        <p:nvSpPr>
          <p:cNvPr id="15" name="Text 13"/>
          <p:cNvSpPr/>
          <p:nvPr/>
        </p:nvSpPr>
        <p:spPr>
          <a:xfrm>
            <a:off x="932688" y="4828032"/>
            <a:ext cx="448056" cy="182880"/>
          </a:xfrm>
          <a:prstGeom prst="rect">
            <a:avLst/>
          </a:prstGeom>
          <a:noFill/>
          <a:ln/>
        </p:spPr>
        <p:txBody>
          <a:bodyPr wrap="square" lIns="0" tIns="0" rIns="0" bIns="0" rtlCol="0" anchor="ctr"/>
          <a:lstStyle/>
          <a:p>
            <a:pPr algn="r" indent="0" marL="0">
              <a:buNone/>
            </a:pPr>
            <a:r>
              <a:rPr lang="en-US" sz="750" dirty="0">
                <a:solidFill>
                  <a:srgbClr val="94A3B8"/>
                </a:solidFill>
              </a:rPr>
              <a:t>0.00</a:t>
            </a:r>
            <a:endParaRPr lang="en-US" sz="750" dirty="0"/>
          </a:p>
        </p:txBody>
      </p:sp>
      <p:sp>
        <p:nvSpPr>
          <p:cNvPr id="16" name="Text 14"/>
          <p:cNvSpPr/>
          <p:nvPr/>
        </p:nvSpPr>
        <p:spPr>
          <a:xfrm>
            <a:off x="1325880" y="4937760"/>
            <a:ext cx="365760" cy="182880"/>
          </a:xfrm>
          <a:prstGeom prst="rect">
            <a:avLst/>
          </a:prstGeom>
          <a:noFill/>
          <a:ln/>
        </p:spPr>
        <p:txBody>
          <a:bodyPr wrap="square" lIns="0" tIns="0" rIns="0" bIns="0" rtlCol="0" anchor="ctr"/>
          <a:lstStyle/>
          <a:p>
            <a:pPr indent="0" marL="0">
              <a:buNone/>
            </a:pPr>
            <a:r>
              <a:rPr lang="en-US" sz="750" dirty="0">
                <a:solidFill>
                  <a:srgbClr val="94A3B8"/>
                </a:solidFill>
              </a:rPr>
              <a:t>0</a:t>
            </a:r>
            <a:endParaRPr lang="en-US" sz="750" dirty="0"/>
          </a:p>
        </p:txBody>
      </p:sp>
      <p:sp>
        <p:nvSpPr>
          <p:cNvPr id="17" name="Text 15"/>
          <p:cNvSpPr/>
          <p:nvPr/>
        </p:nvSpPr>
        <p:spPr>
          <a:xfrm>
            <a:off x="3941064" y="4937760"/>
            <a:ext cx="548640" cy="182880"/>
          </a:xfrm>
          <a:prstGeom prst="rect">
            <a:avLst/>
          </a:prstGeom>
          <a:noFill/>
          <a:ln/>
        </p:spPr>
        <p:txBody>
          <a:bodyPr wrap="square" lIns="0" tIns="0" rIns="0" bIns="0" rtlCol="0" anchor="ctr"/>
          <a:lstStyle/>
          <a:p>
            <a:pPr algn="ctr" indent="0" marL="0">
              <a:buNone/>
            </a:pPr>
            <a:r>
              <a:rPr lang="en-US" sz="750" dirty="0">
                <a:solidFill>
                  <a:srgbClr val="94A3B8"/>
                </a:solidFill>
              </a:rPr>
              <a:t>10,000</a:t>
            </a:r>
            <a:endParaRPr lang="en-US" sz="750" dirty="0"/>
          </a:p>
        </p:txBody>
      </p:sp>
      <p:sp>
        <p:nvSpPr>
          <p:cNvPr id="18" name="Text 16"/>
          <p:cNvSpPr/>
          <p:nvPr/>
        </p:nvSpPr>
        <p:spPr>
          <a:xfrm>
            <a:off x="6236208" y="4937760"/>
            <a:ext cx="868680" cy="182880"/>
          </a:xfrm>
          <a:prstGeom prst="rect">
            <a:avLst/>
          </a:prstGeom>
          <a:noFill/>
          <a:ln/>
        </p:spPr>
        <p:txBody>
          <a:bodyPr wrap="square" lIns="0" tIns="0" rIns="0" bIns="0" rtlCol="0" anchor="ctr"/>
          <a:lstStyle/>
          <a:p>
            <a:pPr algn="r" indent="0" marL="0">
              <a:buNone/>
            </a:pPr>
            <a:r>
              <a:rPr lang="en-US" sz="750" dirty="0">
                <a:solidFill>
                  <a:srgbClr val="94A3B8"/>
                </a:solidFill>
              </a:rPr>
              <a:t>20,000 steps</a:t>
            </a:r>
            <a:endParaRPr lang="en-US" sz="750" dirty="0"/>
          </a:p>
        </p:txBody>
      </p:sp>
      <p:sp>
        <p:nvSpPr>
          <p:cNvPr id="19" name="Text 17"/>
          <p:cNvSpPr/>
          <p:nvPr/>
        </p:nvSpPr>
        <p:spPr>
          <a:xfrm>
            <a:off x="932688" y="2011680"/>
            <a:ext cx="1463040" cy="164592"/>
          </a:xfrm>
          <a:prstGeom prst="rect">
            <a:avLst/>
          </a:prstGeom>
          <a:noFill/>
          <a:ln/>
        </p:spPr>
        <p:txBody>
          <a:bodyPr wrap="square" lIns="0" tIns="0" rIns="0" bIns="0" rtlCol="0" anchor="ctr"/>
          <a:lstStyle/>
          <a:p>
            <a:pPr indent="0" marL="0">
              <a:buNone/>
            </a:pPr>
            <a:r>
              <a:rPr lang="en-US" sz="750" i="1" dirty="0">
                <a:solidFill>
                  <a:srgbClr val="94A3B8"/>
                </a:solidFill>
              </a:rPr>
              <a:t>CE loss (full-sequence)</a:t>
            </a:r>
            <a:endParaRPr lang="en-US" sz="750" dirty="0"/>
          </a:p>
        </p:txBody>
      </p:sp>
      <p:sp>
        <p:nvSpPr>
          <p:cNvPr id="20" name="Shape 18"/>
          <p:cNvSpPr/>
          <p:nvPr/>
        </p:nvSpPr>
        <p:spPr>
          <a:xfrm>
            <a:off x="1420118" y="2348287"/>
            <a:ext cx="25183" cy="2121391"/>
          </a:xfrm>
          <a:prstGeom prst="line">
            <a:avLst/>
          </a:prstGeom>
          <a:noFill/>
          <a:ln w="22860">
            <a:solidFill>
              <a:srgbClr val="22D3EE"/>
            </a:solidFill>
            <a:prstDash val="solid"/>
          </a:ln>
        </p:spPr>
      </p:sp>
      <p:sp>
        <p:nvSpPr>
          <p:cNvPr id="21" name="Shape 19"/>
          <p:cNvSpPr/>
          <p:nvPr/>
        </p:nvSpPr>
        <p:spPr>
          <a:xfrm>
            <a:off x="1445301" y="4469679"/>
            <a:ext cx="111923" cy="110501"/>
          </a:xfrm>
          <a:prstGeom prst="line">
            <a:avLst/>
          </a:prstGeom>
          <a:noFill/>
          <a:ln w="22860">
            <a:solidFill>
              <a:srgbClr val="22D3EE"/>
            </a:solidFill>
            <a:prstDash val="solid"/>
          </a:ln>
        </p:spPr>
      </p:sp>
      <p:sp>
        <p:nvSpPr>
          <p:cNvPr id="22" name="Shape 20"/>
          <p:cNvSpPr/>
          <p:nvPr/>
        </p:nvSpPr>
        <p:spPr>
          <a:xfrm>
            <a:off x="1557223" y="4580180"/>
            <a:ext cx="139903" cy="55812"/>
          </a:xfrm>
          <a:prstGeom prst="line">
            <a:avLst/>
          </a:prstGeom>
          <a:noFill/>
          <a:ln w="22860">
            <a:solidFill>
              <a:srgbClr val="22D3EE"/>
            </a:solidFill>
            <a:prstDash val="solid"/>
          </a:ln>
        </p:spPr>
      </p:sp>
      <p:sp>
        <p:nvSpPr>
          <p:cNvPr id="23" name="Shape 21"/>
          <p:cNvSpPr/>
          <p:nvPr/>
        </p:nvSpPr>
        <p:spPr>
          <a:xfrm>
            <a:off x="1697126" y="4635991"/>
            <a:ext cx="419710" cy="53492"/>
          </a:xfrm>
          <a:prstGeom prst="line">
            <a:avLst/>
          </a:prstGeom>
          <a:noFill/>
          <a:ln w="22860">
            <a:solidFill>
              <a:srgbClr val="22D3EE"/>
            </a:solidFill>
            <a:prstDash val="solid"/>
          </a:ln>
        </p:spPr>
      </p:sp>
      <p:sp>
        <p:nvSpPr>
          <p:cNvPr id="24" name="Shape 22"/>
          <p:cNvSpPr/>
          <p:nvPr/>
        </p:nvSpPr>
        <p:spPr>
          <a:xfrm>
            <a:off x="2116836" y="4689484"/>
            <a:ext cx="699516" cy="-13940"/>
          </a:xfrm>
          <a:prstGeom prst="line">
            <a:avLst/>
          </a:prstGeom>
          <a:noFill/>
          <a:ln w="22860">
            <a:solidFill>
              <a:srgbClr val="22D3EE"/>
            </a:solidFill>
            <a:prstDash val="solid"/>
          </a:ln>
        </p:spPr>
      </p:sp>
      <p:sp>
        <p:nvSpPr>
          <p:cNvPr id="25" name="Shape 23"/>
          <p:cNvSpPr/>
          <p:nvPr/>
        </p:nvSpPr>
        <p:spPr>
          <a:xfrm>
            <a:off x="2816352" y="4675543"/>
            <a:ext cx="699516" cy="59178"/>
          </a:xfrm>
          <a:prstGeom prst="line">
            <a:avLst/>
          </a:prstGeom>
          <a:noFill/>
          <a:ln w="22860">
            <a:solidFill>
              <a:srgbClr val="22D3EE"/>
            </a:solidFill>
            <a:prstDash val="solid"/>
          </a:ln>
        </p:spPr>
      </p:sp>
      <p:sp>
        <p:nvSpPr>
          <p:cNvPr id="26" name="Shape 24"/>
          <p:cNvSpPr/>
          <p:nvPr/>
        </p:nvSpPr>
        <p:spPr>
          <a:xfrm>
            <a:off x="3515868" y="4734722"/>
            <a:ext cx="699516" cy="2070"/>
          </a:xfrm>
          <a:prstGeom prst="line">
            <a:avLst/>
          </a:prstGeom>
          <a:noFill/>
          <a:ln w="22860">
            <a:solidFill>
              <a:srgbClr val="22D3EE"/>
            </a:solidFill>
            <a:prstDash val="solid"/>
          </a:ln>
        </p:spPr>
      </p:sp>
      <p:sp>
        <p:nvSpPr>
          <p:cNvPr id="27" name="Shape 25"/>
          <p:cNvSpPr/>
          <p:nvPr/>
        </p:nvSpPr>
        <p:spPr>
          <a:xfrm>
            <a:off x="4215384" y="4736792"/>
            <a:ext cx="699516" cy="39627"/>
          </a:xfrm>
          <a:prstGeom prst="line">
            <a:avLst/>
          </a:prstGeom>
          <a:noFill/>
          <a:ln w="22860">
            <a:solidFill>
              <a:srgbClr val="22D3EE"/>
            </a:solidFill>
            <a:prstDash val="solid"/>
          </a:ln>
        </p:spPr>
      </p:sp>
      <p:sp>
        <p:nvSpPr>
          <p:cNvPr id="28" name="Shape 26"/>
          <p:cNvSpPr/>
          <p:nvPr/>
        </p:nvSpPr>
        <p:spPr>
          <a:xfrm>
            <a:off x="4914900" y="4776418"/>
            <a:ext cx="699516" cy="-6434"/>
          </a:xfrm>
          <a:prstGeom prst="line">
            <a:avLst/>
          </a:prstGeom>
          <a:noFill/>
          <a:ln w="22860">
            <a:solidFill>
              <a:srgbClr val="22D3EE"/>
            </a:solidFill>
            <a:prstDash val="solid"/>
          </a:ln>
        </p:spPr>
      </p:sp>
      <p:sp>
        <p:nvSpPr>
          <p:cNvPr id="29" name="Shape 27"/>
          <p:cNvSpPr/>
          <p:nvPr/>
        </p:nvSpPr>
        <p:spPr>
          <a:xfrm>
            <a:off x="5614416" y="4769984"/>
            <a:ext cx="699516" cy="25911"/>
          </a:xfrm>
          <a:prstGeom prst="line">
            <a:avLst/>
          </a:prstGeom>
          <a:noFill/>
          <a:ln w="22860">
            <a:solidFill>
              <a:srgbClr val="22D3EE"/>
            </a:solidFill>
            <a:prstDash val="solid"/>
          </a:ln>
        </p:spPr>
      </p:sp>
      <p:sp>
        <p:nvSpPr>
          <p:cNvPr id="30" name="Shape 28"/>
          <p:cNvSpPr/>
          <p:nvPr/>
        </p:nvSpPr>
        <p:spPr>
          <a:xfrm>
            <a:off x="6313932" y="4795895"/>
            <a:ext cx="559613" cy="2619"/>
          </a:xfrm>
          <a:prstGeom prst="line">
            <a:avLst/>
          </a:prstGeom>
          <a:noFill/>
          <a:ln w="22860">
            <a:solidFill>
              <a:srgbClr val="22D3EE"/>
            </a:solidFill>
            <a:prstDash val="solid"/>
          </a:ln>
        </p:spPr>
      </p:sp>
      <p:sp>
        <p:nvSpPr>
          <p:cNvPr id="31" name="Shape 29"/>
          <p:cNvSpPr/>
          <p:nvPr/>
        </p:nvSpPr>
        <p:spPr>
          <a:xfrm>
            <a:off x="1378970" y="2307139"/>
            <a:ext cx="82296" cy="82296"/>
          </a:xfrm>
          <a:prstGeom prst="ellipse">
            <a:avLst/>
          </a:prstGeom>
          <a:solidFill>
            <a:srgbClr val="22D3EE"/>
          </a:solidFill>
          <a:ln w="12700">
            <a:solidFill>
              <a:srgbClr val="22D3EE"/>
            </a:solidFill>
            <a:prstDash val="solid"/>
          </a:ln>
        </p:spPr>
      </p:sp>
      <p:sp>
        <p:nvSpPr>
          <p:cNvPr id="32" name="Shape 30"/>
          <p:cNvSpPr/>
          <p:nvPr/>
        </p:nvSpPr>
        <p:spPr>
          <a:xfrm>
            <a:off x="1404153" y="4428531"/>
            <a:ext cx="82296" cy="82296"/>
          </a:xfrm>
          <a:prstGeom prst="ellipse">
            <a:avLst/>
          </a:prstGeom>
          <a:solidFill>
            <a:srgbClr val="22D3EE"/>
          </a:solidFill>
          <a:ln w="12700">
            <a:solidFill>
              <a:srgbClr val="22D3EE"/>
            </a:solidFill>
            <a:prstDash val="solid"/>
          </a:ln>
        </p:spPr>
      </p:sp>
      <p:sp>
        <p:nvSpPr>
          <p:cNvPr id="33" name="Shape 31"/>
          <p:cNvSpPr/>
          <p:nvPr/>
        </p:nvSpPr>
        <p:spPr>
          <a:xfrm>
            <a:off x="1516075" y="4539032"/>
            <a:ext cx="82296" cy="82296"/>
          </a:xfrm>
          <a:prstGeom prst="ellipse">
            <a:avLst/>
          </a:prstGeom>
          <a:solidFill>
            <a:srgbClr val="22D3EE"/>
          </a:solidFill>
          <a:ln w="12700">
            <a:solidFill>
              <a:srgbClr val="22D3EE"/>
            </a:solidFill>
            <a:prstDash val="solid"/>
          </a:ln>
        </p:spPr>
      </p:sp>
      <p:sp>
        <p:nvSpPr>
          <p:cNvPr id="34" name="Shape 32"/>
          <p:cNvSpPr/>
          <p:nvPr/>
        </p:nvSpPr>
        <p:spPr>
          <a:xfrm>
            <a:off x="1655978" y="4594843"/>
            <a:ext cx="82296" cy="82296"/>
          </a:xfrm>
          <a:prstGeom prst="ellipse">
            <a:avLst/>
          </a:prstGeom>
          <a:solidFill>
            <a:srgbClr val="22D3EE"/>
          </a:solidFill>
          <a:ln w="12700">
            <a:solidFill>
              <a:srgbClr val="22D3EE"/>
            </a:solidFill>
            <a:prstDash val="solid"/>
          </a:ln>
        </p:spPr>
      </p:sp>
      <p:sp>
        <p:nvSpPr>
          <p:cNvPr id="35" name="Shape 33"/>
          <p:cNvSpPr/>
          <p:nvPr/>
        </p:nvSpPr>
        <p:spPr>
          <a:xfrm>
            <a:off x="2075688" y="4648336"/>
            <a:ext cx="82296" cy="82296"/>
          </a:xfrm>
          <a:prstGeom prst="ellipse">
            <a:avLst/>
          </a:prstGeom>
          <a:solidFill>
            <a:srgbClr val="22D3EE"/>
          </a:solidFill>
          <a:ln w="12700">
            <a:solidFill>
              <a:srgbClr val="22D3EE"/>
            </a:solidFill>
            <a:prstDash val="solid"/>
          </a:ln>
        </p:spPr>
      </p:sp>
      <p:sp>
        <p:nvSpPr>
          <p:cNvPr id="36" name="Shape 34"/>
          <p:cNvSpPr/>
          <p:nvPr/>
        </p:nvSpPr>
        <p:spPr>
          <a:xfrm>
            <a:off x="2775204" y="4634395"/>
            <a:ext cx="82296" cy="82296"/>
          </a:xfrm>
          <a:prstGeom prst="ellipse">
            <a:avLst/>
          </a:prstGeom>
          <a:solidFill>
            <a:srgbClr val="22D3EE"/>
          </a:solidFill>
          <a:ln w="12700">
            <a:solidFill>
              <a:srgbClr val="22D3EE"/>
            </a:solidFill>
            <a:prstDash val="solid"/>
          </a:ln>
        </p:spPr>
      </p:sp>
      <p:sp>
        <p:nvSpPr>
          <p:cNvPr id="37" name="Shape 35"/>
          <p:cNvSpPr/>
          <p:nvPr/>
        </p:nvSpPr>
        <p:spPr>
          <a:xfrm>
            <a:off x="3474720" y="4693574"/>
            <a:ext cx="82296" cy="82296"/>
          </a:xfrm>
          <a:prstGeom prst="ellipse">
            <a:avLst/>
          </a:prstGeom>
          <a:solidFill>
            <a:srgbClr val="22D3EE"/>
          </a:solidFill>
          <a:ln w="12700">
            <a:solidFill>
              <a:srgbClr val="22D3EE"/>
            </a:solidFill>
            <a:prstDash val="solid"/>
          </a:ln>
        </p:spPr>
      </p:sp>
      <p:sp>
        <p:nvSpPr>
          <p:cNvPr id="38" name="Shape 36"/>
          <p:cNvSpPr/>
          <p:nvPr/>
        </p:nvSpPr>
        <p:spPr>
          <a:xfrm>
            <a:off x="4174236" y="4695644"/>
            <a:ext cx="82296" cy="82296"/>
          </a:xfrm>
          <a:prstGeom prst="ellipse">
            <a:avLst/>
          </a:prstGeom>
          <a:solidFill>
            <a:srgbClr val="22D3EE"/>
          </a:solidFill>
          <a:ln w="12700">
            <a:solidFill>
              <a:srgbClr val="22D3EE"/>
            </a:solidFill>
            <a:prstDash val="solid"/>
          </a:ln>
        </p:spPr>
      </p:sp>
      <p:sp>
        <p:nvSpPr>
          <p:cNvPr id="39" name="Shape 37"/>
          <p:cNvSpPr/>
          <p:nvPr/>
        </p:nvSpPr>
        <p:spPr>
          <a:xfrm>
            <a:off x="4873752" y="4735270"/>
            <a:ext cx="82296" cy="82296"/>
          </a:xfrm>
          <a:prstGeom prst="ellipse">
            <a:avLst/>
          </a:prstGeom>
          <a:solidFill>
            <a:srgbClr val="22D3EE"/>
          </a:solidFill>
          <a:ln w="12700">
            <a:solidFill>
              <a:srgbClr val="22D3EE"/>
            </a:solidFill>
            <a:prstDash val="solid"/>
          </a:ln>
        </p:spPr>
      </p:sp>
      <p:sp>
        <p:nvSpPr>
          <p:cNvPr id="40" name="Shape 38"/>
          <p:cNvSpPr/>
          <p:nvPr/>
        </p:nvSpPr>
        <p:spPr>
          <a:xfrm>
            <a:off x="5573268" y="4728836"/>
            <a:ext cx="82296" cy="82296"/>
          </a:xfrm>
          <a:prstGeom prst="ellipse">
            <a:avLst/>
          </a:prstGeom>
          <a:solidFill>
            <a:srgbClr val="22D3EE"/>
          </a:solidFill>
          <a:ln w="12700">
            <a:solidFill>
              <a:srgbClr val="22D3EE"/>
            </a:solidFill>
            <a:prstDash val="solid"/>
          </a:ln>
        </p:spPr>
      </p:sp>
      <p:sp>
        <p:nvSpPr>
          <p:cNvPr id="41" name="Shape 39"/>
          <p:cNvSpPr/>
          <p:nvPr/>
        </p:nvSpPr>
        <p:spPr>
          <a:xfrm>
            <a:off x="6272784" y="4754747"/>
            <a:ext cx="82296" cy="82296"/>
          </a:xfrm>
          <a:prstGeom prst="ellipse">
            <a:avLst/>
          </a:prstGeom>
          <a:solidFill>
            <a:srgbClr val="22D3EE"/>
          </a:solidFill>
          <a:ln w="12700">
            <a:solidFill>
              <a:srgbClr val="22D3EE"/>
            </a:solidFill>
            <a:prstDash val="solid"/>
          </a:ln>
        </p:spPr>
      </p:sp>
      <p:sp>
        <p:nvSpPr>
          <p:cNvPr id="42" name="Shape 40"/>
          <p:cNvSpPr/>
          <p:nvPr/>
        </p:nvSpPr>
        <p:spPr>
          <a:xfrm>
            <a:off x="6832397" y="4757366"/>
            <a:ext cx="82296" cy="82296"/>
          </a:xfrm>
          <a:prstGeom prst="ellipse">
            <a:avLst/>
          </a:prstGeom>
          <a:solidFill>
            <a:srgbClr val="22D3EE"/>
          </a:solidFill>
          <a:ln w="12700">
            <a:solidFill>
              <a:srgbClr val="22D3EE"/>
            </a:solidFill>
            <a:prstDash val="solid"/>
          </a:ln>
        </p:spPr>
      </p:sp>
      <p:sp>
        <p:nvSpPr>
          <p:cNvPr id="43" name="Text 41"/>
          <p:cNvSpPr/>
          <p:nvPr/>
        </p:nvSpPr>
        <p:spPr>
          <a:xfrm>
            <a:off x="914400" y="5349240"/>
            <a:ext cx="6263640" cy="457200"/>
          </a:xfrm>
          <a:prstGeom prst="rect">
            <a:avLst/>
          </a:prstGeom>
          <a:noFill/>
          <a:ln/>
        </p:spPr>
        <p:txBody>
          <a:bodyPr wrap="square" lIns="0" tIns="0" rIns="0" bIns="0" rtlCol="0" anchor="ctr"/>
          <a:lstStyle/>
          <a:p>
            <a:pPr indent="0" marL="0">
              <a:buNone/>
            </a:pPr>
            <a:r>
              <a:rPr lang="en-US" sz="1120" dirty="0">
                <a:solidFill>
                  <a:srgbClr val="94A3B8"/>
                </a:solidFill>
              </a:rPr>
              <a:t>10.24 → 0.42 over one epoch · final 100-step rolling avg = 0.4214 · no NaN · grad-norm steady at 0.8–1.6.</a:t>
            </a:r>
            <a:endParaRPr lang="en-US" sz="1120" dirty="0"/>
          </a:p>
        </p:txBody>
      </p:sp>
      <p:sp>
        <p:nvSpPr>
          <p:cNvPr id="44" name="Shape 42"/>
          <p:cNvSpPr/>
          <p:nvPr/>
        </p:nvSpPr>
        <p:spPr>
          <a:xfrm>
            <a:off x="7543800" y="1325880"/>
            <a:ext cx="4023360" cy="4526280"/>
          </a:xfrm>
          <a:prstGeom prst="roundRect">
            <a:avLst>
              <a:gd name="adj" fmla="val 1818"/>
            </a:avLst>
          </a:prstGeom>
          <a:solidFill>
            <a:srgbClr val="111827"/>
          </a:solidFill>
          <a:ln w="12700">
            <a:solidFill>
              <a:srgbClr val="334155">
                <a:alpha val="85000"/>
              </a:srgbClr>
            </a:solidFill>
            <a:prstDash val="solid"/>
          </a:ln>
        </p:spPr>
      </p:sp>
      <p:sp>
        <p:nvSpPr>
          <p:cNvPr id="45" name="Text 43"/>
          <p:cNvSpPr/>
          <p:nvPr/>
        </p:nvSpPr>
        <p:spPr>
          <a:xfrm>
            <a:off x="7818120" y="1627632"/>
            <a:ext cx="2743200" cy="228600"/>
          </a:xfrm>
          <a:prstGeom prst="rect">
            <a:avLst/>
          </a:prstGeom>
          <a:noFill/>
          <a:ln/>
        </p:spPr>
        <p:txBody>
          <a:bodyPr wrap="square" lIns="0" tIns="0" rIns="0" bIns="0" rtlCol="0" anchor="ctr"/>
          <a:lstStyle/>
          <a:p>
            <a:pPr indent="0" marL="0">
              <a:buNone/>
            </a:pPr>
            <a:r>
              <a:rPr lang="en-US" sz="1400" b="1" dirty="0">
                <a:solidFill>
                  <a:srgbClr val="FBBF24"/>
                </a:solidFill>
              </a:rPr>
              <a:t>Health vs reality</a:t>
            </a:r>
            <a:endParaRPr lang="en-US" sz="1400" dirty="0"/>
          </a:p>
        </p:txBody>
      </p:sp>
      <p:sp>
        <p:nvSpPr>
          <p:cNvPr id="46" name="Text 44"/>
          <p:cNvSpPr/>
          <p:nvPr/>
        </p:nvSpPr>
        <p:spPr>
          <a:xfrm>
            <a:off x="7818120" y="2103120"/>
            <a:ext cx="3520440" cy="3200400"/>
          </a:xfrm>
          <a:prstGeom prst="rect">
            <a:avLst/>
          </a:prstGeom>
          <a:noFill/>
          <a:ln/>
        </p:spPr>
        <p:txBody>
          <a:bodyPr wrap="square" lIns="1016" tIns="1016" rIns="1016" bIns="1016" rtlCol="0" anchor="ctr">
            <a:normAutofit/>
          </a:bodyPr>
          <a:lstStyle/>
          <a:p>
            <a:pPr marL="127000" indent="-127000">
              <a:buSzPct val="100000"/>
              <a:buChar char="•"/>
            </a:pPr>
            <a:r>
              <a:rPr lang="en-US" sz="1120" dirty="0">
                <a:solidFill>
                  <a:srgbClr val="E5E7EB"/>
                </a:solidFill>
              </a:rPr>
              <a:t>Final loss looks great: 0.42 final 100-step average</a:t>
            </a:r>
            <a:endParaRPr lang="en-US" sz="1120" dirty="0"/>
          </a:p>
          <a:p>
            <a:pPr marL="127000" indent="-127000">
              <a:buSzPct val="100000"/>
              <a:buChar char="•"/>
            </a:pPr>
            <a:r>
              <a:rPr lang="en-US" sz="1120" dirty="0">
                <a:solidFill>
                  <a:srgbClr val="E5E7EB"/>
                </a:solidFill>
              </a:rPr>
              <a:t>But Run A regressed eval full-match: 0.288 → 0.232 (−5.6 pp)</a:t>
            </a:r>
            <a:endParaRPr lang="en-US" sz="1120" dirty="0"/>
          </a:p>
          <a:p>
            <a:pPr marL="127000" indent="-127000">
              <a:buSzPct val="100000"/>
              <a:buChar char="•"/>
            </a:pPr>
            <a:r>
              <a:rPr lang="en-US" sz="1120" dirty="0">
                <a:solidFill>
                  <a:srgbClr val="E5E7EB"/>
                </a:solidFill>
              </a:rPr>
              <a:t>Loss was averaged over ~256 image patches + prompt + ~25 JSON tokens — image-token CE is easy and dominated the headline</a:t>
            </a:r>
            <a:endParaRPr lang="en-US" sz="1120" dirty="0"/>
          </a:p>
          <a:p>
            <a:pPr marL="127000" indent="-127000">
              <a:buSzPct val="100000"/>
              <a:buChar char="•"/>
            </a:pPr>
            <a:r>
              <a:rPr lang="en-US" sz="1120" dirty="0">
                <a:solidFill>
                  <a:srgbClr val="E5E7EB"/>
                </a:solidFill>
              </a:rPr>
              <a:t>Diagnosis motivated Run B (assistant-only loss masking) and the rest of the chain</a:t>
            </a:r>
            <a:endParaRPr lang="en-US" sz="1120" dirty="0"/>
          </a:p>
        </p:txBody>
      </p:sp>
      <p:sp>
        <p:nvSpPr>
          <p:cNvPr id="47" name="Shape 45"/>
          <p:cNvSpPr/>
          <p:nvPr/>
        </p:nvSpPr>
        <p:spPr>
          <a:xfrm>
            <a:off x="7818120" y="5285232"/>
            <a:ext cx="1828800" cy="274320"/>
          </a:xfrm>
          <a:prstGeom prst="roundRect">
            <a:avLst>
              <a:gd name="adj" fmla="val 20000"/>
            </a:avLst>
          </a:prstGeom>
          <a:solidFill>
            <a:srgbClr val="FB7185">
              <a:alpha val="92000"/>
            </a:srgbClr>
          </a:solidFill>
          <a:ln w="12700">
            <a:solidFill>
              <a:srgbClr val="FB7185">
                <a:alpha val="90000"/>
              </a:srgbClr>
            </a:solidFill>
            <a:prstDash val="solid"/>
          </a:ln>
        </p:spPr>
      </p:sp>
      <p:sp>
        <p:nvSpPr>
          <p:cNvPr id="48" name="Text 46"/>
          <p:cNvSpPr/>
          <p:nvPr/>
        </p:nvSpPr>
        <p:spPr>
          <a:xfrm>
            <a:off x="7818120" y="5353812"/>
            <a:ext cx="1828800" cy="100584"/>
          </a:xfrm>
          <a:prstGeom prst="rect">
            <a:avLst/>
          </a:prstGeom>
          <a:noFill/>
          <a:ln/>
        </p:spPr>
        <p:txBody>
          <a:bodyPr wrap="square" lIns="0" tIns="0" rIns="0" bIns="0" rtlCol="0" anchor="ctr"/>
          <a:lstStyle/>
          <a:p>
            <a:pPr algn="ctr" indent="0" marL="0">
              <a:buNone/>
            </a:pPr>
            <a:r>
              <a:rPr lang="en-US" sz="750" b="1" dirty="0">
                <a:solidFill>
                  <a:srgbClr val="0B1020"/>
                </a:solidFill>
              </a:rPr>
              <a:t>good loss · bad eval</a:t>
            </a:r>
            <a:endParaRPr lang="en-US" sz="75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INITIAL FRAME</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First formulation: predict tap coordinates from screenshots</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731520" y="1389888"/>
            <a:ext cx="3840480" cy="4251960"/>
          </a:xfrm>
          <a:prstGeom prst="roundRect">
            <a:avLst>
              <a:gd name="adj" fmla="val 1905"/>
            </a:avLst>
          </a:prstGeom>
          <a:solidFill>
            <a:srgbClr val="111827"/>
          </a:solidFill>
          <a:ln w="12700">
            <a:solidFill>
              <a:srgbClr val="334155">
                <a:alpha val="85000"/>
              </a:srgbClr>
            </a:solidFill>
            <a:prstDash val="solid"/>
          </a:ln>
        </p:spPr>
      </p:sp>
      <p:sp>
        <p:nvSpPr>
          <p:cNvPr id="6" name="Text 4"/>
          <p:cNvSpPr/>
          <p:nvPr/>
        </p:nvSpPr>
        <p:spPr>
          <a:xfrm>
            <a:off x="987552" y="1664208"/>
            <a:ext cx="2743200" cy="228600"/>
          </a:xfrm>
          <a:prstGeom prst="rect">
            <a:avLst/>
          </a:prstGeom>
          <a:noFill/>
          <a:ln/>
        </p:spPr>
        <p:txBody>
          <a:bodyPr wrap="square" lIns="0" tIns="0" rIns="0" bIns="0" rtlCol="0" anchor="ctr"/>
          <a:lstStyle/>
          <a:p>
            <a:pPr indent="0" marL="0">
              <a:buNone/>
            </a:pPr>
            <a:r>
              <a:rPr lang="en-US" sz="1500" b="1" dirty="0">
                <a:solidFill>
                  <a:srgbClr val="E5E7EB"/>
                </a:solidFill>
              </a:rPr>
              <a:t>Coordinate target</a:t>
            </a:r>
            <a:endParaRPr lang="en-US" sz="1500" dirty="0"/>
          </a:p>
        </p:txBody>
      </p:sp>
      <p:sp>
        <p:nvSpPr>
          <p:cNvPr id="7" name="Text 5"/>
          <p:cNvSpPr/>
          <p:nvPr/>
        </p:nvSpPr>
        <p:spPr>
          <a:xfrm>
            <a:off x="1005840" y="2240280"/>
            <a:ext cx="3108960" cy="960120"/>
          </a:xfrm>
          <a:prstGeom prst="rect">
            <a:avLst/>
          </a:prstGeom>
          <a:noFill/>
          <a:ln/>
        </p:spPr>
        <p:txBody>
          <a:bodyPr wrap="square" lIns="635" tIns="635" rIns="635" bIns="635" rtlCol="0" anchor="ctr">
            <a:normAutofit/>
          </a:bodyPr>
          <a:lstStyle/>
          <a:p>
            <a:pPr indent="0" marL="0">
              <a:buNone/>
            </a:pPr>
            <a:r>
              <a:rPr lang="en-US" sz="2000" dirty="0">
                <a:solidFill>
                  <a:srgbClr val="22D3EE"/>
                </a:solidFill>
                <a:latin typeface="Aptos Mono" pitchFamily="34" charset="0"/>
                <a:ea typeface="Aptos Mono" pitchFamily="34" charset="-122"/>
                <a:cs typeface="Aptos Mono" pitchFamily="34" charset="-120"/>
              </a:rPr>
              <a:t>{"action":"tap",</a:t>
            </a:r>
            <a:endParaRPr lang="en-US" sz="2000" dirty="0"/>
          </a:p>
          <a:p>
            <a:pPr indent="0" marL="0">
              <a:buNone/>
            </a:pPr>
            <a:r>
              <a:rPr lang="en-US" sz="2000" dirty="0">
                <a:solidFill>
                  <a:srgbClr val="22D3EE"/>
                </a:solidFill>
                <a:latin typeface="Aptos Mono" pitchFamily="34" charset="0"/>
                <a:ea typeface="Aptos Mono" pitchFamily="34" charset="-122"/>
                <a:cs typeface="Aptos Mono" pitchFamily="34" charset="-120"/>
              </a:rPr>
              <a:t> "x": 0.293,</a:t>
            </a:r>
            <a:endParaRPr lang="en-US" sz="2000" dirty="0"/>
          </a:p>
          <a:p>
            <a:pPr indent="0" marL="0">
              <a:buNone/>
            </a:pPr>
            <a:r>
              <a:rPr lang="en-US" sz="2000" dirty="0">
                <a:solidFill>
                  <a:srgbClr val="22D3EE"/>
                </a:solidFill>
                <a:latin typeface="Aptos Mono" pitchFamily="34" charset="0"/>
                <a:ea typeface="Aptos Mono" pitchFamily="34" charset="-122"/>
                <a:cs typeface="Aptos Mono" pitchFamily="34" charset="-120"/>
              </a:rPr>
              <a:t> "y": 0.934}</a:t>
            </a:r>
            <a:endParaRPr lang="en-US" sz="2000" dirty="0"/>
          </a:p>
        </p:txBody>
      </p:sp>
      <p:sp>
        <p:nvSpPr>
          <p:cNvPr id="8" name="Text 6"/>
          <p:cNvSpPr/>
          <p:nvPr/>
        </p:nvSpPr>
        <p:spPr>
          <a:xfrm>
            <a:off x="1005840" y="3657600"/>
            <a:ext cx="3063240" cy="594360"/>
          </a:xfrm>
          <a:prstGeom prst="rect">
            <a:avLst/>
          </a:prstGeom>
          <a:noFill/>
          <a:ln/>
        </p:spPr>
        <p:txBody>
          <a:bodyPr wrap="square" lIns="0" tIns="0" rIns="0" bIns="0" rtlCol="0" anchor="ctr"/>
          <a:lstStyle/>
          <a:p>
            <a:pPr indent="0" marL="0">
              <a:buNone/>
            </a:pPr>
            <a:r>
              <a:rPr lang="en-US" sz="1200" dirty="0">
                <a:solidFill>
                  <a:srgbClr val="94A3B8"/>
                </a:solidFill>
              </a:rPr>
              <a:t>Attractive because it is universal: every tap can be represented as normalized x/y.</a:t>
            </a:r>
            <a:endParaRPr lang="en-US" sz="1200" dirty="0"/>
          </a:p>
        </p:txBody>
      </p:sp>
      <p:sp>
        <p:nvSpPr>
          <p:cNvPr id="9" name="Shape 7"/>
          <p:cNvSpPr/>
          <p:nvPr/>
        </p:nvSpPr>
        <p:spPr>
          <a:xfrm>
            <a:off x="4892040" y="1389888"/>
            <a:ext cx="6355080" cy="4251960"/>
          </a:xfrm>
          <a:prstGeom prst="roundRect">
            <a:avLst>
              <a:gd name="adj" fmla="val 1720"/>
            </a:avLst>
          </a:prstGeom>
          <a:solidFill>
            <a:srgbClr val="111827"/>
          </a:solidFill>
          <a:ln w="12700">
            <a:solidFill>
              <a:srgbClr val="334155">
                <a:alpha val="85000"/>
              </a:srgbClr>
            </a:solidFill>
            <a:prstDash val="solid"/>
          </a:ln>
        </p:spPr>
      </p:sp>
      <p:sp>
        <p:nvSpPr>
          <p:cNvPr id="10" name="Text 8"/>
          <p:cNvSpPr/>
          <p:nvPr/>
        </p:nvSpPr>
        <p:spPr>
          <a:xfrm>
            <a:off x="5166360" y="1664208"/>
            <a:ext cx="3200400" cy="228600"/>
          </a:xfrm>
          <a:prstGeom prst="rect">
            <a:avLst/>
          </a:prstGeom>
          <a:noFill/>
          <a:ln/>
        </p:spPr>
        <p:txBody>
          <a:bodyPr wrap="square" lIns="0" tIns="0" rIns="0" bIns="0" rtlCol="0" anchor="ctr"/>
          <a:lstStyle/>
          <a:p>
            <a:pPr indent="0" marL="0">
              <a:buNone/>
            </a:pPr>
            <a:r>
              <a:rPr lang="en-US" sz="1500" b="1" dirty="0">
                <a:solidFill>
                  <a:srgbClr val="E5E7EB"/>
                </a:solidFill>
              </a:rPr>
              <a:t>But the loss is misaligned</a:t>
            </a:r>
            <a:endParaRPr lang="en-US" sz="1500" dirty="0"/>
          </a:p>
        </p:txBody>
      </p:sp>
      <p:sp>
        <p:nvSpPr>
          <p:cNvPr id="11" name="Shape 9"/>
          <p:cNvSpPr/>
          <p:nvPr/>
        </p:nvSpPr>
        <p:spPr>
          <a:xfrm>
            <a:off x="5349240" y="2331720"/>
            <a:ext cx="1828800" cy="640080"/>
          </a:xfrm>
          <a:prstGeom prst="roundRect">
            <a:avLst>
              <a:gd name="adj" fmla="val 8571"/>
            </a:avLst>
          </a:prstGeom>
          <a:solidFill>
            <a:srgbClr val="FB7185">
              <a:alpha val="92000"/>
            </a:srgbClr>
          </a:solidFill>
          <a:ln w="15240">
            <a:solidFill>
              <a:srgbClr val="FB7185"/>
            </a:solidFill>
            <a:prstDash val="solid"/>
          </a:ln>
        </p:spPr>
      </p:sp>
      <p:sp>
        <p:nvSpPr>
          <p:cNvPr id="12" name="Text 10"/>
          <p:cNvSpPr/>
          <p:nvPr/>
        </p:nvSpPr>
        <p:spPr>
          <a:xfrm>
            <a:off x="5422392" y="2441448"/>
            <a:ext cx="1682496" cy="47548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Token CE rewards string tokens</a:t>
            </a:r>
            <a:endParaRPr lang="en-US" sz="1020" dirty="0"/>
          </a:p>
        </p:txBody>
      </p:sp>
      <p:sp>
        <p:nvSpPr>
          <p:cNvPr id="13" name="Shape 11"/>
          <p:cNvSpPr/>
          <p:nvPr/>
        </p:nvSpPr>
        <p:spPr>
          <a:xfrm>
            <a:off x="7269480" y="2651760"/>
            <a:ext cx="640080" cy="0"/>
          </a:xfrm>
          <a:prstGeom prst="line">
            <a:avLst/>
          </a:prstGeom>
          <a:noFill/>
          <a:ln w="19050">
            <a:solidFill>
              <a:srgbClr val="94A3B8"/>
            </a:solidFill>
            <a:prstDash val="solid"/>
            <a:headEnd type="none"/>
            <a:tailEnd type="triangle"/>
          </a:ln>
        </p:spPr>
      </p:sp>
      <p:sp>
        <p:nvSpPr>
          <p:cNvPr id="14" name="Shape 12"/>
          <p:cNvSpPr/>
          <p:nvPr/>
        </p:nvSpPr>
        <p:spPr>
          <a:xfrm>
            <a:off x="8001000" y="2331720"/>
            <a:ext cx="1600200" cy="640080"/>
          </a:xfrm>
          <a:prstGeom prst="roundRect">
            <a:avLst>
              <a:gd name="adj" fmla="val 8571"/>
            </a:avLst>
          </a:prstGeom>
          <a:solidFill>
            <a:srgbClr val="FBBF24">
              <a:alpha val="92000"/>
            </a:srgbClr>
          </a:solidFill>
          <a:ln w="15240">
            <a:solidFill>
              <a:srgbClr val="FBBF24"/>
            </a:solidFill>
            <a:prstDash val="solid"/>
          </a:ln>
        </p:spPr>
      </p:sp>
      <p:sp>
        <p:nvSpPr>
          <p:cNvPr id="15" name="Text 13"/>
          <p:cNvSpPr/>
          <p:nvPr/>
        </p:nvSpPr>
        <p:spPr>
          <a:xfrm>
            <a:off x="8074152" y="2441448"/>
            <a:ext cx="1453896" cy="47548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Not screen distance</a:t>
            </a:r>
            <a:endParaRPr lang="en-US" sz="1020" dirty="0"/>
          </a:p>
        </p:txBody>
      </p:sp>
      <p:sp>
        <p:nvSpPr>
          <p:cNvPr id="16" name="Shape 14"/>
          <p:cNvSpPr/>
          <p:nvPr/>
        </p:nvSpPr>
        <p:spPr>
          <a:xfrm>
            <a:off x="9692640" y="2651760"/>
            <a:ext cx="457200" cy="0"/>
          </a:xfrm>
          <a:prstGeom prst="line">
            <a:avLst/>
          </a:prstGeom>
          <a:noFill/>
          <a:ln w="19050">
            <a:solidFill>
              <a:srgbClr val="94A3B8"/>
            </a:solidFill>
            <a:prstDash val="solid"/>
            <a:headEnd type="none"/>
            <a:tailEnd type="triangle"/>
          </a:ln>
        </p:spPr>
      </p:sp>
      <p:sp>
        <p:nvSpPr>
          <p:cNvPr id="17" name="Shape 15"/>
          <p:cNvSpPr/>
          <p:nvPr/>
        </p:nvSpPr>
        <p:spPr>
          <a:xfrm>
            <a:off x="10241280" y="2331720"/>
            <a:ext cx="777240" cy="640080"/>
          </a:xfrm>
          <a:prstGeom prst="roundRect">
            <a:avLst>
              <a:gd name="adj" fmla="val 8571"/>
            </a:avLst>
          </a:prstGeom>
          <a:solidFill>
            <a:srgbClr val="475569">
              <a:alpha val="92000"/>
            </a:srgbClr>
          </a:solidFill>
          <a:ln w="15240">
            <a:solidFill>
              <a:srgbClr val="475569"/>
            </a:solidFill>
            <a:prstDash val="solid"/>
          </a:ln>
        </p:spPr>
      </p:sp>
      <p:sp>
        <p:nvSpPr>
          <p:cNvPr id="18" name="Text 16"/>
          <p:cNvSpPr/>
          <p:nvPr/>
        </p:nvSpPr>
        <p:spPr>
          <a:xfrm>
            <a:off x="10314432" y="2441448"/>
            <a:ext cx="630936" cy="47548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Plausible coordinate modes</a:t>
            </a:r>
            <a:endParaRPr lang="en-US" sz="1020" dirty="0"/>
          </a:p>
        </p:txBody>
      </p:sp>
      <p:sp>
        <p:nvSpPr>
          <p:cNvPr id="19" name="Text 17"/>
          <p:cNvSpPr/>
          <p:nvPr/>
        </p:nvSpPr>
        <p:spPr>
          <a:xfrm>
            <a:off x="5257800" y="3657600"/>
            <a:ext cx="5349240" cy="1188720"/>
          </a:xfrm>
          <a:prstGeom prst="rect">
            <a:avLst/>
          </a:prstGeom>
          <a:noFill/>
          <a:ln/>
        </p:spPr>
        <p:txBody>
          <a:bodyPr wrap="square" lIns="1016" tIns="1016" rIns="1016" bIns="1016" rtlCol="0" anchor="ctr">
            <a:normAutofit/>
          </a:bodyPr>
          <a:lstStyle/>
          <a:p>
            <a:pPr marL="127000" indent="-127000">
              <a:buSzPct val="100000"/>
              <a:buChar char="•"/>
            </a:pPr>
            <a:r>
              <a:rPr lang="en-US" sz="1150" dirty="0">
                <a:solidFill>
                  <a:srgbClr val="E5E7EB"/>
                </a:solidFill>
              </a:rPr>
              <a:t>“0.500” and “0.293” are token sequences, not nearby/remote screen locations</a:t>
            </a:r>
            <a:endParaRPr lang="en-US" sz="1150" dirty="0"/>
          </a:p>
          <a:p>
            <a:pPr marL="127000" indent="-127000">
              <a:buSzPct val="100000"/>
              <a:buChar char="•"/>
            </a:pPr>
            <a:r>
              <a:rPr lang="en-US" sz="1150" dirty="0">
                <a:solidFill>
                  <a:srgbClr val="E5E7EB"/>
                </a:solidFill>
              </a:rPr>
              <a:t>Tap-heavy data encourages shortcuts</a:t>
            </a:r>
            <a:endParaRPr lang="en-US" sz="1150" dirty="0"/>
          </a:p>
          <a:p>
            <a:pPr marL="127000" indent="-127000">
              <a:buSzPct val="100000"/>
              <a:buChar char="•"/>
            </a:pPr>
            <a:r>
              <a:rPr lang="en-US" sz="1150" dirty="0">
                <a:solidFill>
                  <a:srgbClr val="E5E7EB"/>
                </a:solidFill>
              </a:rPr>
              <a:t>Small UI elements are below effective vision resolution</a:t>
            </a:r>
            <a:endParaRPr lang="en-US" sz="115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RUNS B–G</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Methods tried before the pivot: coordinate SFT was a dead end</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640080" y="1325880"/>
            <a:ext cx="10972800" cy="4526280"/>
          </a:xfrm>
          <a:prstGeom prst="roundRect">
            <a:avLst>
              <a:gd name="adj" fmla="val 1616"/>
            </a:avLst>
          </a:prstGeom>
          <a:solidFill>
            <a:srgbClr val="111827"/>
          </a:solidFill>
          <a:ln w="12700">
            <a:solidFill>
              <a:srgbClr val="334155">
                <a:alpha val="85000"/>
              </a:srgbClr>
            </a:solidFill>
            <a:prstDash val="solid"/>
          </a:ln>
        </p:spPr>
      </p:sp>
      <p:sp>
        <p:nvSpPr>
          <p:cNvPr id="6" name="Text 4"/>
          <p:cNvSpPr/>
          <p:nvPr/>
        </p:nvSpPr>
        <p:spPr>
          <a:xfrm>
            <a:off x="914400" y="1691640"/>
            <a:ext cx="914400" cy="201168"/>
          </a:xfrm>
          <a:prstGeom prst="rect">
            <a:avLst/>
          </a:prstGeom>
          <a:noFill/>
          <a:ln/>
        </p:spPr>
        <p:txBody>
          <a:bodyPr wrap="square" lIns="0" tIns="0" rIns="0" bIns="0" rtlCol="0" anchor="ctr"/>
          <a:lstStyle/>
          <a:p>
            <a:pPr indent="0" marL="0">
              <a:buNone/>
            </a:pPr>
            <a:r>
              <a:rPr lang="en-US" sz="1000" b="1" dirty="0">
                <a:solidFill>
                  <a:srgbClr val="22D3EE"/>
                </a:solidFill>
              </a:rPr>
              <a:t>Run</a:t>
            </a:r>
            <a:endParaRPr lang="en-US" sz="1000" dirty="0"/>
          </a:p>
        </p:txBody>
      </p:sp>
      <p:sp>
        <p:nvSpPr>
          <p:cNvPr id="7" name="Text 5"/>
          <p:cNvSpPr/>
          <p:nvPr/>
        </p:nvSpPr>
        <p:spPr>
          <a:xfrm>
            <a:off x="1828800" y="1691640"/>
            <a:ext cx="4114800" cy="201168"/>
          </a:xfrm>
          <a:prstGeom prst="rect">
            <a:avLst/>
          </a:prstGeom>
          <a:noFill/>
          <a:ln/>
        </p:spPr>
        <p:txBody>
          <a:bodyPr wrap="square" lIns="0" tIns="0" rIns="0" bIns="0" rtlCol="0" anchor="ctr"/>
          <a:lstStyle/>
          <a:p>
            <a:pPr indent="0" marL="0">
              <a:buNone/>
            </a:pPr>
            <a:r>
              <a:rPr lang="en-US" sz="1000" b="1" dirty="0">
                <a:solidFill>
                  <a:srgbClr val="22D3EE"/>
                </a:solidFill>
              </a:rPr>
              <a:t>Method</a:t>
            </a:r>
            <a:endParaRPr lang="en-US" sz="1000" dirty="0"/>
          </a:p>
        </p:txBody>
      </p:sp>
      <p:sp>
        <p:nvSpPr>
          <p:cNvPr id="8" name="Text 6"/>
          <p:cNvSpPr/>
          <p:nvPr/>
        </p:nvSpPr>
        <p:spPr>
          <a:xfrm>
            <a:off x="5943600" y="1691640"/>
            <a:ext cx="1143000" cy="201168"/>
          </a:xfrm>
          <a:prstGeom prst="rect">
            <a:avLst/>
          </a:prstGeom>
          <a:noFill/>
          <a:ln/>
        </p:spPr>
        <p:txBody>
          <a:bodyPr wrap="square" lIns="0" tIns="0" rIns="0" bIns="0" rtlCol="0" anchor="ctr"/>
          <a:lstStyle/>
          <a:p>
            <a:pPr indent="0" marL="0">
              <a:buNone/>
            </a:pPr>
            <a:r>
              <a:rPr lang="en-US" sz="1000" b="1" dirty="0">
                <a:solidFill>
                  <a:srgbClr val="22D3EE"/>
                </a:solidFill>
              </a:rPr>
              <a:t>Best</a:t>
            </a:r>
            <a:endParaRPr lang="en-US" sz="1000" dirty="0"/>
          </a:p>
        </p:txBody>
      </p:sp>
      <p:sp>
        <p:nvSpPr>
          <p:cNvPr id="9" name="Text 7"/>
          <p:cNvSpPr/>
          <p:nvPr/>
        </p:nvSpPr>
        <p:spPr>
          <a:xfrm>
            <a:off x="7086600" y="1691640"/>
            <a:ext cx="3840480" cy="201168"/>
          </a:xfrm>
          <a:prstGeom prst="rect">
            <a:avLst/>
          </a:prstGeom>
          <a:noFill/>
          <a:ln/>
        </p:spPr>
        <p:txBody>
          <a:bodyPr wrap="square" lIns="0" tIns="0" rIns="0" bIns="0" rtlCol="0" anchor="ctr"/>
          <a:lstStyle/>
          <a:p>
            <a:pPr indent="0" marL="0">
              <a:buNone/>
            </a:pPr>
            <a:r>
              <a:rPr lang="en-US" sz="1000" b="1" dirty="0">
                <a:solidFill>
                  <a:srgbClr val="22D3EE"/>
                </a:solidFill>
              </a:rPr>
              <a:t>Readout</a:t>
            </a:r>
            <a:endParaRPr lang="en-US" sz="1000" dirty="0"/>
          </a:p>
        </p:txBody>
      </p:sp>
      <p:sp>
        <p:nvSpPr>
          <p:cNvPr id="10" name="Shape 8"/>
          <p:cNvSpPr/>
          <p:nvPr/>
        </p:nvSpPr>
        <p:spPr>
          <a:xfrm>
            <a:off x="822960" y="2029968"/>
            <a:ext cx="10378440" cy="365760"/>
          </a:xfrm>
          <a:prstGeom prst="rect">
            <a:avLst/>
          </a:prstGeom>
          <a:solidFill>
            <a:srgbClr val="162033">
              <a:alpha val="90000"/>
            </a:srgbClr>
          </a:solidFill>
          <a:ln w="12700">
            <a:solidFill>
              <a:srgbClr val="1E293B">
                <a:alpha val="50000"/>
              </a:srgbClr>
            </a:solidFill>
            <a:prstDash val="solid"/>
          </a:ln>
        </p:spPr>
      </p:sp>
      <p:sp>
        <p:nvSpPr>
          <p:cNvPr id="11" name="Text 9"/>
          <p:cNvSpPr/>
          <p:nvPr/>
        </p:nvSpPr>
        <p:spPr>
          <a:xfrm>
            <a:off x="914400" y="2103120"/>
            <a:ext cx="822960" cy="201168"/>
          </a:xfrm>
          <a:prstGeom prst="rect">
            <a:avLst/>
          </a:prstGeom>
          <a:noFill/>
          <a:ln/>
        </p:spPr>
        <p:txBody>
          <a:bodyPr wrap="square" lIns="0" tIns="0" rIns="0" bIns="0" rtlCol="0" anchor="ctr">
            <a:normAutofit/>
          </a:bodyPr>
          <a:lstStyle/>
          <a:p>
            <a:pPr indent="0" marL="0">
              <a:buNone/>
            </a:pPr>
            <a:r>
              <a:rPr lang="en-US" sz="940" b="1" dirty="0">
                <a:solidFill>
                  <a:srgbClr val="E5E7EB"/>
                </a:solidFill>
              </a:rPr>
              <a:t>Run B</a:t>
            </a:r>
            <a:endParaRPr lang="en-US" sz="940" dirty="0"/>
          </a:p>
        </p:txBody>
      </p:sp>
      <p:sp>
        <p:nvSpPr>
          <p:cNvPr id="12" name="Text 10"/>
          <p:cNvSpPr/>
          <p:nvPr/>
        </p:nvSpPr>
        <p:spPr>
          <a:xfrm>
            <a:off x="1828800" y="2103120"/>
            <a:ext cx="4023360" cy="201168"/>
          </a:xfrm>
          <a:prstGeom prst="rect">
            <a:avLst/>
          </a:prstGeom>
          <a:noFill/>
          <a:ln/>
        </p:spPr>
        <p:txBody>
          <a:bodyPr wrap="square" lIns="0" tIns="0" rIns="0" bIns="0" rtlCol="0" anchor="ctr">
            <a:normAutofit/>
          </a:bodyPr>
          <a:lstStyle/>
          <a:p>
            <a:pPr indent="0" marL="0">
              <a:buNone/>
            </a:pPr>
            <a:r>
              <a:rPr lang="en-US" sz="940" dirty="0">
                <a:solidFill>
                  <a:srgbClr val="E5E7EB"/>
                </a:solidFill>
              </a:rPr>
              <a:t>r=16 LoRA, assistant-only</a:t>
            </a:r>
            <a:endParaRPr lang="en-US" sz="940" dirty="0"/>
          </a:p>
        </p:txBody>
      </p:sp>
      <p:sp>
        <p:nvSpPr>
          <p:cNvPr id="13" name="Text 11"/>
          <p:cNvSpPr/>
          <p:nvPr/>
        </p:nvSpPr>
        <p:spPr>
          <a:xfrm>
            <a:off x="5943600" y="2103120"/>
            <a:ext cx="1051560" cy="201168"/>
          </a:xfrm>
          <a:prstGeom prst="rect">
            <a:avLst/>
          </a:prstGeom>
          <a:noFill/>
          <a:ln/>
        </p:spPr>
        <p:txBody>
          <a:bodyPr wrap="square" lIns="0" tIns="0" rIns="0" bIns="0" rtlCol="0" anchor="ctr">
            <a:normAutofit/>
          </a:bodyPr>
          <a:lstStyle/>
          <a:p>
            <a:pPr indent="0" marL="0">
              <a:buNone/>
            </a:pPr>
            <a:r>
              <a:rPr lang="en-US" sz="940" b="1" dirty="0">
                <a:solidFill>
                  <a:srgbClr val="FBBF24"/>
                </a:solidFill>
              </a:rPr>
              <a:t>0.193</a:t>
            </a:r>
            <a:endParaRPr lang="en-US" sz="940" dirty="0"/>
          </a:p>
        </p:txBody>
      </p:sp>
      <p:sp>
        <p:nvSpPr>
          <p:cNvPr id="14" name="Text 12"/>
          <p:cNvSpPr/>
          <p:nvPr/>
        </p:nvSpPr>
        <p:spPr>
          <a:xfrm>
            <a:off x="7086600" y="2103120"/>
            <a:ext cx="3749040" cy="201168"/>
          </a:xfrm>
          <a:prstGeom prst="rect">
            <a:avLst/>
          </a:prstGeom>
          <a:noFill/>
          <a:ln/>
        </p:spPr>
        <p:txBody>
          <a:bodyPr wrap="square" lIns="0" tIns="0" rIns="0" bIns="0" rtlCol="0" anchor="ctr">
            <a:normAutofit/>
          </a:bodyPr>
          <a:lstStyle/>
          <a:p>
            <a:pPr indent="0" marL="0">
              <a:buNone/>
            </a:pPr>
            <a:r>
              <a:rPr lang="en-US" sz="940" dirty="0">
                <a:solidFill>
                  <a:srgbClr val="E5E7EB"/>
                </a:solidFill>
              </a:rPr>
              <a:t>below baseline</a:t>
            </a:r>
            <a:endParaRPr lang="en-US" sz="940" dirty="0"/>
          </a:p>
        </p:txBody>
      </p:sp>
      <p:sp>
        <p:nvSpPr>
          <p:cNvPr id="15" name="Shape 13"/>
          <p:cNvSpPr/>
          <p:nvPr/>
        </p:nvSpPr>
        <p:spPr>
          <a:xfrm>
            <a:off x="822960" y="2514600"/>
            <a:ext cx="10378440" cy="365760"/>
          </a:xfrm>
          <a:prstGeom prst="rect">
            <a:avLst/>
          </a:prstGeom>
          <a:solidFill>
            <a:srgbClr val="111827">
              <a:alpha val="90000"/>
            </a:srgbClr>
          </a:solidFill>
          <a:ln w="12700">
            <a:solidFill>
              <a:srgbClr val="1E293B">
                <a:alpha val="50000"/>
              </a:srgbClr>
            </a:solidFill>
            <a:prstDash val="solid"/>
          </a:ln>
        </p:spPr>
      </p:sp>
      <p:sp>
        <p:nvSpPr>
          <p:cNvPr id="16" name="Text 14"/>
          <p:cNvSpPr/>
          <p:nvPr/>
        </p:nvSpPr>
        <p:spPr>
          <a:xfrm>
            <a:off x="914400" y="2587752"/>
            <a:ext cx="822960" cy="201168"/>
          </a:xfrm>
          <a:prstGeom prst="rect">
            <a:avLst/>
          </a:prstGeom>
          <a:noFill/>
          <a:ln/>
        </p:spPr>
        <p:txBody>
          <a:bodyPr wrap="square" lIns="0" tIns="0" rIns="0" bIns="0" rtlCol="0" anchor="ctr">
            <a:normAutofit/>
          </a:bodyPr>
          <a:lstStyle/>
          <a:p>
            <a:pPr indent="0" marL="0">
              <a:buNone/>
            </a:pPr>
            <a:r>
              <a:rPr lang="en-US" sz="940" b="1" dirty="0">
                <a:solidFill>
                  <a:srgbClr val="E5E7EB"/>
                </a:solidFill>
              </a:rPr>
              <a:t>Run C</a:t>
            </a:r>
            <a:endParaRPr lang="en-US" sz="940" dirty="0"/>
          </a:p>
        </p:txBody>
      </p:sp>
      <p:sp>
        <p:nvSpPr>
          <p:cNvPr id="17" name="Text 15"/>
          <p:cNvSpPr/>
          <p:nvPr/>
        </p:nvSpPr>
        <p:spPr>
          <a:xfrm>
            <a:off x="1828800" y="2587752"/>
            <a:ext cx="4023360" cy="201168"/>
          </a:xfrm>
          <a:prstGeom prst="rect">
            <a:avLst/>
          </a:prstGeom>
          <a:noFill/>
          <a:ln/>
        </p:spPr>
        <p:txBody>
          <a:bodyPr wrap="square" lIns="0" tIns="0" rIns="0" bIns="0" rtlCol="0" anchor="ctr">
            <a:normAutofit/>
          </a:bodyPr>
          <a:lstStyle/>
          <a:p>
            <a:pPr indent="0" marL="0">
              <a:buNone/>
            </a:pPr>
            <a:r>
              <a:rPr lang="en-US" sz="940" dirty="0">
                <a:solidFill>
                  <a:srgbClr val="E5E7EB"/>
                </a:solidFill>
              </a:rPr>
              <a:t>r=64 / α=128, all-linear, full-seq</a:t>
            </a:r>
            <a:endParaRPr lang="en-US" sz="940" dirty="0"/>
          </a:p>
        </p:txBody>
      </p:sp>
      <p:sp>
        <p:nvSpPr>
          <p:cNvPr id="18" name="Text 16"/>
          <p:cNvSpPr/>
          <p:nvPr/>
        </p:nvSpPr>
        <p:spPr>
          <a:xfrm>
            <a:off x="5943600" y="2587752"/>
            <a:ext cx="1051560" cy="201168"/>
          </a:xfrm>
          <a:prstGeom prst="rect">
            <a:avLst/>
          </a:prstGeom>
          <a:noFill/>
          <a:ln/>
        </p:spPr>
        <p:txBody>
          <a:bodyPr wrap="square" lIns="0" tIns="0" rIns="0" bIns="0" rtlCol="0" anchor="ctr">
            <a:normAutofit/>
          </a:bodyPr>
          <a:lstStyle/>
          <a:p>
            <a:pPr indent="0" marL="0">
              <a:buNone/>
            </a:pPr>
            <a:r>
              <a:rPr lang="en-US" sz="940" b="1" dirty="0">
                <a:solidFill>
                  <a:srgbClr val="FBBF24"/>
                </a:solidFill>
              </a:rPr>
              <a:t>0.186</a:t>
            </a:r>
            <a:endParaRPr lang="en-US" sz="940" dirty="0"/>
          </a:p>
        </p:txBody>
      </p:sp>
      <p:sp>
        <p:nvSpPr>
          <p:cNvPr id="19" name="Text 17"/>
          <p:cNvSpPr/>
          <p:nvPr/>
        </p:nvSpPr>
        <p:spPr>
          <a:xfrm>
            <a:off x="7086600" y="2587752"/>
            <a:ext cx="3749040" cy="201168"/>
          </a:xfrm>
          <a:prstGeom prst="rect">
            <a:avLst/>
          </a:prstGeom>
          <a:noFill/>
          <a:ln/>
        </p:spPr>
        <p:txBody>
          <a:bodyPr wrap="square" lIns="0" tIns="0" rIns="0" bIns="0" rtlCol="0" anchor="ctr">
            <a:normAutofit/>
          </a:bodyPr>
          <a:lstStyle/>
          <a:p>
            <a:pPr indent="0" marL="0">
              <a:buNone/>
            </a:pPr>
            <a:r>
              <a:rPr lang="en-US" sz="940" dirty="0">
                <a:solidFill>
                  <a:srgbClr val="E5E7EB"/>
                </a:solidFill>
              </a:rPr>
              <a:t>larger LoRA worsened</a:t>
            </a:r>
            <a:endParaRPr lang="en-US" sz="940" dirty="0"/>
          </a:p>
        </p:txBody>
      </p:sp>
      <p:sp>
        <p:nvSpPr>
          <p:cNvPr id="20" name="Shape 18"/>
          <p:cNvSpPr/>
          <p:nvPr/>
        </p:nvSpPr>
        <p:spPr>
          <a:xfrm>
            <a:off x="822960" y="2999232"/>
            <a:ext cx="10378440" cy="365760"/>
          </a:xfrm>
          <a:prstGeom prst="rect">
            <a:avLst/>
          </a:prstGeom>
          <a:solidFill>
            <a:srgbClr val="162033">
              <a:alpha val="90000"/>
            </a:srgbClr>
          </a:solidFill>
          <a:ln w="12700">
            <a:solidFill>
              <a:srgbClr val="1E293B">
                <a:alpha val="50000"/>
              </a:srgbClr>
            </a:solidFill>
            <a:prstDash val="solid"/>
          </a:ln>
        </p:spPr>
      </p:sp>
      <p:sp>
        <p:nvSpPr>
          <p:cNvPr id="21" name="Text 19"/>
          <p:cNvSpPr/>
          <p:nvPr/>
        </p:nvSpPr>
        <p:spPr>
          <a:xfrm>
            <a:off x="914400" y="3072384"/>
            <a:ext cx="822960" cy="201168"/>
          </a:xfrm>
          <a:prstGeom prst="rect">
            <a:avLst/>
          </a:prstGeom>
          <a:noFill/>
          <a:ln/>
        </p:spPr>
        <p:txBody>
          <a:bodyPr wrap="square" lIns="0" tIns="0" rIns="0" bIns="0" rtlCol="0" anchor="ctr">
            <a:normAutofit/>
          </a:bodyPr>
          <a:lstStyle/>
          <a:p>
            <a:pPr indent="0" marL="0">
              <a:buNone/>
            </a:pPr>
            <a:r>
              <a:rPr lang="en-US" sz="940" b="1" dirty="0">
                <a:solidFill>
                  <a:srgbClr val="E5E7EB"/>
                </a:solidFill>
              </a:rPr>
              <a:t>Run D2</a:t>
            </a:r>
            <a:endParaRPr lang="en-US" sz="940" dirty="0"/>
          </a:p>
        </p:txBody>
      </p:sp>
      <p:sp>
        <p:nvSpPr>
          <p:cNvPr id="22" name="Text 20"/>
          <p:cNvSpPr/>
          <p:nvPr/>
        </p:nvSpPr>
        <p:spPr>
          <a:xfrm>
            <a:off x="1828800" y="3072384"/>
            <a:ext cx="4023360" cy="201168"/>
          </a:xfrm>
          <a:prstGeom prst="rect">
            <a:avLst/>
          </a:prstGeom>
          <a:noFill/>
          <a:ln/>
        </p:spPr>
        <p:txBody>
          <a:bodyPr wrap="square" lIns="0" tIns="0" rIns="0" bIns="0" rtlCol="0" anchor="ctr">
            <a:normAutofit/>
          </a:bodyPr>
          <a:lstStyle/>
          <a:p>
            <a:pPr indent="0" marL="0">
              <a:buNone/>
            </a:pPr>
            <a:r>
              <a:rPr lang="en-US" sz="940" dirty="0">
                <a:solidFill>
                  <a:srgbClr val="E5E7EB"/>
                </a:solidFill>
              </a:rPr>
              <a:t>smaller lr, early-stop sweep</a:t>
            </a:r>
            <a:endParaRPr lang="en-US" sz="940" dirty="0"/>
          </a:p>
        </p:txBody>
      </p:sp>
      <p:sp>
        <p:nvSpPr>
          <p:cNvPr id="23" name="Text 21"/>
          <p:cNvSpPr/>
          <p:nvPr/>
        </p:nvSpPr>
        <p:spPr>
          <a:xfrm>
            <a:off x="5943600" y="3072384"/>
            <a:ext cx="1051560" cy="201168"/>
          </a:xfrm>
          <a:prstGeom prst="rect">
            <a:avLst/>
          </a:prstGeom>
          <a:noFill/>
          <a:ln/>
        </p:spPr>
        <p:txBody>
          <a:bodyPr wrap="square" lIns="0" tIns="0" rIns="0" bIns="0" rtlCol="0" anchor="ctr">
            <a:normAutofit/>
          </a:bodyPr>
          <a:lstStyle/>
          <a:p>
            <a:pPr indent="0" marL="0">
              <a:buNone/>
            </a:pPr>
            <a:r>
              <a:rPr lang="en-US" sz="940" b="1" dirty="0">
                <a:solidFill>
                  <a:srgbClr val="FBBF24"/>
                </a:solidFill>
              </a:rPr>
              <a:t>0.220</a:t>
            </a:r>
            <a:endParaRPr lang="en-US" sz="940" dirty="0"/>
          </a:p>
        </p:txBody>
      </p:sp>
      <p:sp>
        <p:nvSpPr>
          <p:cNvPr id="24" name="Text 22"/>
          <p:cNvSpPr/>
          <p:nvPr/>
        </p:nvSpPr>
        <p:spPr>
          <a:xfrm>
            <a:off x="7086600" y="3072384"/>
            <a:ext cx="3749040" cy="201168"/>
          </a:xfrm>
          <a:prstGeom prst="rect">
            <a:avLst/>
          </a:prstGeom>
          <a:noFill/>
          <a:ln/>
        </p:spPr>
        <p:txBody>
          <a:bodyPr wrap="square" lIns="0" tIns="0" rIns="0" bIns="0" rtlCol="0" anchor="ctr">
            <a:normAutofit/>
          </a:bodyPr>
          <a:lstStyle/>
          <a:p>
            <a:pPr indent="0" marL="0">
              <a:buNone/>
            </a:pPr>
            <a:r>
              <a:rPr lang="en-US" sz="940" dirty="0">
                <a:solidFill>
                  <a:srgbClr val="E5E7EB"/>
                </a:solidFill>
              </a:rPr>
              <a:t>early peak; never crossed baseline</a:t>
            </a:r>
            <a:endParaRPr lang="en-US" sz="940" dirty="0"/>
          </a:p>
        </p:txBody>
      </p:sp>
      <p:sp>
        <p:nvSpPr>
          <p:cNvPr id="25" name="Shape 23"/>
          <p:cNvSpPr/>
          <p:nvPr/>
        </p:nvSpPr>
        <p:spPr>
          <a:xfrm>
            <a:off x="822960" y="3483864"/>
            <a:ext cx="10378440" cy="365760"/>
          </a:xfrm>
          <a:prstGeom prst="rect">
            <a:avLst/>
          </a:prstGeom>
          <a:solidFill>
            <a:srgbClr val="111827">
              <a:alpha val="90000"/>
            </a:srgbClr>
          </a:solidFill>
          <a:ln w="12700">
            <a:solidFill>
              <a:srgbClr val="1E293B">
                <a:alpha val="50000"/>
              </a:srgbClr>
            </a:solidFill>
            <a:prstDash val="solid"/>
          </a:ln>
        </p:spPr>
      </p:sp>
      <p:sp>
        <p:nvSpPr>
          <p:cNvPr id="26" name="Text 24"/>
          <p:cNvSpPr/>
          <p:nvPr/>
        </p:nvSpPr>
        <p:spPr>
          <a:xfrm>
            <a:off x="914400" y="3557016"/>
            <a:ext cx="822960" cy="201168"/>
          </a:xfrm>
          <a:prstGeom prst="rect">
            <a:avLst/>
          </a:prstGeom>
          <a:noFill/>
          <a:ln/>
        </p:spPr>
        <p:txBody>
          <a:bodyPr wrap="square" lIns="0" tIns="0" rIns="0" bIns="0" rtlCol="0" anchor="ctr">
            <a:normAutofit/>
          </a:bodyPr>
          <a:lstStyle/>
          <a:p>
            <a:pPr indent="0" marL="0">
              <a:buNone/>
            </a:pPr>
            <a:r>
              <a:rPr lang="en-US" sz="940" b="1" dirty="0">
                <a:solidFill>
                  <a:srgbClr val="E5E7EB"/>
                </a:solidFill>
              </a:rPr>
              <a:t>Run E</a:t>
            </a:r>
            <a:endParaRPr lang="en-US" sz="940" dirty="0"/>
          </a:p>
        </p:txBody>
      </p:sp>
      <p:sp>
        <p:nvSpPr>
          <p:cNvPr id="27" name="Text 25"/>
          <p:cNvSpPr/>
          <p:nvPr/>
        </p:nvSpPr>
        <p:spPr>
          <a:xfrm>
            <a:off x="1828800" y="3557016"/>
            <a:ext cx="4023360" cy="201168"/>
          </a:xfrm>
          <a:prstGeom prst="rect">
            <a:avLst/>
          </a:prstGeom>
          <a:noFill/>
          <a:ln/>
        </p:spPr>
        <p:txBody>
          <a:bodyPr wrap="square" lIns="0" tIns="0" rIns="0" bIns="0" rtlCol="0" anchor="ctr">
            <a:normAutofit/>
          </a:bodyPr>
          <a:lstStyle/>
          <a:p>
            <a:pPr indent="0" marL="0">
              <a:buNone/>
            </a:pPr>
            <a:r>
              <a:rPr lang="en-US" sz="940" dirty="0">
                <a:solidFill>
                  <a:srgbClr val="E5E7EB"/>
                </a:solidFill>
              </a:rPr>
              <a:t>coord-aware Huber auxiliary loss</a:t>
            </a:r>
            <a:endParaRPr lang="en-US" sz="940" dirty="0"/>
          </a:p>
        </p:txBody>
      </p:sp>
      <p:sp>
        <p:nvSpPr>
          <p:cNvPr id="28" name="Text 26"/>
          <p:cNvSpPr/>
          <p:nvPr/>
        </p:nvSpPr>
        <p:spPr>
          <a:xfrm>
            <a:off x="5943600" y="3557016"/>
            <a:ext cx="1051560" cy="201168"/>
          </a:xfrm>
          <a:prstGeom prst="rect">
            <a:avLst/>
          </a:prstGeom>
          <a:noFill/>
          <a:ln/>
        </p:spPr>
        <p:txBody>
          <a:bodyPr wrap="square" lIns="0" tIns="0" rIns="0" bIns="0" rtlCol="0" anchor="ctr">
            <a:normAutofit/>
          </a:bodyPr>
          <a:lstStyle/>
          <a:p>
            <a:pPr indent="0" marL="0">
              <a:buNone/>
            </a:pPr>
            <a:r>
              <a:rPr lang="en-US" sz="940" b="1" dirty="0">
                <a:solidFill>
                  <a:srgbClr val="FBBF24"/>
                </a:solidFill>
              </a:rPr>
              <a:t>0.210–0.226</a:t>
            </a:r>
            <a:endParaRPr lang="en-US" sz="940" dirty="0"/>
          </a:p>
        </p:txBody>
      </p:sp>
      <p:sp>
        <p:nvSpPr>
          <p:cNvPr id="29" name="Text 27"/>
          <p:cNvSpPr/>
          <p:nvPr/>
        </p:nvSpPr>
        <p:spPr>
          <a:xfrm>
            <a:off x="7086600" y="3557016"/>
            <a:ext cx="3749040" cy="201168"/>
          </a:xfrm>
          <a:prstGeom prst="rect">
            <a:avLst/>
          </a:prstGeom>
          <a:noFill/>
          <a:ln/>
        </p:spPr>
        <p:txBody>
          <a:bodyPr wrap="square" lIns="0" tIns="0" rIns="0" bIns="0" rtlCol="0" anchor="ctr">
            <a:normAutofit/>
          </a:bodyPr>
          <a:lstStyle/>
          <a:p>
            <a:pPr indent="0" marL="0">
              <a:buNone/>
            </a:pPr>
            <a:r>
              <a:rPr lang="en-US" sz="940" dirty="0">
                <a:solidFill>
                  <a:srgbClr val="E5E7EB"/>
                </a:solidFill>
              </a:rPr>
              <a:t>fixed mode collapse, not accuracy</a:t>
            </a:r>
            <a:endParaRPr lang="en-US" sz="940" dirty="0"/>
          </a:p>
        </p:txBody>
      </p:sp>
      <p:sp>
        <p:nvSpPr>
          <p:cNvPr id="30" name="Shape 28"/>
          <p:cNvSpPr/>
          <p:nvPr/>
        </p:nvSpPr>
        <p:spPr>
          <a:xfrm>
            <a:off x="822960" y="3968496"/>
            <a:ext cx="10378440" cy="365760"/>
          </a:xfrm>
          <a:prstGeom prst="rect">
            <a:avLst/>
          </a:prstGeom>
          <a:solidFill>
            <a:srgbClr val="162033">
              <a:alpha val="90000"/>
            </a:srgbClr>
          </a:solidFill>
          <a:ln w="12700">
            <a:solidFill>
              <a:srgbClr val="1E293B">
                <a:alpha val="50000"/>
              </a:srgbClr>
            </a:solidFill>
            <a:prstDash val="solid"/>
          </a:ln>
        </p:spPr>
      </p:sp>
      <p:sp>
        <p:nvSpPr>
          <p:cNvPr id="31" name="Text 29"/>
          <p:cNvSpPr/>
          <p:nvPr/>
        </p:nvSpPr>
        <p:spPr>
          <a:xfrm>
            <a:off x="914400" y="4041648"/>
            <a:ext cx="822960" cy="201168"/>
          </a:xfrm>
          <a:prstGeom prst="rect">
            <a:avLst/>
          </a:prstGeom>
          <a:noFill/>
          <a:ln/>
        </p:spPr>
        <p:txBody>
          <a:bodyPr wrap="square" lIns="0" tIns="0" rIns="0" bIns="0" rtlCol="0" anchor="ctr">
            <a:normAutofit/>
          </a:bodyPr>
          <a:lstStyle/>
          <a:p>
            <a:pPr indent="0" marL="0">
              <a:buNone/>
            </a:pPr>
            <a:r>
              <a:rPr lang="en-US" sz="940" b="1" dirty="0">
                <a:solidFill>
                  <a:srgbClr val="E5E7EB"/>
                </a:solidFill>
              </a:rPr>
              <a:t>Run G</a:t>
            </a:r>
            <a:endParaRPr lang="en-US" sz="940" dirty="0"/>
          </a:p>
        </p:txBody>
      </p:sp>
      <p:sp>
        <p:nvSpPr>
          <p:cNvPr id="32" name="Text 30"/>
          <p:cNvSpPr/>
          <p:nvPr/>
        </p:nvSpPr>
        <p:spPr>
          <a:xfrm>
            <a:off x="1828800" y="4041648"/>
            <a:ext cx="4023360" cy="201168"/>
          </a:xfrm>
          <a:prstGeom prst="rect">
            <a:avLst/>
          </a:prstGeom>
          <a:noFill/>
          <a:ln/>
        </p:spPr>
        <p:txBody>
          <a:bodyPr wrap="square" lIns="0" tIns="0" rIns="0" bIns="0" rtlCol="0" anchor="ctr">
            <a:normAutofit/>
          </a:bodyPr>
          <a:lstStyle/>
          <a:p>
            <a:pPr indent="0" marL="0">
              <a:buNone/>
            </a:pPr>
            <a:r>
              <a:rPr lang="en-US" sz="940" dirty="0">
                <a:solidFill>
                  <a:srgbClr val="E5E7EB"/>
                </a:solidFill>
              </a:rPr>
              <a:t>discrete &lt;loc&gt; tokens + action weights</a:t>
            </a:r>
            <a:endParaRPr lang="en-US" sz="940" dirty="0"/>
          </a:p>
        </p:txBody>
      </p:sp>
      <p:sp>
        <p:nvSpPr>
          <p:cNvPr id="33" name="Text 31"/>
          <p:cNvSpPr/>
          <p:nvPr/>
        </p:nvSpPr>
        <p:spPr>
          <a:xfrm>
            <a:off x="5943600" y="4041648"/>
            <a:ext cx="1051560" cy="201168"/>
          </a:xfrm>
          <a:prstGeom prst="rect">
            <a:avLst/>
          </a:prstGeom>
          <a:noFill/>
          <a:ln/>
        </p:spPr>
        <p:txBody>
          <a:bodyPr wrap="square" lIns="0" tIns="0" rIns="0" bIns="0" rtlCol="0" anchor="ctr">
            <a:normAutofit/>
          </a:bodyPr>
          <a:lstStyle/>
          <a:p>
            <a:pPr indent="0" marL="0">
              <a:buNone/>
            </a:pPr>
            <a:r>
              <a:rPr lang="en-US" sz="940" b="1" dirty="0">
                <a:solidFill>
                  <a:srgbClr val="FBBF24"/>
                </a:solidFill>
              </a:rPr>
              <a:t>0.170</a:t>
            </a:r>
            <a:endParaRPr lang="en-US" sz="940" dirty="0"/>
          </a:p>
        </p:txBody>
      </p:sp>
      <p:sp>
        <p:nvSpPr>
          <p:cNvPr id="34" name="Text 32"/>
          <p:cNvSpPr/>
          <p:nvPr/>
        </p:nvSpPr>
        <p:spPr>
          <a:xfrm>
            <a:off x="7086600" y="4041648"/>
            <a:ext cx="3749040" cy="201168"/>
          </a:xfrm>
          <a:prstGeom prst="rect">
            <a:avLst/>
          </a:prstGeom>
          <a:noFill/>
          <a:ln/>
        </p:spPr>
        <p:txBody>
          <a:bodyPr wrap="square" lIns="0" tIns="0" rIns="0" bIns="0" rtlCol="0" anchor="ctr">
            <a:normAutofit/>
          </a:bodyPr>
          <a:lstStyle/>
          <a:p>
            <a:pPr indent="0" marL="0">
              <a:buNone/>
            </a:pPr>
            <a:r>
              <a:rPr lang="en-US" sz="940" dirty="0">
                <a:solidFill>
                  <a:srgbClr val="E5E7EB"/>
                </a:solidFill>
              </a:rPr>
              <a:t>new token embeddings did not converge</a:t>
            </a:r>
            <a:endParaRPr lang="en-US" sz="940" dirty="0"/>
          </a:p>
        </p:txBody>
      </p:sp>
      <p:sp>
        <p:nvSpPr>
          <p:cNvPr id="35" name="Shape 33"/>
          <p:cNvSpPr/>
          <p:nvPr/>
        </p:nvSpPr>
        <p:spPr>
          <a:xfrm>
            <a:off x="822960" y="4453128"/>
            <a:ext cx="10378440" cy="365760"/>
          </a:xfrm>
          <a:prstGeom prst="rect">
            <a:avLst/>
          </a:prstGeom>
          <a:solidFill>
            <a:srgbClr val="111827">
              <a:alpha val="90000"/>
            </a:srgbClr>
          </a:solidFill>
          <a:ln w="12700">
            <a:solidFill>
              <a:srgbClr val="1E293B">
                <a:alpha val="50000"/>
              </a:srgbClr>
            </a:solidFill>
            <a:prstDash val="solid"/>
          </a:ln>
        </p:spPr>
      </p:sp>
      <p:sp>
        <p:nvSpPr>
          <p:cNvPr id="36" name="Text 34"/>
          <p:cNvSpPr/>
          <p:nvPr/>
        </p:nvSpPr>
        <p:spPr>
          <a:xfrm>
            <a:off x="914400" y="4526280"/>
            <a:ext cx="822960" cy="201168"/>
          </a:xfrm>
          <a:prstGeom prst="rect">
            <a:avLst/>
          </a:prstGeom>
          <a:noFill/>
          <a:ln/>
        </p:spPr>
        <p:txBody>
          <a:bodyPr wrap="square" lIns="0" tIns="0" rIns="0" bIns="0" rtlCol="0" anchor="ctr">
            <a:normAutofit/>
          </a:bodyPr>
          <a:lstStyle/>
          <a:p>
            <a:pPr indent="0" marL="0">
              <a:buNone/>
            </a:pPr>
            <a:r>
              <a:rPr lang="en-US" sz="940" b="1" dirty="0">
                <a:solidFill>
                  <a:srgbClr val="E5E7EB"/>
                </a:solidFill>
              </a:rPr>
              <a:t>Run H</a:t>
            </a:r>
            <a:endParaRPr lang="en-US" sz="940" dirty="0"/>
          </a:p>
        </p:txBody>
      </p:sp>
      <p:sp>
        <p:nvSpPr>
          <p:cNvPr id="37" name="Text 35"/>
          <p:cNvSpPr/>
          <p:nvPr/>
        </p:nvSpPr>
        <p:spPr>
          <a:xfrm>
            <a:off x="1828800" y="4526280"/>
            <a:ext cx="4023360" cy="201168"/>
          </a:xfrm>
          <a:prstGeom prst="rect">
            <a:avLst/>
          </a:prstGeom>
          <a:noFill/>
          <a:ln/>
        </p:spPr>
        <p:txBody>
          <a:bodyPr wrap="square" lIns="0" tIns="0" rIns="0" bIns="0" rtlCol="0" anchor="ctr">
            <a:normAutofit/>
          </a:bodyPr>
          <a:lstStyle/>
          <a:p>
            <a:pPr indent="0" marL="0">
              <a:buNone/>
            </a:pPr>
            <a:r>
              <a:rPr lang="en-US" sz="940" dirty="0">
                <a:solidFill>
                  <a:srgbClr val="E5E7EB"/>
                </a:solidFill>
              </a:rPr>
              <a:t>projector unlocked</a:t>
            </a:r>
            <a:endParaRPr lang="en-US" sz="940" dirty="0"/>
          </a:p>
        </p:txBody>
      </p:sp>
      <p:sp>
        <p:nvSpPr>
          <p:cNvPr id="38" name="Text 36"/>
          <p:cNvSpPr/>
          <p:nvPr/>
        </p:nvSpPr>
        <p:spPr>
          <a:xfrm>
            <a:off x="5943600" y="4526280"/>
            <a:ext cx="1051560" cy="201168"/>
          </a:xfrm>
          <a:prstGeom prst="rect">
            <a:avLst/>
          </a:prstGeom>
          <a:noFill/>
          <a:ln/>
        </p:spPr>
        <p:txBody>
          <a:bodyPr wrap="square" lIns="0" tIns="0" rIns="0" bIns="0" rtlCol="0" anchor="ctr">
            <a:normAutofit/>
          </a:bodyPr>
          <a:lstStyle/>
          <a:p>
            <a:pPr indent="0" marL="0">
              <a:buNone/>
            </a:pPr>
            <a:r>
              <a:rPr lang="en-US" sz="940" b="1" dirty="0">
                <a:solidFill>
                  <a:srgbClr val="FBBF24"/>
                </a:solidFill>
              </a:rPr>
              <a:t>0.275</a:t>
            </a:r>
            <a:endParaRPr lang="en-US" sz="940" dirty="0"/>
          </a:p>
        </p:txBody>
      </p:sp>
      <p:sp>
        <p:nvSpPr>
          <p:cNvPr id="39" name="Text 37"/>
          <p:cNvSpPr/>
          <p:nvPr/>
        </p:nvSpPr>
        <p:spPr>
          <a:xfrm>
            <a:off x="7086600" y="4526280"/>
            <a:ext cx="3749040" cy="201168"/>
          </a:xfrm>
          <a:prstGeom prst="rect">
            <a:avLst/>
          </a:prstGeom>
          <a:noFill/>
          <a:ln/>
        </p:spPr>
        <p:txBody>
          <a:bodyPr wrap="square" lIns="0" tIns="0" rIns="0" bIns="0" rtlCol="0" anchor="ctr">
            <a:normAutofit/>
          </a:bodyPr>
          <a:lstStyle/>
          <a:p>
            <a:pPr indent="0" marL="0">
              <a:buNone/>
            </a:pPr>
            <a:r>
              <a:rPr lang="en-US" sz="940" dirty="0">
                <a:solidFill>
                  <a:srgbClr val="E5E7EB"/>
                </a:solidFill>
              </a:rPr>
              <a:t>real lift, still below 0.288 coord baseline</a:t>
            </a:r>
            <a:endParaRPr lang="en-US" sz="940" dirty="0"/>
          </a:p>
        </p:txBody>
      </p:sp>
      <p:sp>
        <p:nvSpPr>
          <p:cNvPr id="40" name="Shape 38"/>
          <p:cNvSpPr/>
          <p:nvPr/>
        </p:nvSpPr>
        <p:spPr>
          <a:xfrm>
            <a:off x="8183880" y="5715000"/>
            <a:ext cx="2834640" cy="274320"/>
          </a:xfrm>
          <a:prstGeom prst="roundRect">
            <a:avLst>
              <a:gd name="adj" fmla="val 20000"/>
            </a:avLst>
          </a:prstGeom>
          <a:solidFill>
            <a:srgbClr val="FB7185">
              <a:alpha val="92000"/>
            </a:srgbClr>
          </a:solidFill>
          <a:ln w="12700">
            <a:solidFill>
              <a:srgbClr val="FB7185">
                <a:alpha val="90000"/>
              </a:srgbClr>
            </a:solidFill>
            <a:prstDash val="solid"/>
          </a:ln>
        </p:spPr>
      </p:sp>
      <p:sp>
        <p:nvSpPr>
          <p:cNvPr id="41" name="Text 39"/>
          <p:cNvSpPr/>
          <p:nvPr/>
        </p:nvSpPr>
        <p:spPr>
          <a:xfrm>
            <a:off x="8183880" y="5783580"/>
            <a:ext cx="2834640" cy="100584"/>
          </a:xfrm>
          <a:prstGeom prst="rect">
            <a:avLst/>
          </a:prstGeom>
          <a:noFill/>
          <a:ln/>
        </p:spPr>
        <p:txBody>
          <a:bodyPr wrap="square" lIns="0" tIns="0" rIns="0" bIns="0" rtlCol="0" anchor="ctr"/>
          <a:lstStyle/>
          <a:p>
            <a:pPr algn="ctr" indent="0" marL="0">
              <a:buNone/>
            </a:pPr>
            <a:r>
              <a:rPr lang="en-US" sz="750" b="1" dirty="0">
                <a:solidFill>
                  <a:srgbClr val="0B1020"/>
                </a:solidFill>
              </a:rPr>
              <a:t>baseline: 0.288 full-match / tap-radius</a:t>
            </a:r>
            <a:endParaRPr lang="en-US" sz="75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DIAGNOSIS</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Failure diagnosis: the model learned formats, not grounding</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640080" y="1371600"/>
            <a:ext cx="3657600" cy="4572000"/>
          </a:xfrm>
          <a:prstGeom prst="roundRect">
            <a:avLst>
              <a:gd name="adj" fmla="val 2000"/>
            </a:avLst>
          </a:prstGeom>
          <a:solidFill>
            <a:srgbClr val="111827"/>
          </a:solidFill>
          <a:ln w="12700">
            <a:solidFill>
              <a:srgbClr val="334155">
                <a:alpha val="85000"/>
              </a:srgbClr>
            </a:solidFill>
            <a:prstDash val="solid"/>
          </a:ln>
        </p:spPr>
      </p:sp>
      <p:sp>
        <p:nvSpPr>
          <p:cNvPr id="6" name="Text 4"/>
          <p:cNvSpPr/>
          <p:nvPr/>
        </p:nvSpPr>
        <p:spPr>
          <a:xfrm>
            <a:off x="868680" y="1627632"/>
            <a:ext cx="2926080" cy="228600"/>
          </a:xfrm>
          <a:prstGeom prst="rect">
            <a:avLst/>
          </a:prstGeom>
          <a:noFill/>
          <a:ln/>
        </p:spPr>
        <p:txBody>
          <a:bodyPr wrap="square" lIns="0" tIns="0" rIns="0" bIns="0" rtlCol="0" anchor="ctr"/>
          <a:lstStyle/>
          <a:p>
            <a:pPr indent="0" marL="0">
              <a:buNone/>
            </a:pPr>
            <a:r>
              <a:rPr lang="en-US" sz="1350" b="1" dirty="0">
                <a:solidFill>
                  <a:srgbClr val="E5E7EB"/>
                </a:solidFill>
              </a:rPr>
              <a:t>Observed failure mode</a:t>
            </a:r>
            <a:endParaRPr lang="en-US" sz="1350" dirty="0"/>
          </a:p>
        </p:txBody>
      </p:sp>
      <p:sp>
        <p:nvSpPr>
          <p:cNvPr id="7" name="Text 5"/>
          <p:cNvSpPr/>
          <p:nvPr/>
        </p:nvSpPr>
        <p:spPr>
          <a:xfrm>
            <a:off x="868680" y="2029968"/>
            <a:ext cx="3200400" cy="2377440"/>
          </a:xfrm>
          <a:prstGeom prst="rect">
            <a:avLst/>
          </a:prstGeom>
          <a:noFill/>
          <a:ln/>
        </p:spPr>
        <p:txBody>
          <a:bodyPr wrap="square" lIns="1016" tIns="1016" rIns="1016" bIns="1016" rtlCol="0" anchor="ctr">
            <a:normAutofit/>
          </a:bodyPr>
          <a:lstStyle/>
          <a:p>
            <a:pPr marL="127000" indent="-127000">
              <a:buSzPct val="100000"/>
              <a:buChar char="•"/>
            </a:pPr>
            <a:r>
              <a:rPr lang="en-US" sz="1100" dirty="0">
                <a:solidFill>
                  <a:srgbClr val="E5E7EB"/>
                </a:solidFill>
              </a:rPr>
              <a:t>High parse rates: JSON format learned</a:t>
            </a:r>
            <a:endParaRPr lang="en-US" sz="1100" dirty="0"/>
          </a:p>
          <a:p>
            <a:pPr marL="127000" indent="-127000">
              <a:buSzPct val="100000"/>
              <a:buChar char="•"/>
            </a:pPr>
            <a:r>
              <a:rPr lang="en-US" sz="1100" dirty="0">
                <a:solidFill>
                  <a:srgbClr val="E5E7EB"/>
                </a:solidFill>
              </a:rPr>
              <a:t>Action types partially learned</a:t>
            </a:r>
            <a:endParaRPr lang="en-US" sz="1100" dirty="0"/>
          </a:p>
          <a:p>
            <a:pPr marL="127000" indent="-127000">
              <a:buSzPct val="100000"/>
              <a:buChar char="•"/>
            </a:pPr>
            <a:r>
              <a:rPr lang="en-US" sz="1100" dirty="0">
                <a:solidFill>
                  <a:srgbClr val="E5E7EB"/>
                </a:solidFill>
              </a:rPr>
              <a:t>Tap coordinates collapsed to plausible screen modes</a:t>
            </a:r>
            <a:endParaRPr lang="en-US" sz="1100" dirty="0"/>
          </a:p>
          <a:p>
            <a:pPr marL="127000" indent="-127000">
              <a:buSzPct val="100000"/>
              <a:buChar char="•"/>
            </a:pPr>
            <a:r>
              <a:rPr lang="en-US" sz="1100" dirty="0">
                <a:solidFill>
                  <a:srgbClr val="E5E7EB"/>
                </a:solidFill>
              </a:rPr>
              <a:t>Auxiliary losses diversified coordinates but still missed targets</a:t>
            </a:r>
            <a:endParaRPr lang="en-US" sz="1100" dirty="0"/>
          </a:p>
        </p:txBody>
      </p:sp>
      <p:sp>
        <p:nvSpPr>
          <p:cNvPr id="8" name="Shape 6"/>
          <p:cNvSpPr/>
          <p:nvPr/>
        </p:nvSpPr>
        <p:spPr>
          <a:xfrm>
            <a:off x="4434840" y="1371600"/>
            <a:ext cx="3657600" cy="4572000"/>
          </a:xfrm>
          <a:prstGeom prst="roundRect">
            <a:avLst>
              <a:gd name="adj" fmla="val 2000"/>
            </a:avLst>
          </a:prstGeom>
          <a:solidFill>
            <a:srgbClr val="111827"/>
          </a:solidFill>
          <a:ln w="12700">
            <a:solidFill>
              <a:srgbClr val="FB7185">
                <a:alpha val="85000"/>
              </a:srgbClr>
            </a:solidFill>
            <a:prstDash val="solid"/>
          </a:ln>
        </p:spPr>
      </p:sp>
      <p:sp>
        <p:nvSpPr>
          <p:cNvPr id="9" name="Text 7"/>
          <p:cNvSpPr/>
          <p:nvPr/>
        </p:nvSpPr>
        <p:spPr>
          <a:xfrm>
            <a:off x="4663440" y="1627632"/>
            <a:ext cx="3200400" cy="228600"/>
          </a:xfrm>
          <a:prstGeom prst="rect">
            <a:avLst/>
          </a:prstGeom>
          <a:noFill/>
          <a:ln/>
        </p:spPr>
        <p:txBody>
          <a:bodyPr wrap="square" lIns="0" tIns="0" rIns="0" bIns="0" rtlCol="0" anchor="ctr"/>
          <a:lstStyle/>
          <a:p>
            <a:pPr indent="0" marL="0">
              <a:buNone/>
            </a:pPr>
            <a:r>
              <a:rPr lang="en-US" sz="1350" b="1" dirty="0">
                <a:solidFill>
                  <a:srgbClr val="FB7185"/>
                </a:solidFill>
              </a:rPr>
              <a:t>Mode-collapse smoking gun (Run B)</a:t>
            </a:r>
            <a:endParaRPr lang="en-US" sz="1350" dirty="0"/>
          </a:p>
        </p:txBody>
      </p:sp>
      <p:sp>
        <p:nvSpPr>
          <p:cNvPr id="10" name="Text 8"/>
          <p:cNvSpPr/>
          <p:nvPr/>
        </p:nvSpPr>
        <p:spPr>
          <a:xfrm>
            <a:off x="4663440" y="2029968"/>
            <a:ext cx="3291840" cy="201168"/>
          </a:xfrm>
          <a:prstGeom prst="rect">
            <a:avLst/>
          </a:prstGeom>
          <a:noFill/>
          <a:ln/>
        </p:spPr>
        <p:txBody>
          <a:bodyPr wrap="square" lIns="0" tIns="0" rIns="0" bIns="0" rtlCol="0" anchor="ctr"/>
          <a:lstStyle/>
          <a:p>
            <a:pPr indent="0" marL="0">
              <a:buNone/>
            </a:pPr>
            <a:r>
              <a:rPr lang="en-US" sz="1020" dirty="0">
                <a:solidFill>
                  <a:srgbClr val="94A3B8"/>
                </a:solidFill>
              </a:rPr>
              <a:t>Top-9 (x, y) modes account for</a:t>
            </a:r>
            <a:endParaRPr lang="en-US" sz="1020" dirty="0"/>
          </a:p>
        </p:txBody>
      </p:sp>
      <p:sp>
        <p:nvSpPr>
          <p:cNvPr id="11" name="Text 9"/>
          <p:cNvSpPr/>
          <p:nvPr/>
        </p:nvSpPr>
        <p:spPr>
          <a:xfrm>
            <a:off x="4663440" y="2286000"/>
            <a:ext cx="3246120" cy="438912"/>
          </a:xfrm>
          <a:prstGeom prst="rect">
            <a:avLst/>
          </a:prstGeom>
          <a:noFill/>
          <a:ln/>
        </p:spPr>
        <p:txBody>
          <a:bodyPr wrap="square" lIns="0" tIns="0" rIns="0" bIns="0" rtlCol="0" anchor="ctr"/>
          <a:lstStyle/>
          <a:p>
            <a:pPr algn="ctr" indent="0" marL="0">
              <a:buNone/>
            </a:pPr>
            <a:r>
              <a:rPr lang="en-US" sz="3000" b="1" dirty="0">
                <a:solidFill>
                  <a:srgbClr val="FB7185"/>
                </a:solidFill>
              </a:rPr>
              <a:t>51%</a:t>
            </a:r>
            <a:endParaRPr lang="en-US" sz="3000" dirty="0"/>
          </a:p>
        </p:txBody>
      </p:sp>
      <p:sp>
        <p:nvSpPr>
          <p:cNvPr id="12" name="Text 10"/>
          <p:cNvSpPr/>
          <p:nvPr/>
        </p:nvSpPr>
        <p:spPr>
          <a:xfrm>
            <a:off x="4663440" y="2788920"/>
            <a:ext cx="3246120" cy="320040"/>
          </a:xfrm>
          <a:prstGeom prst="rect">
            <a:avLst/>
          </a:prstGeom>
          <a:noFill/>
          <a:ln/>
        </p:spPr>
        <p:txBody>
          <a:bodyPr wrap="square" lIns="0" tIns="0" rIns="0" bIns="0" rtlCol="0" anchor="ctr"/>
          <a:lstStyle/>
          <a:p>
            <a:pPr algn="ctr" indent="0" marL="0">
              <a:buNone/>
            </a:pPr>
            <a:r>
              <a:rPr lang="en-US" sz="950" dirty="0">
                <a:solidFill>
                  <a:srgbClr val="94A3B8"/>
                </a:solidFill>
              </a:rPr>
              <a:t>of all Run B tap predictions</a:t>
            </a:r>
            <a:endParaRPr lang="en-US" sz="950" dirty="0"/>
          </a:p>
        </p:txBody>
      </p:sp>
      <p:sp>
        <p:nvSpPr>
          <p:cNvPr id="13" name="Text 11"/>
          <p:cNvSpPr/>
          <p:nvPr/>
        </p:nvSpPr>
        <p:spPr>
          <a:xfrm>
            <a:off x="4663440" y="3200400"/>
            <a:ext cx="3246120" cy="201168"/>
          </a:xfrm>
          <a:prstGeom prst="rect">
            <a:avLst/>
          </a:prstGeom>
          <a:noFill/>
          <a:ln/>
        </p:spPr>
        <p:txBody>
          <a:bodyPr wrap="square" lIns="0" tIns="0" rIns="0" bIns="0" rtlCol="0" anchor="ctr"/>
          <a:lstStyle/>
          <a:p>
            <a:pPr algn="ctr" indent="0" marL="0">
              <a:buNone/>
            </a:pPr>
            <a:r>
              <a:rPr lang="en-US" sz="1000" i="1" dirty="0">
                <a:solidFill>
                  <a:srgbClr val="94A3B8"/>
                </a:solidFill>
              </a:rPr>
              <a:t>vs 27 % top-15 in baseline</a:t>
            </a:r>
            <a:endParaRPr lang="en-US" sz="1000" dirty="0"/>
          </a:p>
        </p:txBody>
      </p:sp>
      <p:sp>
        <p:nvSpPr>
          <p:cNvPr id="14" name="Shape 12"/>
          <p:cNvSpPr/>
          <p:nvPr/>
        </p:nvSpPr>
        <p:spPr>
          <a:xfrm>
            <a:off x="4663440" y="3520440"/>
            <a:ext cx="3246120" cy="0"/>
          </a:xfrm>
          <a:prstGeom prst="line">
            <a:avLst/>
          </a:prstGeom>
          <a:noFill/>
          <a:ln w="6350">
            <a:solidFill>
              <a:srgbClr val="334155"/>
            </a:solidFill>
            <a:prstDash val="solid"/>
          </a:ln>
        </p:spPr>
      </p:sp>
      <p:sp>
        <p:nvSpPr>
          <p:cNvPr id="15" name="Text 13"/>
          <p:cNvSpPr/>
          <p:nvPr/>
        </p:nvSpPr>
        <p:spPr>
          <a:xfrm>
            <a:off x="4663440" y="3657600"/>
            <a:ext cx="3291840" cy="2194560"/>
          </a:xfrm>
          <a:prstGeom prst="rect">
            <a:avLst/>
          </a:prstGeom>
          <a:noFill/>
          <a:ln/>
        </p:spPr>
        <p:txBody>
          <a:bodyPr wrap="square" lIns="1016" tIns="1016" rIns="1016" bIns="1016" rtlCol="0" anchor="ctr">
            <a:normAutofit/>
          </a:bodyPr>
          <a:lstStyle/>
          <a:p>
            <a:pPr marL="127000" indent="-127000">
              <a:buSzPct val="100000"/>
              <a:buChar char="•"/>
            </a:pPr>
            <a:r>
              <a:rPr lang="en-US" sz="970" dirty="0">
                <a:solidFill>
                  <a:srgbClr val="E5E7EB"/>
                </a:solidFill>
              </a:rPr>
              <a:t>(0.500, 0.500) ← screen center: 17.9 %</a:t>
            </a:r>
            <a:endParaRPr lang="en-US" sz="970" dirty="0"/>
          </a:p>
          <a:p>
            <a:pPr marL="127000" indent="-127000">
              <a:buSzPct val="100000"/>
              <a:buChar char="•"/>
            </a:pPr>
            <a:r>
              <a:rPr lang="en-US" sz="970" dirty="0">
                <a:solidFill>
                  <a:srgbClr val="E5E7EB"/>
                </a:solidFill>
              </a:rPr>
              <a:t>(0.500, 0.250): 8.8 %</a:t>
            </a:r>
            <a:endParaRPr lang="en-US" sz="970" dirty="0"/>
          </a:p>
          <a:p>
            <a:pPr marL="127000" indent="-127000">
              <a:buSzPct val="100000"/>
              <a:buChar char="•"/>
            </a:pPr>
            <a:r>
              <a:rPr lang="en-US" sz="970" dirty="0">
                <a:solidFill>
                  <a:srgbClr val="E5E7EB"/>
                </a:solidFill>
              </a:rPr>
              <a:t>(0.050, 0.050) ← top-left corner: 4.9 %</a:t>
            </a:r>
            <a:endParaRPr lang="en-US" sz="970" dirty="0"/>
          </a:p>
          <a:p>
            <a:pPr marL="127000" indent="-127000">
              <a:buSzPct val="100000"/>
              <a:buChar char="•"/>
            </a:pPr>
            <a:r>
              <a:rPr lang="en-US" sz="970" dirty="0">
                <a:solidFill>
                  <a:srgbClr val="E5E7EB"/>
                </a:solidFill>
              </a:rPr>
              <a:t>Run B is hugging canonical screen positions, not grounding</a:t>
            </a:r>
            <a:endParaRPr lang="en-US" sz="970" dirty="0"/>
          </a:p>
        </p:txBody>
      </p:sp>
      <p:sp>
        <p:nvSpPr>
          <p:cNvPr id="16" name="Shape 14"/>
          <p:cNvSpPr/>
          <p:nvPr/>
        </p:nvSpPr>
        <p:spPr>
          <a:xfrm>
            <a:off x="8229600" y="1371600"/>
            <a:ext cx="3291840" cy="4572000"/>
          </a:xfrm>
          <a:prstGeom prst="roundRect">
            <a:avLst>
              <a:gd name="adj" fmla="val 2222"/>
            </a:avLst>
          </a:prstGeom>
          <a:solidFill>
            <a:srgbClr val="111827"/>
          </a:solidFill>
          <a:ln w="12700">
            <a:solidFill>
              <a:srgbClr val="334155">
                <a:alpha val="85000"/>
              </a:srgbClr>
            </a:solidFill>
            <a:prstDash val="solid"/>
          </a:ln>
        </p:spPr>
      </p:sp>
      <p:sp>
        <p:nvSpPr>
          <p:cNvPr id="17" name="Text 15"/>
          <p:cNvSpPr/>
          <p:nvPr/>
        </p:nvSpPr>
        <p:spPr>
          <a:xfrm>
            <a:off x="8458200" y="1627632"/>
            <a:ext cx="2743200" cy="228600"/>
          </a:xfrm>
          <a:prstGeom prst="rect">
            <a:avLst/>
          </a:prstGeom>
          <a:noFill/>
          <a:ln/>
        </p:spPr>
        <p:txBody>
          <a:bodyPr wrap="square" lIns="0" tIns="0" rIns="0" bIns="0" rtlCol="0" anchor="ctr"/>
          <a:lstStyle/>
          <a:p>
            <a:pPr indent="0" marL="0">
              <a:buNone/>
            </a:pPr>
            <a:r>
              <a:rPr lang="en-US" sz="1350" b="1" dirty="0">
                <a:solidFill>
                  <a:srgbClr val="E5E7EB"/>
                </a:solidFill>
              </a:rPr>
              <a:t>Key bug found late</a:t>
            </a:r>
            <a:endParaRPr lang="en-US" sz="1350" dirty="0"/>
          </a:p>
        </p:txBody>
      </p:sp>
      <p:sp>
        <p:nvSpPr>
          <p:cNvPr id="18" name="Text 16"/>
          <p:cNvSpPr/>
          <p:nvPr/>
        </p:nvSpPr>
        <p:spPr>
          <a:xfrm>
            <a:off x="8458200" y="1993392"/>
            <a:ext cx="3017520" cy="292608"/>
          </a:xfrm>
          <a:prstGeom prst="rect">
            <a:avLst/>
          </a:prstGeom>
          <a:noFill/>
          <a:ln/>
        </p:spPr>
        <p:txBody>
          <a:bodyPr wrap="square" lIns="0" tIns="0" rIns="0" bIns="0" rtlCol="0" anchor="ctr"/>
          <a:lstStyle/>
          <a:p>
            <a:pPr indent="0" marL="0">
              <a:buNone/>
            </a:pPr>
            <a:r>
              <a:rPr lang="en-US" sz="1400" b="1" dirty="0">
                <a:solidFill>
                  <a:srgbClr val="FB7185"/>
                </a:solidFill>
              </a:rPr>
              <a:t>Frozen multimodal projector</a:t>
            </a:r>
            <a:endParaRPr lang="en-US" sz="1400" dirty="0"/>
          </a:p>
        </p:txBody>
      </p:sp>
      <p:sp>
        <p:nvSpPr>
          <p:cNvPr id="19" name="Shape 17"/>
          <p:cNvSpPr/>
          <p:nvPr/>
        </p:nvSpPr>
        <p:spPr>
          <a:xfrm>
            <a:off x="8458200" y="2468880"/>
            <a:ext cx="914400" cy="548640"/>
          </a:xfrm>
          <a:prstGeom prst="roundRect">
            <a:avLst>
              <a:gd name="adj" fmla="val 10000"/>
            </a:avLst>
          </a:prstGeom>
          <a:solidFill>
            <a:srgbClr val="60A5FA">
              <a:alpha val="92000"/>
            </a:srgbClr>
          </a:solidFill>
          <a:ln w="15240">
            <a:solidFill>
              <a:srgbClr val="60A5FA"/>
            </a:solidFill>
            <a:prstDash val="solid"/>
          </a:ln>
        </p:spPr>
      </p:sp>
      <p:sp>
        <p:nvSpPr>
          <p:cNvPr id="20" name="Text 18"/>
          <p:cNvSpPr/>
          <p:nvPr/>
        </p:nvSpPr>
        <p:spPr>
          <a:xfrm>
            <a:off x="8531352" y="2578608"/>
            <a:ext cx="768096" cy="38404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Vision</a:t>
            </a:r>
            <a:endParaRPr lang="en-US" sz="1020" dirty="0"/>
          </a:p>
          <a:p>
            <a:pPr algn="ctr" indent="0" marL="0">
              <a:buNone/>
            </a:pPr>
            <a:r>
              <a:rPr lang="en-US" sz="1020" b="1" dirty="0">
                <a:solidFill>
                  <a:srgbClr val="FFFFFF"/>
                </a:solidFill>
              </a:rPr>
              <a:t>tower ✓</a:t>
            </a:r>
            <a:endParaRPr lang="en-US" sz="1020" dirty="0"/>
          </a:p>
        </p:txBody>
      </p:sp>
      <p:sp>
        <p:nvSpPr>
          <p:cNvPr id="21" name="Shape 19"/>
          <p:cNvSpPr/>
          <p:nvPr/>
        </p:nvSpPr>
        <p:spPr>
          <a:xfrm>
            <a:off x="9418320" y="2743200"/>
            <a:ext cx="228600" cy="0"/>
          </a:xfrm>
          <a:prstGeom prst="line">
            <a:avLst/>
          </a:prstGeom>
          <a:noFill/>
          <a:ln w="19050">
            <a:solidFill>
              <a:srgbClr val="FB7185"/>
            </a:solidFill>
            <a:prstDash val="solid"/>
            <a:headEnd type="none"/>
            <a:tailEnd type="triangle"/>
          </a:ln>
        </p:spPr>
      </p:sp>
      <p:sp>
        <p:nvSpPr>
          <p:cNvPr id="22" name="Shape 20"/>
          <p:cNvSpPr/>
          <p:nvPr/>
        </p:nvSpPr>
        <p:spPr>
          <a:xfrm>
            <a:off x="9692640" y="2468880"/>
            <a:ext cx="960120" cy="548640"/>
          </a:xfrm>
          <a:prstGeom prst="roundRect">
            <a:avLst>
              <a:gd name="adj" fmla="val 10000"/>
            </a:avLst>
          </a:prstGeom>
          <a:solidFill>
            <a:srgbClr val="FB7185">
              <a:alpha val="92000"/>
            </a:srgbClr>
          </a:solidFill>
          <a:ln w="15240">
            <a:solidFill>
              <a:srgbClr val="FB7185"/>
            </a:solidFill>
            <a:prstDash val="solid"/>
          </a:ln>
        </p:spPr>
      </p:sp>
      <p:sp>
        <p:nvSpPr>
          <p:cNvPr id="23" name="Text 21"/>
          <p:cNvSpPr/>
          <p:nvPr/>
        </p:nvSpPr>
        <p:spPr>
          <a:xfrm>
            <a:off x="9765792" y="2578608"/>
            <a:ext cx="813816" cy="38404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Projector</a:t>
            </a:r>
            <a:endParaRPr lang="en-US" sz="1020" dirty="0"/>
          </a:p>
          <a:p>
            <a:pPr algn="ctr" indent="0" marL="0">
              <a:buNone/>
            </a:pPr>
            <a:r>
              <a:rPr lang="en-US" sz="1020" b="1" dirty="0">
                <a:solidFill>
                  <a:srgbClr val="FFFFFF"/>
                </a:solidFill>
              </a:rPr>
              <a:t>frozen ✗</a:t>
            </a:r>
            <a:endParaRPr lang="en-US" sz="1020" dirty="0"/>
          </a:p>
        </p:txBody>
      </p:sp>
      <p:sp>
        <p:nvSpPr>
          <p:cNvPr id="24" name="Shape 22"/>
          <p:cNvSpPr/>
          <p:nvPr/>
        </p:nvSpPr>
        <p:spPr>
          <a:xfrm>
            <a:off x="10698480" y="2743200"/>
            <a:ext cx="228600" cy="0"/>
          </a:xfrm>
          <a:prstGeom prst="line">
            <a:avLst/>
          </a:prstGeom>
          <a:noFill/>
          <a:ln w="19050">
            <a:solidFill>
              <a:srgbClr val="FB7185"/>
            </a:solidFill>
            <a:prstDash val="solid"/>
            <a:headEnd type="none"/>
            <a:tailEnd type="triangle"/>
          </a:ln>
        </p:spPr>
      </p:sp>
      <p:sp>
        <p:nvSpPr>
          <p:cNvPr id="25" name="Shape 23"/>
          <p:cNvSpPr/>
          <p:nvPr/>
        </p:nvSpPr>
        <p:spPr>
          <a:xfrm>
            <a:off x="10972800" y="2468880"/>
            <a:ext cx="502920" cy="548640"/>
          </a:xfrm>
          <a:prstGeom prst="roundRect">
            <a:avLst>
              <a:gd name="adj" fmla="val 10909"/>
            </a:avLst>
          </a:prstGeom>
          <a:solidFill>
            <a:srgbClr val="A78BFA">
              <a:alpha val="92000"/>
            </a:srgbClr>
          </a:solidFill>
          <a:ln w="15240">
            <a:solidFill>
              <a:srgbClr val="A78BFA"/>
            </a:solidFill>
            <a:prstDash val="solid"/>
          </a:ln>
        </p:spPr>
      </p:sp>
      <p:sp>
        <p:nvSpPr>
          <p:cNvPr id="26" name="Text 24"/>
          <p:cNvSpPr/>
          <p:nvPr/>
        </p:nvSpPr>
        <p:spPr>
          <a:xfrm>
            <a:off x="11045952" y="2578608"/>
            <a:ext cx="356616" cy="38404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LM ✓</a:t>
            </a:r>
            <a:endParaRPr lang="en-US" sz="1020" dirty="0"/>
          </a:p>
        </p:txBody>
      </p:sp>
      <p:sp>
        <p:nvSpPr>
          <p:cNvPr id="27" name="Text 25"/>
          <p:cNvSpPr/>
          <p:nvPr/>
        </p:nvSpPr>
        <p:spPr>
          <a:xfrm>
            <a:off x="8458200" y="3246120"/>
            <a:ext cx="2971800" cy="1280160"/>
          </a:xfrm>
          <a:prstGeom prst="rect">
            <a:avLst/>
          </a:prstGeom>
          <a:noFill/>
          <a:ln/>
        </p:spPr>
        <p:txBody>
          <a:bodyPr wrap="square" lIns="0" tIns="0" rIns="0" bIns="0" rtlCol="0" anchor="ctr"/>
          <a:lstStyle/>
          <a:p>
            <a:pPr indent="0" marL="0">
              <a:buNone/>
            </a:pPr>
            <a:r>
              <a:rPr lang="en-US" sz="1100" dirty="0">
                <a:solidFill>
                  <a:srgbClr val="94A3B8"/>
                </a:solidFill>
              </a:rPr>
              <a:t>Unfreezing the projector raised Run H to 0.275 (+6.5 pp vs Run E) — but coordinate regression still failed to clear the 0.288 baseline.</a:t>
            </a:r>
            <a:endParaRPr lang="en-US" sz="1100" dirty="0"/>
          </a:p>
        </p:txBody>
      </p:sp>
      <p:sp>
        <p:nvSpPr>
          <p:cNvPr id="28" name="Shape 26"/>
          <p:cNvSpPr/>
          <p:nvPr/>
        </p:nvSpPr>
        <p:spPr>
          <a:xfrm>
            <a:off x="8458200" y="5349240"/>
            <a:ext cx="2194560" cy="274320"/>
          </a:xfrm>
          <a:prstGeom prst="roundRect">
            <a:avLst>
              <a:gd name="adj" fmla="val 20000"/>
            </a:avLst>
          </a:prstGeom>
          <a:solidFill>
            <a:srgbClr val="FBBF24">
              <a:alpha val="92000"/>
            </a:srgbClr>
          </a:solidFill>
          <a:ln w="12700">
            <a:solidFill>
              <a:srgbClr val="FBBF24">
                <a:alpha val="90000"/>
              </a:srgbClr>
            </a:solidFill>
            <a:prstDash val="solid"/>
          </a:ln>
        </p:spPr>
      </p:sp>
      <p:sp>
        <p:nvSpPr>
          <p:cNvPr id="29" name="Text 27"/>
          <p:cNvSpPr/>
          <p:nvPr/>
        </p:nvSpPr>
        <p:spPr>
          <a:xfrm>
            <a:off x="8458200" y="5417820"/>
            <a:ext cx="2194560" cy="100584"/>
          </a:xfrm>
          <a:prstGeom prst="rect">
            <a:avLst/>
          </a:prstGeom>
          <a:noFill/>
          <a:ln/>
        </p:spPr>
        <p:txBody>
          <a:bodyPr wrap="square" lIns="0" tIns="0" rIns="0" bIns="0" rtlCol="0" anchor="ctr"/>
          <a:lstStyle/>
          <a:p>
            <a:pPr algn="ctr" indent="0" marL="0">
              <a:buNone/>
            </a:pPr>
            <a:r>
              <a:rPr lang="en-US" sz="750" b="1" dirty="0">
                <a:solidFill>
                  <a:srgbClr val="0B1020"/>
                </a:solidFill>
              </a:rPr>
              <a:t>real bug · partial fix</a:t>
            </a:r>
            <a:endParaRPr lang="en-US" sz="75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PATH X / PATH W</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Pivot: make the target an element, not a coordinate</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685800" y="1325880"/>
            <a:ext cx="3429000" cy="4434840"/>
          </a:xfrm>
          <a:prstGeom prst="roundRect">
            <a:avLst>
              <a:gd name="adj" fmla="val 2133"/>
            </a:avLst>
          </a:prstGeom>
          <a:solidFill>
            <a:srgbClr val="111827"/>
          </a:solidFill>
          <a:ln w="12700">
            <a:solidFill>
              <a:srgbClr val="334155">
                <a:alpha val="85000"/>
              </a:srgbClr>
            </a:solidFill>
            <a:prstDash val="solid"/>
          </a:ln>
        </p:spPr>
      </p:sp>
      <p:sp>
        <p:nvSpPr>
          <p:cNvPr id="6" name="Text 4"/>
          <p:cNvSpPr/>
          <p:nvPr/>
        </p:nvSpPr>
        <p:spPr>
          <a:xfrm>
            <a:off x="960120" y="1600200"/>
            <a:ext cx="2743200" cy="228600"/>
          </a:xfrm>
          <a:prstGeom prst="rect">
            <a:avLst/>
          </a:prstGeom>
          <a:noFill/>
          <a:ln/>
        </p:spPr>
        <p:txBody>
          <a:bodyPr wrap="square" lIns="0" tIns="0" rIns="0" bIns="0" rtlCol="0" anchor="ctr"/>
          <a:lstStyle/>
          <a:p>
            <a:pPr indent="0" marL="0">
              <a:buNone/>
            </a:pPr>
            <a:r>
              <a:rPr lang="en-US" sz="1500" b="1" dirty="0">
                <a:solidFill>
                  <a:srgbClr val="E5E7EB"/>
                </a:solidFill>
              </a:rPr>
              <a:t>Path X: Set-of-Marks</a:t>
            </a:r>
            <a:endParaRPr lang="en-US" sz="1500" dirty="0"/>
          </a:p>
        </p:txBody>
      </p:sp>
      <p:sp>
        <p:nvSpPr>
          <p:cNvPr id="7" name="Text 5"/>
          <p:cNvSpPr/>
          <p:nvPr/>
        </p:nvSpPr>
        <p:spPr>
          <a:xfrm>
            <a:off x="960120" y="2057400"/>
            <a:ext cx="2743200" cy="731520"/>
          </a:xfrm>
          <a:prstGeom prst="rect">
            <a:avLst/>
          </a:prstGeom>
          <a:noFill/>
          <a:ln/>
        </p:spPr>
        <p:txBody>
          <a:bodyPr wrap="square" lIns="0" tIns="0" rIns="0" bIns="0" rtlCol="0" anchor="ctr"/>
          <a:lstStyle/>
          <a:p>
            <a:pPr indent="0" marL="0">
              <a:buNone/>
            </a:pPr>
            <a:r>
              <a:rPr lang="en-US" sz="1250" dirty="0">
                <a:solidFill>
                  <a:srgbClr val="94A3B8"/>
                </a:solidFill>
              </a:rPr>
              <a:t>Overlay numbered marks on interactable elements; model predicts mark id.</a:t>
            </a:r>
            <a:endParaRPr lang="en-US" sz="1250" dirty="0"/>
          </a:p>
        </p:txBody>
      </p:sp>
      <p:sp>
        <p:nvSpPr>
          <p:cNvPr id="8" name="Shape 6"/>
          <p:cNvSpPr/>
          <p:nvPr/>
        </p:nvSpPr>
        <p:spPr>
          <a:xfrm>
            <a:off x="960120" y="4206240"/>
            <a:ext cx="1554480" cy="274320"/>
          </a:xfrm>
          <a:prstGeom prst="roundRect">
            <a:avLst>
              <a:gd name="adj" fmla="val 20000"/>
            </a:avLst>
          </a:prstGeom>
          <a:solidFill>
            <a:srgbClr val="FB7185">
              <a:alpha val="92000"/>
            </a:srgbClr>
          </a:solidFill>
          <a:ln w="12700">
            <a:solidFill>
              <a:srgbClr val="FB7185">
                <a:alpha val="90000"/>
              </a:srgbClr>
            </a:solidFill>
            <a:prstDash val="solid"/>
          </a:ln>
        </p:spPr>
      </p:sp>
      <p:sp>
        <p:nvSpPr>
          <p:cNvPr id="9" name="Text 7"/>
          <p:cNvSpPr/>
          <p:nvPr/>
        </p:nvSpPr>
        <p:spPr>
          <a:xfrm>
            <a:off x="960120" y="4274820"/>
            <a:ext cx="1554480" cy="100584"/>
          </a:xfrm>
          <a:prstGeom prst="rect">
            <a:avLst/>
          </a:prstGeom>
          <a:noFill/>
          <a:ln/>
        </p:spPr>
        <p:txBody>
          <a:bodyPr wrap="square" lIns="0" tIns="0" rIns="0" bIns="0" rtlCol="0" anchor="ctr"/>
          <a:lstStyle/>
          <a:p>
            <a:pPr algn="ctr" indent="0" marL="0">
              <a:buNone/>
            </a:pPr>
            <a:r>
              <a:rPr lang="en-US" sz="750" b="1" dirty="0">
                <a:solidFill>
                  <a:srgbClr val="0B1020"/>
                </a:solidFill>
              </a:rPr>
              <a:t>zero-shot: 0.130</a:t>
            </a:r>
            <a:endParaRPr lang="en-US" sz="750" dirty="0"/>
          </a:p>
        </p:txBody>
      </p:sp>
      <p:sp>
        <p:nvSpPr>
          <p:cNvPr id="10" name="Text 8"/>
          <p:cNvSpPr/>
          <p:nvPr/>
        </p:nvSpPr>
        <p:spPr>
          <a:xfrm>
            <a:off x="960120" y="4617720"/>
            <a:ext cx="2788920" cy="502920"/>
          </a:xfrm>
          <a:prstGeom prst="rect">
            <a:avLst/>
          </a:prstGeom>
          <a:noFill/>
          <a:ln/>
        </p:spPr>
        <p:txBody>
          <a:bodyPr wrap="square" lIns="0" tIns="0" rIns="0" bIns="0" rtlCol="0" anchor="ctr"/>
          <a:lstStyle/>
          <a:p>
            <a:pPr indent="0" marL="0">
              <a:buNone/>
            </a:pPr>
            <a:r>
              <a:rPr lang="en-US" sz="1050" dirty="0">
                <a:solidFill>
                  <a:srgbClr val="94A3B8"/>
                </a:solidFill>
              </a:rPr>
              <a:t>GT marks were reachable, but 2B VLM could not attend to marks zero-shot.</a:t>
            </a:r>
            <a:endParaRPr lang="en-US" sz="1050" dirty="0"/>
          </a:p>
        </p:txBody>
      </p:sp>
      <p:sp>
        <p:nvSpPr>
          <p:cNvPr id="11" name="Shape 9"/>
          <p:cNvSpPr/>
          <p:nvPr/>
        </p:nvSpPr>
        <p:spPr>
          <a:xfrm>
            <a:off x="4480560" y="1325880"/>
            <a:ext cx="6903720" cy="4434840"/>
          </a:xfrm>
          <a:prstGeom prst="roundRect">
            <a:avLst>
              <a:gd name="adj" fmla="val 1649"/>
            </a:avLst>
          </a:prstGeom>
          <a:solidFill>
            <a:srgbClr val="111827"/>
          </a:solidFill>
          <a:ln w="12700">
            <a:solidFill>
              <a:srgbClr val="34D399">
                <a:alpha val="85000"/>
              </a:srgbClr>
            </a:solidFill>
            <a:prstDash val="solid"/>
          </a:ln>
        </p:spPr>
      </p:sp>
      <p:sp>
        <p:nvSpPr>
          <p:cNvPr id="12" name="Text 10"/>
          <p:cNvSpPr/>
          <p:nvPr/>
        </p:nvSpPr>
        <p:spPr>
          <a:xfrm>
            <a:off x="4754880" y="1600200"/>
            <a:ext cx="3200400" cy="228600"/>
          </a:xfrm>
          <a:prstGeom prst="rect">
            <a:avLst/>
          </a:prstGeom>
          <a:noFill/>
          <a:ln/>
        </p:spPr>
        <p:txBody>
          <a:bodyPr wrap="square" lIns="0" tIns="0" rIns="0" bIns="0" rtlCol="0" anchor="ctr"/>
          <a:lstStyle/>
          <a:p>
            <a:pPr indent="0" marL="0">
              <a:buNone/>
            </a:pPr>
            <a:r>
              <a:rPr lang="en-US" sz="1500" b="1" dirty="0">
                <a:solidFill>
                  <a:srgbClr val="34D399"/>
                </a:solidFill>
              </a:rPr>
              <a:t>Path W: accessibility-native</a:t>
            </a:r>
            <a:endParaRPr lang="en-US" sz="1500" dirty="0"/>
          </a:p>
        </p:txBody>
      </p:sp>
      <p:sp>
        <p:nvSpPr>
          <p:cNvPr id="13" name="Text 11"/>
          <p:cNvSpPr/>
          <p:nvPr/>
        </p:nvSpPr>
        <p:spPr>
          <a:xfrm>
            <a:off x="4754880" y="2057400"/>
            <a:ext cx="4114800" cy="411480"/>
          </a:xfrm>
          <a:prstGeom prst="rect">
            <a:avLst/>
          </a:prstGeom>
          <a:noFill/>
          <a:ln/>
        </p:spPr>
        <p:txBody>
          <a:bodyPr wrap="square" lIns="0" tIns="0" rIns="0" bIns="0" rtlCol="0" anchor="ctr"/>
          <a:lstStyle/>
          <a:p>
            <a:pPr indent="0" marL="0">
              <a:buNone/>
            </a:pPr>
            <a:r>
              <a:rPr lang="en-US" sz="1250" dirty="0">
                <a:solidFill>
                  <a:srgbClr val="94A3B8"/>
                </a:solidFill>
              </a:rPr>
              <a:t>Prompt contains a text legend of UI elements. Model emits an element_id.</a:t>
            </a:r>
            <a:endParaRPr lang="en-US" sz="1250" dirty="0"/>
          </a:p>
        </p:txBody>
      </p:sp>
      <p:sp>
        <p:nvSpPr>
          <p:cNvPr id="14" name="Text 12"/>
          <p:cNvSpPr/>
          <p:nvPr/>
        </p:nvSpPr>
        <p:spPr>
          <a:xfrm>
            <a:off x="4800600" y="2788920"/>
            <a:ext cx="3108960" cy="868680"/>
          </a:xfrm>
          <a:prstGeom prst="rect">
            <a:avLst/>
          </a:prstGeom>
          <a:noFill/>
          <a:ln/>
        </p:spPr>
        <p:txBody>
          <a:bodyPr wrap="square" lIns="635" tIns="635" rIns="635" bIns="635" rtlCol="0" anchor="ctr">
            <a:normAutofit/>
          </a:bodyPr>
          <a:lstStyle/>
          <a:p>
            <a:pPr indent="0" marL="0">
              <a:buNone/>
            </a:pPr>
            <a:r>
              <a:rPr lang="en-US" sz="1050" dirty="0">
                <a:solidFill>
                  <a:srgbClr val="22D3EE"/>
                </a:solidFill>
                <a:latin typeface="Aptos Mono" pitchFamily="34" charset="0"/>
                <a:ea typeface="Aptos Mono" pitchFamily="34" charset="-122"/>
                <a:cs typeface="Aptos Mono" pitchFamily="34" charset="-120"/>
              </a:rPr>
              <a:t>Input legend</a:t>
            </a:r>
            <a:endParaRPr lang="en-US" sz="1050" dirty="0"/>
          </a:p>
          <a:p>
            <a:pPr indent="0" marL="0">
              <a:buNone/>
            </a:pPr>
            <a:r>
              <a:rPr lang="en-US" sz="1050" dirty="0">
                <a:solidFill>
                  <a:srgbClr val="22D3EE"/>
                </a:solidFill>
                <a:latin typeface="Aptos Mono" pitchFamily="34" charset="0"/>
                <a:ea typeface="Aptos Mono" pitchFamily="34" charset="-122"/>
                <a:cs typeface="Aptos Mono" pitchFamily="34" charset="-120"/>
              </a:rPr>
              <a:t>[7] Button “Send” bbox=(...)</a:t>
            </a:r>
            <a:endParaRPr lang="en-US" sz="1050" dirty="0"/>
          </a:p>
          <a:p>
            <a:pPr indent="0" marL="0">
              <a:buNone/>
            </a:pPr>
            <a:r>
              <a:rPr lang="en-US" sz="1050" dirty="0">
                <a:solidFill>
                  <a:srgbClr val="22D3EE"/>
                </a:solidFill>
                <a:latin typeface="Aptos Mono" pitchFamily="34" charset="0"/>
                <a:ea typeface="Aptos Mono" pitchFamily="34" charset="-122"/>
                <a:cs typeface="Aptos Mono" pitchFamily="34" charset="-120"/>
              </a:rPr>
              <a:t>[8] TextField “Name” bbox=(...)</a:t>
            </a:r>
            <a:endParaRPr lang="en-US" sz="1050" dirty="0"/>
          </a:p>
        </p:txBody>
      </p:sp>
      <p:sp>
        <p:nvSpPr>
          <p:cNvPr id="15" name="Text 13"/>
          <p:cNvSpPr/>
          <p:nvPr/>
        </p:nvSpPr>
        <p:spPr>
          <a:xfrm>
            <a:off x="8321040" y="2788920"/>
            <a:ext cx="2468880" cy="685800"/>
          </a:xfrm>
          <a:prstGeom prst="rect">
            <a:avLst/>
          </a:prstGeom>
          <a:noFill/>
          <a:ln/>
        </p:spPr>
        <p:txBody>
          <a:bodyPr wrap="square" lIns="635" tIns="635" rIns="635" bIns="635" rtlCol="0" anchor="ctr">
            <a:normAutofit/>
          </a:bodyPr>
          <a:lstStyle/>
          <a:p>
            <a:pPr indent="0" marL="0">
              <a:buNone/>
            </a:pPr>
            <a:r>
              <a:rPr lang="en-US" sz="1100" dirty="0">
                <a:solidFill>
                  <a:srgbClr val="34D399"/>
                </a:solidFill>
                <a:latin typeface="Aptos Mono" pitchFamily="34" charset="0"/>
                <a:ea typeface="Aptos Mono" pitchFamily="34" charset="-122"/>
                <a:cs typeface="Aptos Mono" pitchFamily="34" charset="-120"/>
              </a:rPr>
              <a:t>Output</a:t>
            </a:r>
            <a:endParaRPr lang="en-US" sz="1100" dirty="0"/>
          </a:p>
          <a:p>
            <a:pPr indent="0" marL="0">
              <a:buNone/>
            </a:pPr>
            <a:r>
              <a:rPr lang="en-US" sz="1100" dirty="0">
                <a:solidFill>
                  <a:srgbClr val="34D399"/>
                </a:solidFill>
                <a:latin typeface="Aptos Mono" pitchFamily="34" charset="0"/>
                <a:ea typeface="Aptos Mono" pitchFamily="34" charset="-122"/>
                <a:cs typeface="Aptos Mono" pitchFamily="34" charset="-120"/>
              </a:rPr>
              <a:t>{"action":"tap", "element_id": 7}</a:t>
            </a:r>
            <a:endParaRPr lang="en-US" sz="1100" dirty="0"/>
          </a:p>
        </p:txBody>
      </p:sp>
      <p:sp>
        <p:nvSpPr>
          <p:cNvPr id="16" name="Shape 14"/>
          <p:cNvSpPr/>
          <p:nvPr/>
        </p:nvSpPr>
        <p:spPr>
          <a:xfrm>
            <a:off x="7909560" y="3154680"/>
            <a:ext cx="320040" cy="0"/>
          </a:xfrm>
          <a:prstGeom prst="line">
            <a:avLst/>
          </a:prstGeom>
          <a:noFill/>
          <a:ln w="19050">
            <a:solidFill>
              <a:srgbClr val="34D399"/>
            </a:solidFill>
            <a:prstDash val="solid"/>
            <a:headEnd type="none"/>
            <a:tailEnd type="triangle"/>
          </a:ln>
        </p:spPr>
      </p:sp>
      <p:sp>
        <p:nvSpPr>
          <p:cNvPr id="17" name="Shape 15"/>
          <p:cNvSpPr/>
          <p:nvPr/>
        </p:nvSpPr>
        <p:spPr>
          <a:xfrm>
            <a:off x="4754880" y="4434840"/>
            <a:ext cx="2331720" cy="274320"/>
          </a:xfrm>
          <a:prstGeom prst="roundRect">
            <a:avLst>
              <a:gd name="adj" fmla="val 20000"/>
            </a:avLst>
          </a:prstGeom>
          <a:solidFill>
            <a:srgbClr val="34D399">
              <a:alpha val="92000"/>
            </a:srgbClr>
          </a:solidFill>
          <a:ln w="12700">
            <a:solidFill>
              <a:srgbClr val="34D399">
                <a:alpha val="90000"/>
              </a:srgbClr>
            </a:solidFill>
            <a:prstDash val="solid"/>
          </a:ln>
        </p:spPr>
      </p:sp>
      <p:sp>
        <p:nvSpPr>
          <p:cNvPr id="18" name="Text 16"/>
          <p:cNvSpPr/>
          <p:nvPr/>
        </p:nvSpPr>
        <p:spPr>
          <a:xfrm>
            <a:off x="4754880" y="4503420"/>
            <a:ext cx="2331720" cy="100584"/>
          </a:xfrm>
          <a:prstGeom prst="rect">
            <a:avLst/>
          </a:prstGeom>
          <a:noFill/>
          <a:ln/>
        </p:spPr>
        <p:txBody>
          <a:bodyPr wrap="square" lIns="0" tIns="0" rIns="0" bIns="0" rtlCol="0" anchor="ctr"/>
          <a:lstStyle/>
          <a:p>
            <a:pPr algn="ctr" indent="0" marL="0">
              <a:buNone/>
            </a:pPr>
            <a:r>
              <a:rPr lang="en-US" sz="750" b="1" dirty="0">
                <a:solidFill>
                  <a:srgbClr val="0B1020"/>
                </a:solidFill>
              </a:rPr>
              <a:t>zero-shot: 0.3935 element-acc</a:t>
            </a:r>
            <a:endParaRPr lang="en-US" sz="750" dirty="0"/>
          </a:p>
        </p:txBody>
      </p:sp>
      <p:sp>
        <p:nvSpPr>
          <p:cNvPr id="19" name="Text 17"/>
          <p:cNvSpPr/>
          <p:nvPr/>
        </p:nvSpPr>
        <p:spPr>
          <a:xfrm>
            <a:off x="4754880" y="4864608"/>
            <a:ext cx="5943600" cy="320040"/>
          </a:xfrm>
          <a:prstGeom prst="rect">
            <a:avLst/>
          </a:prstGeom>
          <a:noFill/>
          <a:ln/>
        </p:spPr>
        <p:txBody>
          <a:bodyPr wrap="square" lIns="0" tIns="0" rIns="0" bIns="0" rtlCol="0" anchor="ctr"/>
          <a:lstStyle/>
          <a:p>
            <a:pPr indent="0" marL="0">
              <a:buNone/>
            </a:pPr>
            <a:r>
              <a:rPr lang="en-US" sz="1220" b="1" dirty="0">
                <a:solidFill>
                  <a:srgbClr val="E5E7EB"/>
                </a:solidFill>
              </a:rPr>
              <a:t>Main insight: grounding via accessibility tree converts hard coordinate regression into discrete element selection.</a:t>
            </a:r>
            <a:endParaRPr lang="en-US" sz="122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EVALUATION</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Metric pivot: element-accuracy replaced tap-radius</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822960" y="1371600"/>
            <a:ext cx="4754880" cy="4389120"/>
          </a:xfrm>
          <a:prstGeom prst="roundRect">
            <a:avLst>
              <a:gd name="adj" fmla="val 1667"/>
            </a:avLst>
          </a:prstGeom>
          <a:solidFill>
            <a:srgbClr val="111827"/>
          </a:solidFill>
          <a:ln w="12700">
            <a:solidFill>
              <a:srgbClr val="334155">
                <a:alpha val="85000"/>
              </a:srgbClr>
            </a:solidFill>
            <a:prstDash val="solid"/>
          </a:ln>
        </p:spPr>
      </p:sp>
      <p:sp>
        <p:nvSpPr>
          <p:cNvPr id="6" name="Text 4"/>
          <p:cNvSpPr/>
          <p:nvPr/>
        </p:nvSpPr>
        <p:spPr>
          <a:xfrm>
            <a:off x="1097280" y="1691640"/>
            <a:ext cx="2286000" cy="228600"/>
          </a:xfrm>
          <a:prstGeom prst="rect">
            <a:avLst/>
          </a:prstGeom>
          <a:noFill/>
          <a:ln/>
        </p:spPr>
        <p:txBody>
          <a:bodyPr wrap="square" lIns="0" tIns="0" rIns="0" bIns="0" rtlCol="0" anchor="ctr"/>
          <a:lstStyle/>
          <a:p>
            <a:pPr indent="0" marL="0">
              <a:buNone/>
            </a:pPr>
            <a:r>
              <a:rPr lang="en-US" sz="1500" b="1" dirty="0">
                <a:solidFill>
                  <a:srgbClr val="FBBF24"/>
                </a:solidFill>
              </a:rPr>
              <a:t>Legacy tap-radius</a:t>
            </a:r>
            <a:endParaRPr lang="en-US" sz="1500" dirty="0"/>
          </a:p>
        </p:txBody>
      </p:sp>
      <p:sp>
        <p:nvSpPr>
          <p:cNvPr id="7" name="Text 5"/>
          <p:cNvSpPr/>
          <p:nvPr/>
        </p:nvSpPr>
        <p:spPr>
          <a:xfrm>
            <a:off x="1097280" y="2148840"/>
            <a:ext cx="3931920" cy="1645920"/>
          </a:xfrm>
          <a:prstGeom prst="rect">
            <a:avLst/>
          </a:prstGeom>
          <a:noFill/>
          <a:ln/>
        </p:spPr>
        <p:txBody>
          <a:bodyPr wrap="square" lIns="1016" tIns="1016" rIns="1016" bIns="1016" rtlCol="0" anchor="ctr">
            <a:normAutofit/>
          </a:bodyPr>
          <a:lstStyle/>
          <a:p>
            <a:pPr marL="127000" indent="-127000">
              <a:buSzPct val="100000"/>
              <a:buChar char="•"/>
            </a:pPr>
            <a:r>
              <a:rPr lang="en-US" sz="1240" dirty="0">
                <a:solidFill>
                  <a:srgbClr val="E5E7EB"/>
                </a:solidFill>
              </a:rPr>
              <a:t>Correct if projected bbox center lies within radius 0.14 of GT point</a:t>
            </a:r>
            <a:endParaRPr lang="en-US" sz="1240" dirty="0"/>
          </a:p>
          <a:p>
            <a:pPr marL="127000" indent="-127000">
              <a:buSzPct val="100000"/>
              <a:buChar char="•"/>
            </a:pPr>
            <a:r>
              <a:rPr lang="en-US" sz="1240" dirty="0">
                <a:solidFill>
                  <a:srgbClr val="E5E7EB"/>
                </a:solidFill>
              </a:rPr>
              <a:t>Useful for backward comparison to coordinate work</a:t>
            </a:r>
            <a:endParaRPr lang="en-US" sz="1240" dirty="0"/>
          </a:p>
          <a:p>
            <a:pPr marL="127000" indent="-127000">
              <a:buSzPct val="100000"/>
              <a:buChar char="•"/>
            </a:pPr>
            <a:r>
              <a:rPr lang="en-US" sz="1240" dirty="0">
                <a:solidFill>
                  <a:srgbClr val="E5E7EB"/>
                </a:solidFill>
              </a:rPr>
              <a:t>Forgives wrong element when UI controls are clustered</a:t>
            </a:r>
            <a:endParaRPr lang="en-US" sz="1240" dirty="0"/>
          </a:p>
        </p:txBody>
      </p:sp>
      <p:sp>
        <p:nvSpPr>
          <p:cNvPr id="8" name="Text 6"/>
          <p:cNvSpPr/>
          <p:nvPr/>
        </p:nvSpPr>
        <p:spPr>
          <a:xfrm>
            <a:off x="1097280" y="4434840"/>
            <a:ext cx="3657600" cy="310896"/>
          </a:xfrm>
          <a:prstGeom prst="rect">
            <a:avLst/>
          </a:prstGeom>
          <a:noFill/>
          <a:ln/>
        </p:spPr>
        <p:txBody>
          <a:bodyPr wrap="square" lIns="0" tIns="0" rIns="0" bIns="0" rtlCol="0" anchor="ctr"/>
          <a:lstStyle/>
          <a:p>
            <a:pPr indent="0" marL="0">
              <a:buNone/>
            </a:pPr>
            <a:r>
              <a:rPr lang="en-US" sz="1250" b="1" dirty="0">
                <a:solidFill>
                  <a:srgbClr val="FB7185"/>
                </a:solidFill>
              </a:rPr>
              <a:t>Symptom: early checkpoints looked best, then “declined.”</a:t>
            </a:r>
            <a:endParaRPr lang="en-US" sz="1250" dirty="0"/>
          </a:p>
        </p:txBody>
      </p:sp>
      <p:sp>
        <p:nvSpPr>
          <p:cNvPr id="9" name="Shape 7"/>
          <p:cNvSpPr/>
          <p:nvPr/>
        </p:nvSpPr>
        <p:spPr>
          <a:xfrm>
            <a:off x="6080760" y="1371600"/>
            <a:ext cx="5074920" cy="4389120"/>
          </a:xfrm>
          <a:prstGeom prst="roundRect">
            <a:avLst>
              <a:gd name="adj" fmla="val 1667"/>
            </a:avLst>
          </a:prstGeom>
          <a:solidFill>
            <a:srgbClr val="111827"/>
          </a:solidFill>
          <a:ln w="12700">
            <a:solidFill>
              <a:srgbClr val="334155">
                <a:alpha val="85000"/>
              </a:srgbClr>
            </a:solidFill>
            <a:prstDash val="solid"/>
          </a:ln>
        </p:spPr>
      </p:sp>
      <p:sp>
        <p:nvSpPr>
          <p:cNvPr id="10" name="Text 8"/>
          <p:cNvSpPr/>
          <p:nvPr/>
        </p:nvSpPr>
        <p:spPr>
          <a:xfrm>
            <a:off x="6355080" y="1691640"/>
            <a:ext cx="2286000" cy="228600"/>
          </a:xfrm>
          <a:prstGeom prst="rect">
            <a:avLst/>
          </a:prstGeom>
          <a:noFill/>
          <a:ln/>
        </p:spPr>
        <p:txBody>
          <a:bodyPr wrap="square" lIns="0" tIns="0" rIns="0" bIns="0" rtlCol="0" anchor="ctr"/>
          <a:lstStyle/>
          <a:p>
            <a:pPr indent="0" marL="0">
              <a:buNone/>
            </a:pPr>
            <a:r>
              <a:rPr lang="en-US" sz="1500" b="1" dirty="0">
                <a:solidFill>
                  <a:srgbClr val="34D399"/>
                </a:solidFill>
              </a:rPr>
              <a:t>Element-accuracy</a:t>
            </a:r>
            <a:endParaRPr lang="en-US" sz="1500" dirty="0"/>
          </a:p>
        </p:txBody>
      </p:sp>
      <p:sp>
        <p:nvSpPr>
          <p:cNvPr id="11" name="Text 9"/>
          <p:cNvSpPr/>
          <p:nvPr/>
        </p:nvSpPr>
        <p:spPr>
          <a:xfrm>
            <a:off x="6355080" y="2148840"/>
            <a:ext cx="4069080" cy="1554480"/>
          </a:xfrm>
          <a:prstGeom prst="rect">
            <a:avLst/>
          </a:prstGeom>
          <a:noFill/>
          <a:ln/>
        </p:spPr>
        <p:txBody>
          <a:bodyPr wrap="square" lIns="1016" tIns="1016" rIns="1016" bIns="1016" rtlCol="0" anchor="ctr">
            <a:normAutofit/>
          </a:bodyPr>
          <a:lstStyle/>
          <a:p>
            <a:pPr marL="127000" indent="-127000">
              <a:buSzPct val="100000"/>
              <a:buChar char="•"/>
            </a:pPr>
            <a:r>
              <a:rPr lang="en-US" sz="1240" dirty="0">
                <a:solidFill>
                  <a:srgbClr val="E5E7EB"/>
                </a:solidFill>
              </a:rPr>
              <a:t>Correct iff predicted element_id equals GT element_id</a:t>
            </a:r>
            <a:endParaRPr lang="en-US" sz="1240" dirty="0"/>
          </a:p>
          <a:p>
            <a:pPr marL="127000" indent="-127000">
              <a:buSzPct val="100000"/>
              <a:buChar char="•"/>
            </a:pPr>
            <a:r>
              <a:rPr lang="en-US" sz="1240" dirty="0">
                <a:solidFill>
                  <a:srgbClr val="E5E7EB"/>
                </a:solidFill>
              </a:rPr>
              <a:t>Matches production: wrong element fires wrong handler</a:t>
            </a:r>
            <a:endParaRPr lang="en-US" sz="1240" dirty="0"/>
          </a:p>
          <a:p>
            <a:pPr marL="127000" indent="-127000">
              <a:buSzPct val="100000"/>
              <a:buChar char="•"/>
            </a:pPr>
            <a:r>
              <a:rPr lang="en-US" sz="1240" dirty="0">
                <a:solidFill>
                  <a:srgbClr val="E5E7EB"/>
                </a:solidFill>
              </a:rPr>
              <a:t>Used for validation and headline results</a:t>
            </a:r>
            <a:endParaRPr lang="en-US" sz="1240" dirty="0"/>
          </a:p>
        </p:txBody>
      </p:sp>
      <p:sp>
        <p:nvSpPr>
          <p:cNvPr id="12" name="Text 10"/>
          <p:cNvSpPr/>
          <p:nvPr/>
        </p:nvSpPr>
        <p:spPr>
          <a:xfrm>
            <a:off x="6355080" y="4434840"/>
            <a:ext cx="4023360" cy="310896"/>
          </a:xfrm>
          <a:prstGeom prst="rect">
            <a:avLst/>
          </a:prstGeom>
          <a:noFill/>
          <a:ln/>
        </p:spPr>
        <p:txBody>
          <a:bodyPr wrap="square" lIns="0" tIns="0" rIns="0" bIns="0" rtlCol="0" anchor="ctr"/>
          <a:lstStyle/>
          <a:p>
            <a:pPr indent="0" marL="0">
              <a:buNone/>
            </a:pPr>
            <a:r>
              <a:rPr lang="en-US" sz="1250" b="1" dirty="0">
                <a:solidFill>
                  <a:srgbClr val="34D399"/>
                </a:solidFill>
              </a:rPr>
              <a:t>Same predictions: learning curve became monotonic through late checkpoints.</a:t>
            </a:r>
            <a:endParaRPr lang="en-US" sz="125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METHODOLOGY</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Ablation chain: each change tested a specific hypothesis</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640080" y="1417320"/>
            <a:ext cx="10972800" cy="4434840"/>
          </a:xfrm>
          <a:prstGeom prst="roundRect">
            <a:avLst>
              <a:gd name="adj" fmla="val 1649"/>
            </a:avLst>
          </a:prstGeom>
          <a:solidFill>
            <a:srgbClr val="111827"/>
          </a:solidFill>
          <a:ln w="12700">
            <a:solidFill>
              <a:srgbClr val="334155">
                <a:alpha val="85000"/>
              </a:srgbClr>
            </a:solidFill>
            <a:prstDash val="solid"/>
          </a:ln>
        </p:spPr>
      </p:sp>
      <p:sp>
        <p:nvSpPr>
          <p:cNvPr id="6" name="Shape 4"/>
          <p:cNvSpPr/>
          <p:nvPr/>
        </p:nvSpPr>
        <p:spPr>
          <a:xfrm>
            <a:off x="914400" y="1965960"/>
            <a:ext cx="2057400" cy="960120"/>
          </a:xfrm>
          <a:prstGeom prst="roundRect">
            <a:avLst>
              <a:gd name="adj" fmla="val 5714"/>
            </a:avLst>
          </a:prstGeom>
          <a:solidFill>
            <a:srgbClr val="60A5FA">
              <a:alpha val="92000"/>
            </a:srgbClr>
          </a:solidFill>
          <a:ln w="15240">
            <a:solidFill>
              <a:srgbClr val="60A5FA"/>
            </a:solidFill>
            <a:prstDash val="solid"/>
          </a:ln>
        </p:spPr>
      </p:sp>
      <p:sp>
        <p:nvSpPr>
          <p:cNvPr id="7" name="Text 5"/>
          <p:cNvSpPr/>
          <p:nvPr/>
        </p:nvSpPr>
        <p:spPr>
          <a:xfrm>
            <a:off x="987552" y="2075688"/>
            <a:ext cx="1911096" cy="79552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Run I</a:t>
            </a:r>
            <a:endParaRPr lang="en-US" sz="1020" dirty="0"/>
          </a:p>
          <a:p>
            <a:pPr algn="ctr" indent="0" marL="0">
              <a:buNone/>
            </a:pPr>
            <a:r>
              <a:rPr lang="en-US" sz="1020" b="1" dirty="0">
                <a:solidFill>
                  <a:srgbClr val="FFFFFF"/>
                </a:solidFill>
              </a:rPr>
              <a:t>Path W v1 SFT</a:t>
            </a:r>
            <a:endParaRPr lang="en-US" sz="1020" dirty="0"/>
          </a:p>
          <a:p>
            <a:pPr algn="ctr" indent="0" marL="0">
              <a:buNone/>
            </a:pPr>
            <a:r>
              <a:rPr lang="en-US" sz="1020" b="1" dirty="0">
                <a:solidFill>
                  <a:srgbClr val="FFFFFF"/>
                </a:solidFill>
              </a:rPr>
              <a:t>0.4930</a:t>
            </a:r>
            <a:endParaRPr lang="en-US" sz="1020" dirty="0"/>
          </a:p>
        </p:txBody>
      </p:sp>
      <p:sp>
        <p:nvSpPr>
          <p:cNvPr id="8" name="Shape 6"/>
          <p:cNvSpPr/>
          <p:nvPr/>
        </p:nvSpPr>
        <p:spPr>
          <a:xfrm>
            <a:off x="2999232" y="2450592"/>
            <a:ext cx="457200" cy="0"/>
          </a:xfrm>
          <a:prstGeom prst="line">
            <a:avLst/>
          </a:prstGeom>
          <a:noFill/>
          <a:ln w="19050">
            <a:solidFill>
              <a:srgbClr val="94A3B8"/>
            </a:solidFill>
            <a:prstDash val="solid"/>
            <a:headEnd type="none"/>
            <a:tailEnd type="triangle"/>
          </a:ln>
        </p:spPr>
      </p:sp>
      <p:sp>
        <p:nvSpPr>
          <p:cNvPr id="9" name="Shape 7"/>
          <p:cNvSpPr/>
          <p:nvPr/>
        </p:nvSpPr>
        <p:spPr>
          <a:xfrm>
            <a:off x="3566160" y="1965960"/>
            <a:ext cx="2057400" cy="960120"/>
          </a:xfrm>
          <a:prstGeom prst="roundRect">
            <a:avLst>
              <a:gd name="adj" fmla="val 5714"/>
            </a:avLst>
          </a:prstGeom>
          <a:solidFill>
            <a:srgbClr val="FB7185">
              <a:alpha val="92000"/>
            </a:srgbClr>
          </a:solidFill>
          <a:ln w="15240">
            <a:solidFill>
              <a:srgbClr val="FB7185"/>
            </a:solidFill>
            <a:prstDash val="solid"/>
          </a:ln>
        </p:spPr>
      </p:sp>
      <p:sp>
        <p:nvSpPr>
          <p:cNvPr id="10" name="Text 8"/>
          <p:cNvSpPr/>
          <p:nvPr/>
        </p:nvSpPr>
        <p:spPr>
          <a:xfrm>
            <a:off x="3639312" y="2075688"/>
            <a:ext cx="1911096" cy="79552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Run J</a:t>
            </a:r>
            <a:endParaRPr lang="en-US" sz="1020" dirty="0"/>
          </a:p>
          <a:p>
            <a:pPr algn="ctr" indent="0" marL="0">
              <a:buNone/>
            </a:pPr>
            <a:r>
              <a:rPr lang="en-US" sz="1020" b="1" dirty="0">
                <a:solidFill>
                  <a:srgbClr val="FFFFFF"/>
                </a:solidFill>
              </a:rPr>
              <a:t>+ Cui class weighting</a:t>
            </a:r>
            <a:endParaRPr lang="en-US" sz="1020" dirty="0"/>
          </a:p>
          <a:p>
            <a:pPr algn="ctr" indent="0" marL="0">
              <a:buNone/>
            </a:pPr>
            <a:r>
              <a:rPr lang="en-US" sz="1020" b="1" dirty="0">
                <a:solidFill>
                  <a:srgbClr val="FFFFFF"/>
                </a:solidFill>
              </a:rPr>
              <a:t>0.4785</a:t>
            </a:r>
            <a:endParaRPr lang="en-US" sz="1020" dirty="0"/>
          </a:p>
        </p:txBody>
      </p:sp>
      <p:sp>
        <p:nvSpPr>
          <p:cNvPr id="11" name="Shape 9"/>
          <p:cNvSpPr/>
          <p:nvPr/>
        </p:nvSpPr>
        <p:spPr>
          <a:xfrm>
            <a:off x="5650992" y="2450592"/>
            <a:ext cx="457200" cy="0"/>
          </a:xfrm>
          <a:prstGeom prst="line">
            <a:avLst/>
          </a:prstGeom>
          <a:noFill/>
          <a:ln w="19050">
            <a:solidFill>
              <a:srgbClr val="94A3B8"/>
            </a:solidFill>
            <a:prstDash val="solid"/>
            <a:headEnd type="none"/>
            <a:tailEnd type="triangle"/>
          </a:ln>
        </p:spPr>
      </p:sp>
      <p:sp>
        <p:nvSpPr>
          <p:cNvPr id="12" name="Shape 10"/>
          <p:cNvSpPr/>
          <p:nvPr/>
        </p:nvSpPr>
        <p:spPr>
          <a:xfrm>
            <a:off x="6217920" y="1965960"/>
            <a:ext cx="2057400" cy="960120"/>
          </a:xfrm>
          <a:prstGeom prst="roundRect">
            <a:avLst>
              <a:gd name="adj" fmla="val 5714"/>
            </a:avLst>
          </a:prstGeom>
          <a:solidFill>
            <a:srgbClr val="34D399">
              <a:alpha val="92000"/>
            </a:srgbClr>
          </a:solidFill>
          <a:ln w="15240">
            <a:solidFill>
              <a:srgbClr val="34D399"/>
            </a:solidFill>
            <a:prstDash val="solid"/>
          </a:ln>
        </p:spPr>
      </p:sp>
      <p:sp>
        <p:nvSpPr>
          <p:cNvPr id="13" name="Text 11"/>
          <p:cNvSpPr/>
          <p:nvPr/>
        </p:nvSpPr>
        <p:spPr>
          <a:xfrm>
            <a:off x="6291072" y="2075688"/>
            <a:ext cx="1911096" cy="79552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Run K</a:t>
            </a:r>
            <a:endParaRPr lang="en-US" sz="1020" dirty="0"/>
          </a:p>
          <a:p>
            <a:pPr algn="ctr" indent="0" marL="0">
              <a:buNone/>
            </a:pPr>
            <a:r>
              <a:rPr lang="en-US" sz="1020" b="1" dirty="0">
                <a:solidFill>
                  <a:srgbClr val="FFFFFF"/>
                </a:solidFill>
              </a:rPr>
              <a:t>+ CAP action schema</a:t>
            </a:r>
            <a:endParaRPr lang="en-US" sz="1020" dirty="0"/>
          </a:p>
          <a:p>
            <a:pPr algn="ctr" indent="0" marL="0">
              <a:buNone/>
            </a:pPr>
            <a:r>
              <a:rPr lang="en-US" sz="1020" b="1" dirty="0">
                <a:solidFill>
                  <a:srgbClr val="FFFFFF"/>
                </a:solidFill>
              </a:rPr>
              <a:t>0.5235</a:t>
            </a:r>
            <a:endParaRPr lang="en-US" sz="1020" dirty="0"/>
          </a:p>
        </p:txBody>
      </p:sp>
      <p:sp>
        <p:nvSpPr>
          <p:cNvPr id="14" name="Shape 12"/>
          <p:cNvSpPr/>
          <p:nvPr/>
        </p:nvSpPr>
        <p:spPr>
          <a:xfrm>
            <a:off x="8302752" y="2450592"/>
            <a:ext cx="457200" cy="0"/>
          </a:xfrm>
          <a:prstGeom prst="line">
            <a:avLst/>
          </a:prstGeom>
          <a:noFill/>
          <a:ln w="19050">
            <a:solidFill>
              <a:srgbClr val="94A3B8"/>
            </a:solidFill>
            <a:prstDash val="solid"/>
            <a:headEnd type="none"/>
            <a:tailEnd type="triangle"/>
          </a:ln>
        </p:spPr>
      </p:sp>
      <p:sp>
        <p:nvSpPr>
          <p:cNvPr id="15" name="Shape 13"/>
          <p:cNvSpPr/>
          <p:nvPr/>
        </p:nvSpPr>
        <p:spPr>
          <a:xfrm>
            <a:off x="8869680" y="1965960"/>
            <a:ext cx="2057400" cy="960120"/>
          </a:xfrm>
          <a:prstGeom prst="roundRect">
            <a:avLst>
              <a:gd name="adj" fmla="val 5714"/>
            </a:avLst>
          </a:prstGeom>
          <a:solidFill>
            <a:srgbClr val="22D3EE">
              <a:alpha val="92000"/>
            </a:srgbClr>
          </a:solidFill>
          <a:ln w="15240">
            <a:solidFill>
              <a:srgbClr val="22D3EE"/>
            </a:solidFill>
            <a:prstDash val="solid"/>
          </a:ln>
        </p:spPr>
      </p:sp>
      <p:sp>
        <p:nvSpPr>
          <p:cNvPr id="16" name="Text 14"/>
          <p:cNvSpPr/>
          <p:nvPr/>
        </p:nvSpPr>
        <p:spPr>
          <a:xfrm>
            <a:off x="8942832" y="2075688"/>
            <a:ext cx="1911096" cy="79552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Run L</a:t>
            </a:r>
            <a:endParaRPr lang="en-US" sz="1020" dirty="0"/>
          </a:p>
          <a:p>
            <a:pPr algn="ctr" indent="0" marL="0">
              <a:buNone/>
            </a:pPr>
            <a:r>
              <a:rPr lang="en-US" sz="1020" b="1" dirty="0">
                <a:solidFill>
                  <a:srgbClr val="FFFFFF"/>
                </a:solidFill>
              </a:rPr>
              <a:t>+ 1-step history</a:t>
            </a:r>
            <a:endParaRPr lang="en-US" sz="1020" dirty="0"/>
          </a:p>
          <a:p>
            <a:pPr algn="ctr" indent="0" marL="0">
              <a:buNone/>
            </a:pPr>
            <a:r>
              <a:rPr lang="en-US" sz="1020" b="1" dirty="0">
                <a:solidFill>
                  <a:srgbClr val="FFFFFF"/>
                </a:solidFill>
              </a:rPr>
              <a:t>0.5311</a:t>
            </a:r>
            <a:endParaRPr lang="en-US" sz="1020" dirty="0"/>
          </a:p>
        </p:txBody>
      </p:sp>
      <p:sp>
        <p:nvSpPr>
          <p:cNvPr id="17" name="Text 15"/>
          <p:cNvSpPr/>
          <p:nvPr/>
        </p:nvSpPr>
        <p:spPr>
          <a:xfrm>
            <a:off x="914400" y="3657600"/>
            <a:ext cx="1828800" cy="228600"/>
          </a:xfrm>
          <a:prstGeom prst="rect">
            <a:avLst/>
          </a:prstGeom>
          <a:noFill/>
          <a:ln/>
        </p:spPr>
        <p:txBody>
          <a:bodyPr wrap="square" lIns="0" tIns="0" rIns="0" bIns="0" rtlCol="0" anchor="ctr"/>
          <a:lstStyle/>
          <a:p>
            <a:pPr indent="0" marL="0">
              <a:buNone/>
            </a:pPr>
            <a:r>
              <a:rPr lang="en-US" sz="1500" b="1" dirty="0">
                <a:solidFill>
                  <a:srgbClr val="E5E7EB"/>
                </a:solidFill>
              </a:rPr>
              <a:t>Interpretation</a:t>
            </a:r>
            <a:endParaRPr lang="en-US" sz="1500" dirty="0"/>
          </a:p>
        </p:txBody>
      </p:sp>
      <p:sp>
        <p:nvSpPr>
          <p:cNvPr id="18" name="Text 16"/>
          <p:cNvSpPr/>
          <p:nvPr/>
        </p:nvSpPr>
        <p:spPr>
          <a:xfrm>
            <a:off x="914400" y="4041648"/>
            <a:ext cx="9966960" cy="914400"/>
          </a:xfrm>
          <a:prstGeom prst="rect">
            <a:avLst/>
          </a:prstGeom>
          <a:noFill/>
          <a:ln/>
        </p:spPr>
        <p:txBody>
          <a:bodyPr wrap="square" lIns="1016" tIns="1016" rIns="1016" bIns="1016" rtlCol="0" anchor="ctr">
            <a:normAutofit/>
          </a:bodyPr>
          <a:lstStyle/>
          <a:p>
            <a:pPr marL="127000" indent="-127000">
              <a:buSzPct val="100000"/>
              <a:buChar char="•"/>
            </a:pPr>
            <a:r>
              <a:rPr lang="en-US" sz="1140" dirty="0">
                <a:solidFill>
                  <a:srgbClr val="E5E7EB"/>
                </a:solidFill>
              </a:rPr>
              <a:t>Run I proved a11y-native SFT clears zero-shot.</a:t>
            </a:r>
            <a:endParaRPr lang="en-US" sz="1140" dirty="0"/>
          </a:p>
          <a:p>
            <a:pPr marL="127000" indent="-127000">
              <a:buSzPct val="100000"/>
              <a:buChar char="•"/>
            </a:pPr>
            <a:r>
              <a:rPr lang="en-US" sz="1140" dirty="0">
                <a:solidFill>
                  <a:srgbClr val="E5E7EB"/>
                </a:solidFill>
              </a:rPr>
              <a:t>Run J showed loss reweighting was the wrong intervention.</a:t>
            </a:r>
            <a:endParaRPr lang="en-US" sz="1140" dirty="0"/>
          </a:p>
          <a:p>
            <a:pPr marL="127000" indent="-127000">
              <a:buSzPct val="100000"/>
              <a:buChar char="•"/>
            </a:pPr>
            <a:r>
              <a:rPr lang="en-US" sz="1140" dirty="0">
                <a:solidFill>
                  <a:srgbClr val="E5E7EB"/>
                </a:solidFill>
              </a:rPr>
              <a:t>Run K showed hierarchical/CAP schema fixes open_app class collision.</a:t>
            </a:r>
            <a:endParaRPr lang="en-US" sz="1140" dirty="0"/>
          </a:p>
          <a:p>
            <a:pPr marL="127000" indent="-127000">
              <a:buSzPct val="100000"/>
              <a:buChar char="•"/>
            </a:pPr>
            <a:r>
              <a:rPr lang="en-US" sz="1140" dirty="0">
                <a:solidFill>
                  <a:srgbClr val="E5E7EB"/>
                </a:solidFill>
              </a:rPr>
              <a:t>Run L showed prior-action context substantially repairs scroll direction errors.</a:t>
            </a:r>
            <a:endParaRPr lang="en-US" sz="114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CAP SCHEMA</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Run K: hierarchical action schema fixed open_app</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777240" y="1325880"/>
            <a:ext cx="5074920" cy="4389120"/>
          </a:xfrm>
          <a:prstGeom prst="roundRect">
            <a:avLst>
              <a:gd name="adj" fmla="val 1667"/>
            </a:avLst>
          </a:prstGeom>
          <a:solidFill>
            <a:srgbClr val="111827"/>
          </a:solidFill>
          <a:ln w="12700">
            <a:solidFill>
              <a:srgbClr val="334155">
                <a:alpha val="85000"/>
              </a:srgbClr>
            </a:solidFill>
            <a:prstDash val="solid"/>
          </a:ln>
        </p:spPr>
      </p:sp>
      <p:sp>
        <p:nvSpPr>
          <p:cNvPr id="6" name="Text 4"/>
          <p:cNvSpPr/>
          <p:nvPr/>
        </p:nvSpPr>
        <p:spPr>
          <a:xfrm>
            <a:off x="1051560" y="1664208"/>
            <a:ext cx="2011680" cy="228600"/>
          </a:xfrm>
          <a:prstGeom prst="rect">
            <a:avLst/>
          </a:prstGeom>
          <a:noFill/>
          <a:ln/>
        </p:spPr>
        <p:txBody>
          <a:bodyPr wrap="square" lIns="0" tIns="0" rIns="0" bIns="0" rtlCol="0" anchor="ctr"/>
          <a:lstStyle/>
          <a:p>
            <a:pPr indent="0" marL="0">
              <a:buNone/>
            </a:pPr>
            <a:r>
              <a:rPr lang="en-US" sz="1500" b="1" dirty="0">
                <a:solidFill>
                  <a:srgbClr val="FBBF24"/>
                </a:solidFill>
              </a:rPr>
              <a:t>Flat v1 schema</a:t>
            </a:r>
            <a:endParaRPr lang="en-US" sz="1500" dirty="0"/>
          </a:p>
        </p:txBody>
      </p:sp>
      <p:sp>
        <p:nvSpPr>
          <p:cNvPr id="7" name="Text 5"/>
          <p:cNvSpPr/>
          <p:nvPr/>
        </p:nvSpPr>
        <p:spPr>
          <a:xfrm>
            <a:off x="1051560" y="2148840"/>
            <a:ext cx="4206240" cy="1554480"/>
          </a:xfrm>
          <a:prstGeom prst="rect">
            <a:avLst/>
          </a:prstGeom>
          <a:noFill/>
          <a:ln/>
        </p:spPr>
        <p:txBody>
          <a:bodyPr wrap="square" lIns="635" tIns="635" rIns="635" bIns="635" rtlCol="0" anchor="ctr">
            <a:normAutofit/>
          </a:bodyPr>
          <a:lstStyle/>
          <a:p>
            <a:pPr indent="0" marL="0">
              <a:buNone/>
            </a:pPr>
            <a:r>
              <a:rPr lang="en-US" sz="1400" dirty="0">
                <a:solidFill>
                  <a:srgbClr val="E5E7EB"/>
                </a:solidFill>
                <a:latin typeface="Aptos Mono" pitchFamily="34" charset="0"/>
                <a:ea typeface="Aptos Mono" pitchFamily="34" charset="-122"/>
                <a:cs typeface="Aptos Mono" pitchFamily="34" charset="-120"/>
              </a:rPr>
              <a:t>{"action":"open_app",</a:t>
            </a:r>
            <a:endParaRPr lang="en-US" sz="1400" dirty="0"/>
          </a:p>
          <a:p>
            <a:pPr indent="0" marL="0">
              <a:buNone/>
            </a:pPr>
            <a:r>
              <a:rPr lang="en-US" sz="1400" dirty="0">
                <a:solidFill>
                  <a:srgbClr val="E5E7EB"/>
                </a:solidFill>
                <a:latin typeface="Aptos Mono" pitchFamily="34" charset="0"/>
                <a:ea typeface="Aptos Mono" pitchFamily="34" charset="-122"/>
                <a:cs typeface="Aptos Mono" pitchFamily="34" charset="-120"/>
              </a:rPr>
              <a:t> "app_name":"Slack"}</a:t>
            </a:r>
            <a:endParaRPr lang="en-US" sz="1400" dirty="0"/>
          </a:p>
          <a:p>
            <a:pPr indent="0" marL="0">
              <a:buNone/>
            </a:pPr>
            <a:endParaRPr lang="en-US" sz="1400" dirty="0"/>
          </a:p>
          <a:p>
            <a:pPr indent="0" marL="0">
              <a:buNone/>
            </a:pPr>
            <a:r>
              <a:rPr lang="en-US" sz="1400" dirty="0">
                <a:solidFill>
                  <a:srgbClr val="E5E7EB"/>
                </a:solidFill>
                <a:latin typeface="Aptos Mono" pitchFamily="34" charset="0"/>
                <a:ea typeface="Aptos Mono" pitchFamily="34" charset="-122"/>
                <a:cs typeface="Aptos Mono" pitchFamily="34" charset="-120"/>
              </a:rPr>
              <a:t>{"action":"tap",</a:t>
            </a:r>
            <a:endParaRPr lang="en-US" sz="1400" dirty="0"/>
          </a:p>
          <a:p>
            <a:pPr indent="0" marL="0">
              <a:buNone/>
            </a:pPr>
            <a:r>
              <a:rPr lang="en-US" sz="1400" dirty="0">
                <a:solidFill>
                  <a:srgbClr val="E5E7EB"/>
                </a:solidFill>
                <a:latin typeface="Aptos Mono" pitchFamily="34" charset="0"/>
                <a:ea typeface="Aptos Mono" pitchFamily="34" charset="-122"/>
                <a:cs typeface="Aptos Mono" pitchFamily="34" charset="-120"/>
              </a:rPr>
              <a:t> "element_id": 7}</a:t>
            </a:r>
            <a:endParaRPr lang="en-US" sz="1400" dirty="0"/>
          </a:p>
        </p:txBody>
      </p:sp>
      <p:sp>
        <p:nvSpPr>
          <p:cNvPr id="8" name="Text 6"/>
          <p:cNvSpPr/>
          <p:nvPr/>
        </p:nvSpPr>
        <p:spPr>
          <a:xfrm>
            <a:off x="1051560" y="4251960"/>
            <a:ext cx="4114800" cy="438912"/>
          </a:xfrm>
          <a:prstGeom prst="rect">
            <a:avLst/>
          </a:prstGeom>
          <a:noFill/>
          <a:ln/>
        </p:spPr>
        <p:txBody>
          <a:bodyPr wrap="square" lIns="0" tIns="0" rIns="0" bIns="0" rtlCol="0" anchor="ctr"/>
          <a:lstStyle/>
          <a:p>
            <a:pPr indent="0" marL="0">
              <a:buNone/>
            </a:pPr>
            <a:r>
              <a:rPr lang="en-US" sz="1200" dirty="0">
                <a:solidFill>
                  <a:srgbClr val="94A3B8"/>
                </a:solidFill>
              </a:rPr>
              <a:t>Minority open_app competes directly with dominant tap in one flat distribution.</a:t>
            </a:r>
            <a:endParaRPr lang="en-US" sz="1200" dirty="0"/>
          </a:p>
        </p:txBody>
      </p:sp>
      <p:sp>
        <p:nvSpPr>
          <p:cNvPr id="9" name="Shape 7"/>
          <p:cNvSpPr/>
          <p:nvPr/>
        </p:nvSpPr>
        <p:spPr>
          <a:xfrm>
            <a:off x="6309360" y="1325880"/>
            <a:ext cx="4983480" cy="4389120"/>
          </a:xfrm>
          <a:prstGeom prst="roundRect">
            <a:avLst>
              <a:gd name="adj" fmla="val 1667"/>
            </a:avLst>
          </a:prstGeom>
          <a:solidFill>
            <a:srgbClr val="111827"/>
          </a:solidFill>
          <a:ln w="12700">
            <a:solidFill>
              <a:srgbClr val="334155">
                <a:alpha val="85000"/>
              </a:srgbClr>
            </a:solidFill>
            <a:prstDash val="solid"/>
          </a:ln>
        </p:spPr>
      </p:sp>
      <p:sp>
        <p:nvSpPr>
          <p:cNvPr id="10" name="Text 8"/>
          <p:cNvSpPr/>
          <p:nvPr/>
        </p:nvSpPr>
        <p:spPr>
          <a:xfrm>
            <a:off x="6583680" y="1664208"/>
            <a:ext cx="2560320" cy="228600"/>
          </a:xfrm>
          <a:prstGeom prst="rect">
            <a:avLst/>
          </a:prstGeom>
          <a:noFill/>
          <a:ln/>
        </p:spPr>
        <p:txBody>
          <a:bodyPr wrap="square" lIns="0" tIns="0" rIns="0" bIns="0" rtlCol="0" anchor="ctr"/>
          <a:lstStyle/>
          <a:p>
            <a:pPr indent="0" marL="0">
              <a:buNone/>
            </a:pPr>
            <a:r>
              <a:rPr lang="en-US" sz="1500" b="1" dirty="0">
                <a:solidFill>
                  <a:srgbClr val="34D399"/>
                </a:solidFill>
              </a:rPr>
              <a:t>CAP-style v2 schema</a:t>
            </a:r>
            <a:endParaRPr lang="en-US" sz="1500" dirty="0"/>
          </a:p>
        </p:txBody>
      </p:sp>
      <p:sp>
        <p:nvSpPr>
          <p:cNvPr id="11" name="Text 9"/>
          <p:cNvSpPr/>
          <p:nvPr/>
        </p:nvSpPr>
        <p:spPr>
          <a:xfrm>
            <a:off x="6583680" y="2148840"/>
            <a:ext cx="4023360" cy="1737360"/>
          </a:xfrm>
          <a:prstGeom prst="rect">
            <a:avLst/>
          </a:prstGeom>
          <a:noFill/>
          <a:ln/>
        </p:spPr>
        <p:txBody>
          <a:bodyPr wrap="square" lIns="635" tIns="635" rIns="635" bIns="635" rtlCol="0" anchor="ctr">
            <a:normAutofit/>
          </a:bodyPr>
          <a:lstStyle/>
          <a:p>
            <a:pPr indent="0" marL="0">
              <a:buNone/>
            </a:pPr>
            <a:r>
              <a:rPr lang="en-US" sz="1240" dirty="0">
                <a:solidFill>
                  <a:srgbClr val="E5E7EB"/>
                </a:solidFill>
                <a:latin typeface="Aptos Mono" pitchFamily="34" charset="0"/>
                <a:ea typeface="Aptos Mono" pitchFamily="34" charset="-122"/>
                <a:cs typeface="Aptos Mono" pitchFamily="34" charset="-120"/>
              </a:rPr>
              <a:t>{"action_type":"open_app",</a:t>
            </a:r>
            <a:endParaRPr lang="en-US" sz="1240" dirty="0"/>
          </a:p>
          <a:p>
            <a:pPr indent="0" marL="0">
              <a:buNone/>
            </a:pPr>
            <a:r>
              <a:rPr lang="en-US" sz="1240" dirty="0">
                <a:solidFill>
                  <a:srgbClr val="E5E7EB"/>
                </a:solidFill>
                <a:latin typeface="Aptos Mono" pitchFamily="34" charset="0"/>
                <a:ea typeface="Aptos Mono" pitchFamily="34" charset="-122"/>
                <a:cs typeface="Aptos Mono" pitchFamily="34" charset="-120"/>
              </a:rPr>
              <a:t> "action_args": {"app_name":"Slack"}}</a:t>
            </a:r>
            <a:endParaRPr lang="en-US" sz="1240" dirty="0"/>
          </a:p>
          <a:p>
            <a:pPr indent="0" marL="0">
              <a:buNone/>
            </a:pPr>
            <a:endParaRPr lang="en-US" sz="1240" dirty="0"/>
          </a:p>
          <a:p>
            <a:pPr indent="0" marL="0">
              <a:buNone/>
            </a:pPr>
            <a:r>
              <a:rPr lang="en-US" sz="1240" dirty="0">
                <a:solidFill>
                  <a:srgbClr val="E5E7EB"/>
                </a:solidFill>
                <a:latin typeface="Aptos Mono" pitchFamily="34" charset="0"/>
                <a:ea typeface="Aptos Mono" pitchFamily="34" charset="-122"/>
                <a:cs typeface="Aptos Mono" pitchFamily="34" charset="-120"/>
              </a:rPr>
              <a:t>{"action_type":"tap",</a:t>
            </a:r>
            <a:endParaRPr lang="en-US" sz="1240" dirty="0"/>
          </a:p>
          <a:p>
            <a:pPr indent="0" marL="0">
              <a:buNone/>
            </a:pPr>
            <a:r>
              <a:rPr lang="en-US" sz="1240" dirty="0">
                <a:solidFill>
                  <a:srgbClr val="E5E7EB"/>
                </a:solidFill>
                <a:latin typeface="Aptos Mono" pitchFamily="34" charset="0"/>
                <a:ea typeface="Aptos Mono" pitchFamily="34" charset="-122"/>
                <a:cs typeface="Aptos Mono" pitchFamily="34" charset="-120"/>
              </a:rPr>
              <a:t> "action_args": {"element_id":7}}</a:t>
            </a:r>
            <a:endParaRPr lang="en-US" sz="1240" dirty="0"/>
          </a:p>
        </p:txBody>
      </p:sp>
      <p:sp>
        <p:nvSpPr>
          <p:cNvPr id="12" name="Text 10"/>
          <p:cNvSpPr/>
          <p:nvPr/>
        </p:nvSpPr>
        <p:spPr>
          <a:xfrm>
            <a:off x="7452360" y="4343400"/>
            <a:ext cx="2011680" cy="438912"/>
          </a:xfrm>
          <a:prstGeom prst="rect">
            <a:avLst/>
          </a:prstGeom>
          <a:noFill/>
          <a:ln/>
        </p:spPr>
        <p:txBody>
          <a:bodyPr wrap="square" lIns="0" tIns="0" rIns="0" bIns="0" rtlCol="0" anchor="ctr"/>
          <a:lstStyle/>
          <a:p>
            <a:pPr algn="ctr" indent="0" marL="0">
              <a:buNone/>
            </a:pPr>
            <a:r>
              <a:rPr lang="en-US" sz="3000" b="1" dirty="0">
                <a:solidFill>
                  <a:srgbClr val="34D399"/>
                </a:solidFill>
              </a:rPr>
              <a:t>+69.9 pp</a:t>
            </a:r>
            <a:endParaRPr lang="en-US" sz="3000" dirty="0"/>
          </a:p>
        </p:txBody>
      </p:sp>
      <p:sp>
        <p:nvSpPr>
          <p:cNvPr id="13" name="Text 11"/>
          <p:cNvSpPr/>
          <p:nvPr/>
        </p:nvSpPr>
        <p:spPr>
          <a:xfrm>
            <a:off x="7452360" y="4846320"/>
            <a:ext cx="2011680" cy="320040"/>
          </a:xfrm>
          <a:prstGeom prst="rect">
            <a:avLst/>
          </a:prstGeom>
          <a:noFill/>
          <a:ln/>
        </p:spPr>
        <p:txBody>
          <a:bodyPr wrap="square" lIns="0" tIns="0" rIns="0" bIns="0" rtlCol="0" anchor="ctr"/>
          <a:lstStyle/>
          <a:p>
            <a:pPr algn="ctr" indent="0" marL="0">
              <a:buNone/>
            </a:pPr>
            <a:r>
              <a:rPr lang="en-US" sz="950" dirty="0">
                <a:solidFill>
                  <a:srgbClr val="94A3B8"/>
                </a:solidFill>
              </a:rPr>
              <a:t>open_app vs Run I</a:t>
            </a:r>
            <a:endParaRPr lang="en-US" sz="95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HISTORY</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Run L: prior-action history repaired scroll direction errors</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777240" y="1325880"/>
            <a:ext cx="4846320" cy="4389120"/>
          </a:xfrm>
          <a:prstGeom prst="roundRect">
            <a:avLst>
              <a:gd name="adj" fmla="val 1667"/>
            </a:avLst>
          </a:prstGeom>
          <a:solidFill>
            <a:srgbClr val="111827"/>
          </a:solidFill>
          <a:ln w="12700">
            <a:solidFill>
              <a:srgbClr val="334155">
                <a:alpha val="85000"/>
              </a:srgbClr>
            </a:solidFill>
            <a:prstDash val="solid"/>
          </a:ln>
        </p:spPr>
      </p:sp>
      <p:sp>
        <p:nvSpPr>
          <p:cNvPr id="6" name="Text 4"/>
          <p:cNvSpPr/>
          <p:nvPr/>
        </p:nvSpPr>
        <p:spPr>
          <a:xfrm>
            <a:off x="1051560" y="1664208"/>
            <a:ext cx="2011680" cy="228600"/>
          </a:xfrm>
          <a:prstGeom prst="rect">
            <a:avLst/>
          </a:prstGeom>
          <a:noFill/>
          <a:ln/>
        </p:spPr>
        <p:txBody>
          <a:bodyPr wrap="square" lIns="0" tIns="0" rIns="0" bIns="0" rtlCol="0" anchor="ctr"/>
          <a:lstStyle/>
          <a:p>
            <a:pPr indent="0" marL="0">
              <a:buNone/>
            </a:pPr>
            <a:r>
              <a:rPr lang="en-US" sz="1500" b="1" dirty="0">
                <a:solidFill>
                  <a:srgbClr val="22D3EE"/>
                </a:solidFill>
              </a:rPr>
              <a:t>v3 input change</a:t>
            </a:r>
            <a:endParaRPr lang="en-US" sz="1500" dirty="0"/>
          </a:p>
        </p:txBody>
      </p:sp>
      <p:sp>
        <p:nvSpPr>
          <p:cNvPr id="7" name="Text 5"/>
          <p:cNvSpPr/>
          <p:nvPr/>
        </p:nvSpPr>
        <p:spPr>
          <a:xfrm>
            <a:off x="1051560" y="2148840"/>
            <a:ext cx="3977640" cy="1828800"/>
          </a:xfrm>
          <a:prstGeom prst="rect">
            <a:avLst/>
          </a:prstGeom>
          <a:noFill/>
          <a:ln/>
        </p:spPr>
        <p:txBody>
          <a:bodyPr wrap="square" lIns="635" tIns="635" rIns="635" bIns="635" rtlCol="0" anchor="ctr">
            <a:normAutofit/>
          </a:bodyPr>
          <a:lstStyle/>
          <a:p>
            <a:pPr indent="0" marL="0">
              <a:buNone/>
            </a:pPr>
            <a:r>
              <a:rPr lang="en-US" sz="1220" dirty="0">
                <a:solidFill>
                  <a:srgbClr val="E5E7EB"/>
                </a:solidFill>
                <a:latin typeface="Aptos Mono" pitchFamily="34" charset="0"/>
                <a:ea typeface="Aptos Mono" pitchFamily="34" charset="-122"/>
                <a:cs typeface="Aptos Mono" pitchFamily="34" charset="-120"/>
              </a:rPr>
              <a:t>Previous action:</a:t>
            </a:r>
            <a:endParaRPr lang="en-US" sz="1220" dirty="0"/>
          </a:p>
          <a:p>
            <a:pPr indent="0" marL="0">
              <a:buNone/>
            </a:pPr>
            <a:r>
              <a:rPr lang="en-US" sz="1220" dirty="0">
                <a:solidFill>
                  <a:srgbClr val="E5E7EB"/>
                </a:solidFill>
                <a:latin typeface="Aptos Mono" pitchFamily="34" charset="0"/>
                <a:ea typeface="Aptos Mono" pitchFamily="34" charset="-122"/>
                <a:cs typeface="Aptos Mono" pitchFamily="34" charset="-120"/>
              </a:rPr>
              <a:t>{"action_type":"scroll",</a:t>
            </a:r>
            <a:endParaRPr lang="en-US" sz="1220" dirty="0"/>
          </a:p>
          <a:p>
            <a:pPr indent="0" marL="0">
              <a:buNone/>
            </a:pPr>
            <a:r>
              <a:rPr lang="en-US" sz="1220" dirty="0">
                <a:solidFill>
                  <a:srgbClr val="E5E7EB"/>
                </a:solidFill>
                <a:latin typeface="Aptos Mono" pitchFamily="34" charset="0"/>
                <a:ea typeface="Aptos Mono" pitchFamily="34" charset="-122"/>
                <a:cs typeface="Aptos Mono" pitchFamily="34" charset="-120"/>
              </a:rPr>
              <a:t> "action_args":{"direction":"down"}}</a:t>
            </a:r>
            <a:endParaRPr lang="en-US" sz="1220" dirty="0"/>
          </a:p>
          <a:p>
            <a:pPr indent="0" marL="0">
              <a:buNone/>
            </a:pPr>
            <a:endParaRPr lang="en-US" sz="1220" dirty="0"/>
          </a:p>
          <a:p>
            <a:pPr indent="0" marL="0">
              <a:buNone/>
            </a:pPr>
            <a:r>
              <a:rPr lang="en-US" sz="1220" dirty="0">
                <a:solidFill>
                  <a:srgbClr val="E5E7EB"/>
                </a:solidFill>
                <a:latin typeface="Aptos Mono" pitchFamily="34" charset="0"/>
                <a:ea typeface="Aptos Mono" pitchFamily="34" charset="-122"/>
                <a:cs typeface="Aptos Mono" pitchFamily="34" charset="-120"/>
              </a:rPr>
              <a:t>Current screen + element legend → next action</a:t>
            </a:r>
            <a:endParaRPr lang="en-US" sz="1220" dirty="0"/>
          </a:p>
        </p:txBody>
      </p:sp>
      <p:sp>
        <p:nvSpPr>
          <p:cNvPr id="8" name="Text 6"/>
          <p:cNvSpPr/>
          <p:nvPr/>
        </p:nvSpPr>
        <p:spPr>
          <a:xfrm>
            <a:off x="1051560" y="4480560"/>
            <a:ext cx="3931920" cy="502920"/>
          </a:xfrm>
          <a:prstGeom prst="rect">
            <a:avLst/>
          </a:prstGeom>
          <a:noFill/>
          <a:ln/>
        </p:spPr>
        <p:txBody>
          <a:bodyPr wrap="square" lIns="0" tIns="0" rIns="0" bIns="0" rtlCol="0" anchor="ctr"/>
          <a:lstStyle/>
          <a:p>
            <a:pPr indent="0" marL="0">
              <a:buNone/>
            </a:pPr>
            <a:r>
              <a:rPr lang="en-US" sz="1120" dirty="0">
                <a:solidFill>
                  <a:srgbClr val="94A3B8"/>
                </a:solidFill>
              </a:rPr>
              <a:t>Single-variable A/B vs Run K: same lr, rank, schema, val selection; only prior-action prefix added.</a:t>
            </a:r>
            <a:endParaRPr lang="en-US" sz="1120" dirty="0"/>
          </a:p>
        </p:txBody>
      </p:sp>
      <p:sp>
        <p:nvSpPr>
          <p:cNvPr id="9" name="Shape 7"/>
          <p:cNvSpPr/>
          <p:nvPr/>
        </p:nvSpPr>
        <p:spPr>
          <a:xfrm>
            <a:off x="6172200" y="1325880"/>
            <a:ext cx="5029200" cy="4389120"/>
          </a:xfrm>
          <a:prstGeom prst="roundRect">
            <a:avLst>
              <a:gd name="adj" fmla="val 1667"/>
            </a:avLst>
          </a:prstGeom>
          <a:solidFill>
            <a:srgbClr val="111827"/>
          </a:solidFill>
          <a:ln w="12700">
            <a:solidFill>
              <a:srgbClr val="334155">
                <a:alpha val="85000"/>
              </a:srgbClr>
            </a:solidFill>
            <a:prstDash val="solid"/>
          </a:ln>
        </p:spPr>
      </p:sp>
      <p:sp>
        <p:nvSpPr>
          <p:cNvPr id="10" name="Text 8"/>
          <p:cNvSpPr/>
          <p:nvPr/>
        </p:nvSpPr>
        <p:spPr>
          <a:xfrm>
            <a:off x="6446520" y="1664208"/>
            <a:ext cx="914400" cy="228600"/>
          </a:xfrm>
          <a:prstGeom prst="rect">
            <a:avLst/>
          </a:prstGeom>
          <a:noFill/>
          <a:ln/>
        </p:spPr>
        <p:txBody>
          <a:bodyPr wrap="square" lIns="0" tIns="0" rIns="0" bIns="0" rtlCol="0" anchor="ctr"/>
          <a:lstStyle/>
          <a:p>
            <a:pPr indent="0" marL="0">
              <a:buNone/>
            </a:pPr>
            <a:r>
              <a:rPr lang="en-US" sz="1500" b="1" dirty="0">
                <a:solidFill>
                  <a:srgbClr val="E5E7EB"/>
                </a:solidFill>
              </a:rPr>
              <a:t>Effect</a:t>
            </a:r>
            <a:endParaRPr lang="en-US" sz="1500" dirty="0"/>
          </a:p>
        </p:txBody>
      </p:sp>
      <p:sp>
        <p:nvSpPr>
          <p:cNvPr id="11" name="Text 9"/>
          <p:cNvSpPr/>
          <p:nvPr/>
        </p:nvSpPr>
        <p:spPr>
          <a:xfrm>
            <a:off x="6446520" y="2231136"/>
            <a:ext cx="132588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scroll Run K</a:t>
            </a:r>
            <a:endParaRPr lang="en-US" sz="880" dirty="0"/>
          </a:p>
        </p:txBody>
      </p:sp>
      <p:sp>
        <p:nvSpPr>
          <p:cNvPr id="12" name="Shape 10"/>
          <p:cNvSpPr/>
          <p:nvPr/>
        </p:nvSpPr>
        <p:spPr>
          <a:xfrm>
            <a:off x="7818120" y="2231136"/>
            <a:ext cx="1965960" cy="146304"/>
          </a:xfrm>
          <a:prstGeom prst="rect">
            <a:avLst/>
          </a:prstGeom>
          <a:solidFill>
            <a:srgbClr val="1E293B"/>
          </a:solidFill>
          <a:ln w="12700">
            <a:solidFill>
              <a:srgbClr val="1E293B"/>
            </a:solidFill>
            <a:prstDash val="solid"/>
          </a:ln>
        </p:spPr>
      </p:sp>
      <p:sp>
        <p:nvSpPr>
          <p:cNvPr id="13" name="Shape 11"/>
          <p:cNvSpPr/>
          <p:nvPr/>
        </p:nvSpPr>
        <p:spPr>
          <a:xfrm>
            <a:off x="7818120" y="2231136"/>
            <a:ext cx="649069" cy="146304"/>
          </a:xfrm>
          <a:prstGeom prst="rect">
            <a:avLst/>
          </a:prstGeom>
          <a:solidFill>
            <a:srgbClr val="FBBF24"/>
          </a:solidFill>
          <a:ln w="12700">
            <a:solidFill>
              <a:srgbClr val="FBBF24"/>
            </a:solidFill>
            <a:prstDash val="solid"/>
          </a:ln>
        </p:spPr>
      </p:sp>
      <p:sp>
        <p:nvSpPr>
          <p:cNvPr id="14" name="Text 12"/>
          <p:cNvSpPr/>
          <p:nvPr/>
        </p:nvSpPr>
        <p:spPr>
          <a:xfrm>
            <a:off x="9893808" y="2203704"/>
            <a:ext cx="685800" cy="182880"/>
          </a:xfrm>
          <a:prstGeom prst="rect">
            <a:avLst/>
          </a:prstGeom>
          <a:noFill/>
          <a:ln/>
        </p:spPr>
        <p:txBody>
          <a:bodyPr wrap="square" lIns="0" tIns="0" rIns="0" bIns="0" rtlCol="0" anchor="ctr"/>
          <a:lstStyle/>
          <a:p>
            <a:pPr algn="r" indent="0" marL="0">
              <a:buNone/>
            </a:pPr>
            <a:r>
              <a:rPr lang="en-US" sz="800" dirty="0">
                <a:solidFill>
                  <a:srgbClr val="FBBF24"/>
                </a:solidFill>
              </a:rPr>
              <a:t>21.5%</a:t>
            </a:r>
            <a:endParaRPr lang="en-US" sz="800" dirty="0"/>
          </a:p>
        </p:txBody>
      </p:sp>
      <p:sp>
        <p:nvSpPr>
          <p:cNvPr id="15" name="Text 13"/>
          <p:cNvSpPr/>
          <p:nvPr/>
        </p:nvSpPr>
        <p:spPr>
          <a:xfrm>
            <a:off x="6446520" y="2745486"/>
            <a:ext cx="1325880" cy="164592"/>
          </a:xfrm>
          <a:prstGeom prst="rect">
            <a:avLst/>
          </a:prstGeom>
          <a:noFill/>
          <a:ln/>
        </p:spPr>
        <p:txBody>
          <a:bodyPr wrap="square" lIns="0" tIns="0" rIns="0" bIns="0" rtlCol="0" anchor="ctr">
            <a:normAutofit/>
          </a:bodyPr>
          <a:lstStyle/>
          <a:p>
            <a:pPr indent="0" marL="0">
              <a:buNone/>
            </a:pPr>
            <a:r>
              <a:rPr lang="en-US" sz="880" b="1" dirty="0">
                <a:solidFill>
                  <a:srgbClr val="E5E7EB"/>
                </a:solidFill>
              </a:rPr>
              <a:t>scroll Run L</a:t>
            </a:r>
            <a:endParaRPr lang="en-US" sz="880" dirty="0"/>
          </a:p>
        </p:txBody>
      </p:sp>
      <p:sp>
        <p:nvSpPr>
          <p:cNvPr id="16" name="Shape 14"/>
          <p:cNvSpPr/>
          <p:nvPr/>
        </p:nvSpPr>
        <p:spPr>
          <a:xfrm>
            <a:off x="7818120" y="2745486"/>
            <a:ext cx="1965960" cy="146304"/>
          </a:xfrm>
          <a:prstGeom prst="rect">
            <a:avLst/>
          </a:prstGeom>
          <a:solidFill>
            <a:srgbClr val="1E293B"/>
          </a:solidFill>
          <a:ln w="12700">
            <a:solidFill>
              <a:srgbClr val="1E293B"/>
            </a:solidFill>
            <a:prstDash val="solid"/>
          </a:ln>
        </p:spPr>
      </p:sp>
      <p:sp>
        <p:nvSpPr>
          <p:cNvPr id="17" name="Shape 15"/>
          <p:cNvSpPr/>
          <p:nvPr/>
        </p:nvSpPr>
        <p:spPr>
          <a:xfrm>
            <a:off x="7818120" y="2745486"/>
            <a:ext cx="1203168" cy="146304"/>
          </a:xfrm>
          <a:prstGeom prst="rect">
            <a:avLst/>
          </a:prstGeom>
          <a:solidFill>
            <a:srgbClr val="34D399"/>
          </a:solidFill>
          <a:ln w="12700">
            <a:solidFill>
              <a:srgbClr val="34D399"/>
            </a:solidFill>
            <a:prstDash val="solid"/>
          </a:ln>
        </p:spPr>
      </p:sp>
      <p:sp>
        <p:nvSpPr>
          <p:cNvPr id="18" name="Text 16"/>
          <p:cNvSpPr/>
          <p:nvPr/>
        </p:nvSpPr>
        <p:spPr>
          <a:xfrm>
            <a:off x="9893808" y="2718054"/>
            <a:ext cx="685800" cy="182880"/>
          </a:xfrm>
          <a:prstGeom prst="rect">
            <a:avLst/>
          </a:prstGeom>
          <a:noFill/>
          <a:ln/>
        </p:spPr>
        <p:txBody>
          <a:bodyPr wrap="square" lIns="0" tIns="0" rIns="0" bIns="0" rtlCol="0" anchor="ctr"/>
          <a:lstStyle/>
          <a:p>
            <a:pPr algn="r" indent="0" marL="0">
              <a:buNone/>
            </a:pPr>
            <a:r>
              <a:rPr lang="en-US" sz="800" dirty="0">
                <a:solidFill>
                  <a:srgbClr val="34D399"/>
                </a:solidFill>
              </a:rPr>
              <a:t>39.8%</a:t>
            </a:r>
            <a:endParaRPr lang="en-US" sz="800" dirty="0"/>
          </a:p>
        </p:txBody>
      </p:sp>
      <p:sp>
        <p:nvSpPr>
          <p:cNvPr id="19" name="Text 17"/>
          <p:cNvSpPr/>
          <p:nvPr/>
        </p:nvSpPr>
        <p:spPr>
          <a:xfrm>
            <a:off x="6446520" y="3259836"/>
            <a:ext cx="132588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overall Run K</a:t>
            </a:r>
            <a:endParaRPr lang="en-US" sz="880" dirty="0"/>
          </a:p>
        </p:txBody>
      </p:sp>
      <p:sp>
        <p:nvSpPr>
          <p:cNvPr id="20" name="Shape 18"/>
          <p:cNvSpPr/>
          <p:nvPr/>
        </p:nvSpPr>
        <p:spPr>
          <a:xfrm>
            <a:off x="7818120" y="3259836"/>
            <a:ext cx="1965960" cy="146304"/>
          </a:xfrm>
          <a:prstGeom prst="rect">
            <a:avLst/>
          </a:prstGeom>
          <a:solidFill>
            <a:srgbClr val="1E293B"/>
          </a:solidFill>
          <a:ln w="12700">
            <a:solidFill>
              <a:srgbClr val="1E293B"/>
            </a:solidFill>
            <a:prstDash val="solid"/>
          </a:ln>
        </p:spPr>
      </p:sp>
      <p:sp>
        <p:nvSpPr>
          <p:cNvPr id="21" name="Shape 19"/>
          <p:cNvSpPr/>
          <p:nvPr/>
        </p:nvSpPr>
        <p:spPr>
          <a:xfrm>
            <a:off x="7818120" y="3259836"/>
            <a:ext cx="1583354" cy="146304"/>
          </a:xfrm>
          <a:prstGeom prst="rect">
            <a:avLst/>
          </a:prstGeom>
          <a:solidFill>
            <a:srgbClr val="60A5FA"/>
          </a:solidFill>
          <a:ln w="12700">
            <a:solidFill>
              <a:srgbClr val="60A5FA"/>
            </a:solidFill>
            <a:prstDash val="solid"/>
          </a:ln>
        </p:spPr>
      </p:sp>
      <p:sp>
        <p:nvSpPr>
          <p:cNvPr id="22" name="Text 20"/>
          <p:cNvSpPr/>
          <p:nvPr/>
        </p:nvSpPr>
        <p:spPr>
          <a:xfrm>
            <a:off x="9893808" y="3232404"/>
            <a:ext cx="685800" cy="182880"/>
          </a:xfrm>
          <a:prstGeom prst="rect">
            <a:avLst/>
          </a:prstGeom>
          <a:noFill/>
          <a:ln/>
        </p:spPr>
        <p:txBody>
          <a:bodyPr wrap="square" lIns="0" tIns="0" rIns="0" bIns="0" rtlCol="0" anchor="ctr"/>
          <a:lstStyle/>
          <a:p>
            <a:pPr algn="r" indent="0" marL="0">
              <a:buNone/>
            </a:pPr>
            <a:r>
              <a:rPr lang="en-US" sz="800" dirty="0">
                <a:solidFill>
                  <a:srgbClr val="60A5FA"/>
                </a:solidFill>
              </a:rPr>
              <a:t>52.3%</a:t>
            </a:r>
            <a:endParaRPr lang="en-US" sz="800" dirty="0"/>
          </a:p>
        </p:txBody>
      </p:sp>
      <p:sp>
        <p:nvSpPr>
          <p:cNvPr id="23" name="Text 21"/>
          <p:cNvSpPr/>
          <p:nvPr/>
        </p:nvSpPr>
        <p:spPr>
          <a:xfrm>
            <a:off x="6446520" y="3774186"/>
            <a:ext cx="1325880" cy="164592"/>
          </a:xfrm>
          <a:prstGeom prst="rect">
            <a:avLst/>
          </a:prstGeom>
          <a:noFill/>
          <a:ln/>
        </p:spPr>
        <p:txBody>
          <a:bodyPr wrap="square" lIns="0" tIns="0" rIns="0" bIns="0" rtlCol="0" anchor="ctr">
            <a:normAutofit/>
          </a:bodyPr>
          <a:lstStyle/>
          <a:p>
            <a:pPr indent="0" marL="0">
              <a:buNone/>
            </a:pPr>
            <a:r>
              <a:rPr lang="en-US" sz="880" b="1" dirty="0">
                <a:solidFill>
                  <a:srgbClr val="E5E7EB"/>
                </a:solidFill>
              </a:rPr>
              <a:t>overall Run L</a:t>
            </a:r>
            <a:endParaRPr lang="en-US" sz="880" dirty="0"/>
          </a:p>
        </p:txBody>
      </p:sp>
      <p:sp>
        <p:nvSpPr>
          <p:cNvPr id="24" name="Shape 22"/>
          <p:cNvSpPr/>
          <p:nvPr/>
        </p:nvSpPr>
        <p:spPr>
          <a:xfrm>
            <a:off x="7818120" y="3774186"/>
            <a:ext cx="1965960" cy="146304"/>
          </a:xfrm>
          <a:prstGeom prst="rect">
            <a:avLst/>
          </a:prstGeom>
          <a:solidFill>
            <a:srgbClr val="1E293B"/>
          </a:solidFill>
          <a:ln w="12700">
            <a:solidFill>
              <a:srgbClr val="1E293B"/>
            </a:solidFill>
            <a:prstDash val="solid"/>
          </a:ln>
        </p:spPr>
      </p:sp>
      <p:sp>
        <p:nvSpPr>
          <p:cNvPr id="25" name="Shape 23"/>
          <p:cNvSpPr/>
          <p:nvPr/>
        </p:nvSpPr>
        <p:spPr>
          <a:xfrm>
            <a:off x="7818120" y="3774186"/>
            <a:ext cx="1606341" cy="146304"/>
          </a:xfrm>
          <a:prstGeom prst="rect">
            <a:avLst/>
          </a:prstGeom>
          <a:solidFill>
            <a:srgbClr val="22D3EE"/>
          </a:solidFill>
          <a:ln w="12700">
            <a:solidFill>
              <a:srgbClr val="22D3EE"/>
            </a:solidFill>
            <a:prstDash val="solid"/>
          </a:ln>
        </p:spPr>
      </p:sp>
      <p:sp>
        <p:nvSpPr>
          <p:cNvPr id="26" name="Text 24"/>
          <p:cNvSpPr/>
          <p:nvPr/>
        </p:nvSpPr>
        <p:spPr>
          <a:xfrm>
            <a:off x="9893808" y="3746754"/>
            <a:ext cx="685800" cy="182880"/>
          </a:xfrm>
          <a:prstGeom prst="rect">
            <a:avLst/>
          </a:prstGeom>
          <a:noFill/>
          <a:ln/>
        </p:spPr>
        <p:txBody>
          <a:bodyPr wrap="square" lIns="0" tIns="0" rIns="0" bIns="0" rtlCol="0" anchor="ctr"/>
          <a:lstStyle/>
          <a:p>
            <a:pPr algn="r" indent="0" marL="0">
              <a:buNone/>
            </a:pPr>
            <a:r>
              <a:rPr lang="en-US" sz="800" dirty="0">
                <a:solidFill>
                  <a:srgbClr val="22D3EE"/>
                </a:solidFill>
              </a:rPr>
              <a:t>53.1%</a:t>
            </a:r>
            <a:endParaRPr lang="en-US" sz="800" dirty="0"/>
          </a:p>
        </p:txBody>
      </p:sp>
      <p:sp>
        <p:nvSpPr>
          <p:cNvPr id="27" name="Text 25"/>
          <p:cNvSpPr/>
          <p:nvPr/>
        </p:nvSpPr>
        <p:spPr>
          <a:xfrm>
            <a:off x="6446520" y="4709160"/>
            <a:ext cx="4114800" cy="347472"/>
          </a:xfrm>
          <a:prstGeom prst="rect">
            <a:avLst/>
          </a:prstGeom>
          <a:noFill/>
          <a:ln/>
        </p:spPr>
        <p:txBody>
          <a:bodyPr wrap="square" lIns="0" tIns="0" rIns="0" bIns="0" rtlCol="0" anchor="ctr"/>
          <a:lstStyle/>
          <a:p>
            <a:pPr indent="0" marL="0">
              <a:buNone/>
            </a:pPr>
            <a:r>
              <a:rPr lang="en-US" sz="1180" dirty="0">
                <a:solidFill>
                  <a:srgbClr val="94A3B8"/>
                </a:solidFill>
              </a:rPr>
              <a:t>History did not solve wait; it mainly reduced a scroll-down → scroll-up convention flip.</a:t>
            </a:r>
            <a:endParaRPr lang="en-US" sz="118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RESULTS</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Final AndroidControl result: Run L is the best methodology</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731520" y="1261872"/>
            <a:ext cx="5486400" cy="4709160"/>
          </a:xfrm>
          <a:prstGeom prst="roundRect">
            <a:avLst>
              <a:gd name="adj" fmla="val 1553"/>
            </a:avLst>
          </a:prstGeom>
          <a:solidFill>
            <a:srgbClr val="111827"/>
          </a:solidFill>
          <a:ln w="12700">
            <a:solidFill>
              <a:srgbClr val="334155">
                <a:alpha val="85000"/>
              </a:srgbClr>
            </a:solidFill>
            <a:prstDash val="solid"/>
          </a:ln>
        </p:spPr>
      </p:sp>
      <p:sp>
        <p:nvSpPr>
          <p:cNvPr id="6" name="Text 4"/>
          <p:cNvSpPr/>
          <p:nvPr/>
        </p:nvSpPr>
        <p:spPr>
          <a:xfrm>
            <a:off x="1005840" y="1554480"/>
            <a:ext cx="3200400" cy="228600"/>
          </a:xfrm>
          <a:prstGeom prst="rect">
            <a:avLst/>
          </a:prstGeom>
          <a:noFill/>
          <a:ln/>
        </p:spPr>
        <p:txBody>
          <a:bodyPr wrap="square" lIns="0" tIns="0" rIns="0" bIns="0" rtlCol="0" anchor="ctr"/>
          <a:lstStyle/>
          <a:p>
            <a:pPr indent="0" marL="0">
              <a:buNone/>
            </a:pPr>
            <a:r>
              <a:rPr lang="en-US" sz="1500" b="1" dirty="0">
                <a:solidFill>
                  <a:srgbClr val="E5E7EB"/>
                </a:solidFill>
              </a:rPr>
              <a:t>Full-test element-accuracy</a:t>
            </a:r>
            <a:endParaRPr lang="en-US" sz="1500" dirty="0"/>
          </a:p>
        </p:txBody>
      </p:sp>
      <p:sp>
        <p:nvSpPr>
          <p:cNvPr id="7" name="Text 5"/>
          <p:cNvSpPr/>
          <p:nvPr/>
        </p:nvSpPr>
        <p:spPr>
          <a:xfrm>
            <a:off x="1005840" y="2139696"/>
            <a:ext cx="150876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Zero-shot baseline</a:t>
            </a:r>
            <a:endParaRPr lang="en-US" sz="880" dirty="0"/>
          </a:p>
        </p:txBody>
      </p:sp>
      <p:sp>
        <p:nvSpPr>
          <p:cNvPr id="8" name="Shape 6"/>
          <p:cNvSpPr/>
          <p:nvPr/>
        </p:nvSpPr>
        <p:spPr>
          <a:xfrm>
            <a:off x="2560320" y="2139696"/>
            <a:ext cx="2377440" cy="146304"/>
          </a:xfrm>
          <a:prstGeom prst="rect">
            <a:avLst/>
          </a:prstGeom>
          <a:solidFill>
            <a:srgbClr val="1E293B"/>
          </a:solidFill>
          <a:ln w="12700">
            <a:solidFill>
              <a:srgbClr val="1E293B"/>
            </a:solidFill>
            <a:prstDash val="solid"/>
          </a:ln>
        </p:spPr>
      </p:sp>
      <p:sp>
        <p:nvSpPr>
          <p:cNvPr id="9" name="Shape 7"/>
          <p:cNvSpPr/>
          <p:nvPr/>
        </p:nvSpPr>
        <p:spPr>
          <a:xfrm>
            <a:off x="2560320" y="2139696"/>
            <a:ext cx="1559204" cy="146304"/>
          </a:xfrm>
          <a:prstGeom prst="rect">
            <a:avLst/>
          </a:prstGeom>
          <a:solidFill>
            <a:srgbClr val="94A3B8"/>
          </a:solidFill>
          <a:ln w="12700">
            <a:solidFill>
              <a:srgbClr val="94A3B8"/>
            </a:solidFill>
            <a:prstDash val="solid"/>
          </a:ln>
        </p:spPr>
      </p:sp>
      <p:sp>
        <p:nvSpPr>
          <p:cNvPr id="10" name="Text 8"/>
          <p:cNvSpPr/>
          <p:nvPr/>
        </p:nvSpPr>
        <p:spPr>
          <a:xfrm>
            <a:off x="5047488" y="2112264"/>
            <a:ext cx="685800" cy="182880"/>
          </a:xfrm>
          <a:prstGeom prst="rect">
            <a:avLst/>
          </a:prstGeom>
          <a:noFill/>
          <a:ln/>
        </p:spPr>
        <p:txBody>
          <a:bodyPr wrap="square" lIns="0" tIns="0" rIns="0" bIns="0" rtlCol="0" anchor="ctr"/>
          <a:lstStyle/>
          <a:p>
            <a:pPr algn="r" indent="0" marL="0">
              <a:buNone/>
            </a:pPr>
            <a:r>
              <a:rPr lang="en-US" sz="800" dirty="0">
                <a:solidFill>
                  <a:srgbClr val="94A3B8"/>
                </a:solidFill>
              </a:rPr>
              <a:t>39.4%</a:t>
            </a:r>
            <a:endParaRPr lang="en-US" sz="800" dirty="0"/>
          </a:p>
        </p:txBody>
      </p:sp>
      <p:sp>
        <p:nvSpPr>
          <p:cNvPr id="11" name="Text 9"/>
          <p:cNvSpPr/>
          <p:nvPr/>
        </p:nvSpPr>
        <p:spPr>
          <a:xfrm>
            <a:off x="1005840" y="2642616"/>
            <a:ext cx="150876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Run I: Path W SFT</a:t>
            </a:r>
            <a:endParaRPr lang="en-US" sz="880" dirty="0"/>
          </a:p>
        </p:txBody>
      </p:sp>
      <p:sp>
        <p:nvSpPr>
          <p:cNvPr id="12" name="Shape 10"/>
          <p:cNvSpPr/>
          <p:nvPr/>
        </p:nvSpPr>
        <p:spPr>
          <a:xfrm>
            <a:off x="2560320" y="2642616"/>
            <a:ext cx="2377440" cy="146304"/>
          </a:xfrm>
          <a:prstGeom prst="rect">
            <a:avLst/>
          </a:prstGeom>
          <a:solidFill>
            <a:srgbClr val="1E293B"/>
          </a:solidFill>
          <a:ln w="12700">
            <a:solidFill>
              <a:srgbClr val="1E293B"/>
            </a:solidFill>
            <a:prstDash val="solid"/>
          </a:ln>
        </p:spPr>
      </p:sp>
      <p:sp>
        <p:nvSpPr>
          <p:cNvPr id="13" name="Shape 11"/>
          <p:cNvSpPr/>
          <p:nvPr/>
        </p:nvSpPr>
        <p:spPr>
          <a:xfrm>
            <a:off x="2560320" y="2642616"/>
            <a:ext cx="1953463" cy="146304"/>
          </a:xfrm>
          <a:prstGeom prst="rect">
            <a:avLst/>
          </a:prstGeom>
          <a:solidFill>
            <a:srgbClr val="60A5FA"/>
          </a:solidFill>
          <a:ln w="12700">
            <a:solidFill>
              <a:srgbClr val="60A5FA"/>
            </a:solidFill>
            <a:prstDash val="solid"/>
          </a:ln>
        </p:spPr>
      </p:sp>
      <p:sp>
        <p:nvSpPr>
          <p:cNvPr id="14" name="Text 12"/>
          <p:cNvSpPr/>
          <p:nvPr/>
        </p:nvSpPr>
        <p:spPr>
          <a:xfrm>
            <a:off x="5047488" y="2615184"/>
            <a:ext cx="685800" cy="182880"/>
          </a:xfrm>
          <a:prstGeom prst="rect">
            <a:avLst/>
          </a:prstGeom>
          <a:noFill/>
          <a:ln/>
        </p:spPr>
        <p:txBody>
          <a:bodyPr wrap="square" lIns="0" tIns="0" rIns="0" bIns="0" rtlCol="0" anchor="ctr"/>
          <a:lstStyle/>
          <a:p>
            <a:pPr algn="r" indent="0" marL="0">
              <a:buNone/>
            </a:pPr>
            <a:r>
              <a:rPr lang="en-US" sz="800" dirty="0">
                <a:solidFill>
                  <a:srgbClr val="60A5FA"/>
                </a:solidFill>
              </a:rPr>
              <a:t>49.3%</a:t>
            </a:r>
            <a:endParaRPr lang="en-US" sz="800" dirty="0"/>
          </a:p>
        </p:txBody>
      </p:sp>
      <p:sp>
        <p:nvSpPr>
          <p:cNvPr id="15" name="Text 13"/>
          <p:cNvSpPr/>
          <p:nvPr/>
        </p:nvSpPr>
        <p:spPr>
          <a:xfrm>
            <a:off x="1005840" y="3145536"/>
            <a:ext cx="150876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Run J: + Cui</a:t>
            </a:r>
            <a:endParaRPr lang="en-US" sz="880" dirty="0"/>
          </a:p>
        </p:txBody>
      </p:sp>
      <p:sp>
        <p:nvSpPr>
          <p:cNvPr id="16" name="Shape 14"/>
          <p:cNvSpPr/>
          <p:nvPr/>
        </p:nvSpPr>
        <p:spPr>
          <a:xfrm>
            <a:off x="2560320" y="3145536"/>
            <a:ext cx="2377440" cy="146304"/>
          </a:xfrm>
          <a:prstGeom prst="rect">
            <a:avLst/>
          </a:prstGeom>
          <a:solidFill>
            <a:srgbClr val="1E293B"/>
          </a:solidFill>
          <a:ln w="12700">
            <a:solidFill>
              <a:srgbClr val="1E293B"/>
            </a:solidFill>
            <a:prstDash val="solid"/>
          </a:ln>
        </p:spPr>
      </p:sp>
      <p:sp>
        <p:nvSpPr>
          <p:cNvPr id="17" name="Shape 15"/>
          <p:cNvSpPr/>
          <p:nvPr/>
        </p:nvSpPr>
        <p:spPr>
          <a:xfrm>
            <a:off x="2560320" y="3145536"/>
            <a:ext cx="1896008" cy="146304"/>
          </a:xfrm>
          <a:prstGeom prst="rect">
            <a:avLst/>
          </a:prstGeom>
          <a:solidFill>
            <a:srgbClr val="FB7185"/>
          </a:solidFill>
          <a:ln w="12700">
            <a:solidFill>
              <a:srgbClr val="FB7185"/>
            </a:solidFill>
            <a:prstDash val="solid"/>
          </a:ln>
        </p:spPr>
      </p:sp>
      <p:sp>
        <p:nvSpPr>
          <p:cNvPr id="18" name="Text 16"/>
          <p:cNvSpPr/>
          <p:nvPr/>
        </p:nvSpPr>
        <p:spPr>
          <a:xfrm>
            <a:off x="5047488" y="3118104"/>
            <a:ext cx="685800" cy="182880"/>
          </a:xfrm>
          <a:prstGeom prst="rect">
            <a:avLst/>
          </a:prstGeom>
          <a:noFill/>
          <a:ln/>
        </p:spPr>
        <p:txBody>
          <a:bodyPr wrap="square" lIns="0" tIns="0" rIns="0" bIns="0" rtlCol="0" anchor="ctr"/>
          <a:lstStyle/>
          <a:p>
            <a:pPr algn="r" indent="0" marL="0">
              <a:buNone/>
            </a:pPr>
            <a:r>
              <a:rPr lang="en-US" sz="800" dirty="0">
                <a:solidFill>
                  <a:srgbClr val="FB7185"/>
                </a:solidFill>
              </a:rPr>
              <a:t>47.9%</a:t>
            </a:r>
            <a:endParaRPr lang="en-US" sz="800" dirty="0"/>
          </a:p>
        </p:txBody>
      </p:sp>
      <p:sp>
        <p:nvSpPr>
          <p:cNvPr id="19" name="Text 17"/>
          <p:cNvSpPr/>
          <p:nvPr/>
        </p:nvSpPr>
        <p:spPr>
          <a:xfrm>
            <a:off x="1005840" y="3648456"/>
            <a:ext cx="150876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Run K: + CAP</a:t>
            </a:r>
            <a:endParaRPr lang="en-US" sz="880" dirty="0"/>
          </a:p>
        </p:txBody>
      </p:sp>
      <p:sp>
        <p:nvSpPr>
          <p:cNvPr id="20" name="Shape 18"/>
          <p:cNvSpPr/>
          <p:nvPr/>
        </p:nvSpPr>
        <p:spPr>
          <a:xfrm>
            <a:off x="2560320" y="3648456"/>
            <a:ext cx="2377440" cy="146304"/>
          </a:xfrm>
          <a:prstGeom prst="rect">
            <a:avLst/>
          </a:prstGeom>
          <a:solidFill>
            <a:srgbClr val="1E293B"/>
          </a:solidFill>
          <a:ln w="12700">
            <a:solidFill>
              <a:srgbClr val="1E293B"/>
            </a:solidFill>
            <a:prstDash val="solid"/>
          </a:ln>
        </p:spPr>
      </p:sp>
      <p:sp>
        <p:nvSpPr>
          <p:cNvPr id="21" name="Shape 19"/>
          <p:cNvSpPr/>
          <p:nvPr/>
        </p:nvSpPr>
        <p:spPr>
          <a:xfrm>
            <a:off x="2560320" y="3648456"/>
            <a:ext cx="2074316" cy="146304"/>
          </a:xfrm>
          <a:prstGeom prst="rect">
            <a:avLst/>
          </a:prstGeom>
          <a:solidFill>
            <a:srgbClr val="34D399"/>
          </a:solidFill>
          <a:ln w="12700">
            <a:solidFill>
              <a:srgbClr val="34D399"/>
            </a:solidFill>
            <a:prstDash val="solid"/>
          </a:ln>
        </p:spPr>
      </p:sp>
      <p:sp>
        <p:nvSpPr>
          <p:cNvPr id="22" name="Text 20"/>
          <p:cNvSpPr/>
          <p:nvPr/>
        </p:nvSpPr>
        <p:spPr>
          <a:xfrm>
            <a:off x="5047488" y="3621024"/>
            <a:ext cx="685800" cy="182880"/>
          </a:xfrm>
          <a:prstGeom prst="rect">
            <a:avLst/>
          </a:prstGeom>
          <a:noFill/>
          <a:ln/>
        </p:spPr>
        <p:txBody>
          <a:bodyPr wrap="square" lIns="0" tIns="0" rIns="0" bIns="0" rtlCol="0" anchor="ctr"/>
          <a:lstStyle/>
          <a:p>
            <a:pPr algn="r" indent="0" marL="0">
              <a:buNone/>
            </a:pPr>
            <a:r>
              <a:rPr lang="en-US" sz="800" dirty="0">
                <a:solidFill>
                  <a:srgbClr val="34D399"/>
                </a:solidFill>
              </a:rPr>
              <a:t>52.3%</a:t>
            </a:r>
            <a:endParaRPr lang="en-US" sz="800" dirty="0"/>
          </a:p>
        </p:txBody>
      </p:sp>
      <p:sp>
        <p:nvSpPr>
          <p:cNvPr id="23" name="Text 21"/>
          <p:cNvSpPr/>
          <p:nvPr/>
        </p:nvSpPr>
        <p:spPr>
          <a:xfrm>
            <a:off x="1005840" y="4151376"/>
            <a:ext cx="1508760" cy="164592"/>
          </a:xfrm>
          <a:prstGeom prst="rect">
            <a:avLst/>
          </a:prstGeom>
          <a:noFill/>
          <a:ln/>
        </p:spPr>
        <p:txBody>
          <a:bodyPr wrap="square" lIns="0" tIns="0" rIns="0" bIns="0" rtlCol="0" anchor="ctr">
            <a:normAutofit/>
          </a:bodyPr>
          <a:lstStyle/>
          <a:p>
            <a:pPr indent="0" marL="0">
              <a:buNone/>
            </a:pPr>
            <a:r>
              <a:rPr lang="en-US" sz="880" b="1" dirty="0">
                <a:solidFill>
                  <a:srgbClr val="E5E7EB"/>
                </a:solidFill>
              </a:rPr>
              <a:t>Run L: + history</a:t>
            </a:r>
            <a:endParaRPr lang="en-US" sz="880" dirty="0"/>
          </a:p>
        </p:txBody>
      </p:sp>
      <p:sp>
        <p:nvSpPr>
          <p:cNvPr id="24" name="Shape 22"/>
          <p:cNvSpPr/>
          <p:nvPr/>
        </p:nvSpPr>
        <p:spPr>
          <a:xfrm>
            <a:off x="2560320" y="4151376"/>
            <a:ext cx="2377440" cy="146304"/>
          </a:xfrm>
          <a:prstGeom prst="rect">
            <a:avLst/>
          </a:prstGeom>
          <a:solidFill>
            <a:srgbClr val="1E293B"/>
          </a:solidFill>
          <a:ln w="12700">
            <a:solidFill>
              <a:srgbClr val="1E293B"/>
            </a:solidFill>
            <a:prstDash val="solid"/>
          </a:ln>
        </p:spPr>
      </p:sp>
      <p:sp>
        <p:nvSpPr>
          <p:cNvPr id="25" name="Shape 23"/>
          <p:cNvSpPr/>
          <p:nvPr/>
        </p:nvSpPr>
        <p:spPr>
          <a:xfrm>
            <a:off x="2560320" y="4151376"/>
            <a:ext cx="2104431" cy="146304"/>
          </a:xfrm>
          <a:prstGeom prst="rect">
            <a:avLst/>
          </a:prstGeom>
          <a:solidFill>
            <a:srgbClr val="22D3EE"/>
          </a:solidFill>
          <a:ln w="12700">
            <a:solidFill>
              <a:srgbClr val="22D3EE"/>
            </a:solidFill>
            <a:prstDash val="solid"/>
          </a:ln>
        </p:spPr>
      </p:sp>
      <p:sp>
        <p:nvSpPr>
          <p:cNvPr id="26" name="Text 24"/>
          <p:cNvSpPr/>
          <p:nvPr/>
        </p:nvSpPr>
        <p:spPr>
          <a:xfrm>
            <a:off x="5047488" y="4123944"/>
            <a:ext cx="685800" cy="182880"/>
          </a:xfrm>
          <a:prstGeom prst="rect">
            <a:avLst/>
          </a:prstGeom>
          <a:noFill/>
          <a:ln/>
        </p:spPr>
        <p:txBody>
          <a:bodyPr wrap="square" lIns="0" tIns="0" rIns="0" bIns="0" rtlCol="0" anchor="ctr"/>
          <a:lstStyle/>
          <a:p>
            <a:pPr algn="r" indent="0" marL="0">
              <a:buNone/>
            </a:pPr>
            <a:r>
              <a:rPr lang="en-US" sz="800" dirty="0">
                <a:solidFill>
                  <a:srgbClr val="22D3EE"/>
                </a:solidFill>
              </a:rPr>
              <a:t>53.1%</a:t>
            </a:r>
            <a:endParaRPr lang="en-US" sz="800" dirty="0"/>
          </a:p>
        </p:txBody>
      </p:sp>
      <p:sp>
        <p:nvSpPr>
          <p:cNvPr id="27" name="Shape 25"/>
          <p:cNvSpPr/>
          <p:nvPr/>
        </p:nvSpPr>
        <p:spPr>
          <a:xfrm>
            <a:off x="6629400" y="1261872"/>
            <a:ext cx="4572000" cy="4709160"/>
          </a:xfrm>
          <a:prstGeom prst="roundRect">
            <a:avLst>
              <a:gd name="adj" fmla="val 1600"/>
            </a:avLst>
          </a:prstGeom>
          <a:solidFill>
            <a:srgbClr val="111827"/>
          </a:solidFill>
          <a:ln w="12700">
            <a:solidFill>
              <a:srgbClr val="334155">
                <a:alpha val="85000"/>
              </a:srgbClr>
            </a:solidFill>
            <a:prstDash val="solid"/>
          </a:ln>
        </p:spPr>
      </p:sp>
      <p:sp>
        <p:nvSpPr>
          <p:cNvPr id="28" name="Text 26"/>
          <p:cNvSpPr/>
          <p:nvPr/>
        </p:nvSpPr>
        <p:spPr>
          <a:xfrm>
            <a:off x="6995160" y="1828800"/>
            <a:ext cx="1645920" cy="438912"/>
          </a:xfrm>
          <a:prstGeom prst="rect">
            <a:avLst/>
          </a:prstGeom>
          <a:noFill/>
          <a:ln/>
        </p:spPr>
        <p:txBody>
          <a:bodyPr wrap="square" lIns="0" tIns="0" rIns="0" bIns="0" rtlCol="0" anchor="ctr"/>
          <a:lstStyle/>
          <a:p>
            <a:pPr algn="ctr" indent="0" marL="0">
              <a:buNone/>
            </a:pPr>
            <a:r>
              <a:rPr lang="en-US" sz="3000" b="1" dirty="0">
                <a:solidFill>
                  <a:srgbClr val="34D399"/>
                </a:solidFill>
              </a:rPr>
              <a:t>0.5311</a:t>
            </a:r>
            <a:endParaRPr lang="en-US" sz="3000" dirty="0"/>
          </a:p>
        </p:txBody>
      </p:sp>
      <p:sp>
        <p:nvSpPr>
          <p:cNvPr id="29" name="Text 27"/>
          <p:cNvSpPr/>
          <p:nvPr/>
        </p:nvSpPr>
        <p:spPr>
          <a:xfrm>
            <a:off x="6995160" y="2331720"/>
            <a:ext cx="1645920" cy="320040"/>
          </a:xfrm>
          <a:prstGeom prst="rect">
            <a:avLst/>
          </a:prstGeom>
          <a:noFill/>
          <a:ln/>
        </p:spPr>
        <p:txBody>
          <a:bodyPr wrap="square" lIns="0" tIns="0" rIns="0" bIns="0" rtlCol="0" anchor="ctr"/>
          <a:lstStyle/>
          <a:p>
            <a:pPr algn="ctr" indent="0" marL="0">
              <a:buNone/>
            </a:pPr>
            <a:r>
              <a:rPr lang="en-US" sz="950" dirty="0">
                <a:solidFill>
                  <a:srgbClr val="94A3B8"/>
                </a:solidFill>
              </a:rPr>
              <a:t>Run L element-accuracy</a:t>
            </a:r>
            <a:endParaRPr lang="en-US" sz="950" dirty="0"/>
          </a:p>
        </p:txBody>
      </p:sp>
      <p:sp>
        <p:nvSpPr>
          <p:cNvPr id="30" name="Text 28"/>
          <p:cNvSpPr/>
          <p:nvPr/>
        </p:nvSpPr>
        <p:spPr>
          <a:xfrm>
            <a:off x="8915400" y="1828800"/>
            <a:ext cx="1691640" cy="438912"/>
          </a:xfrm>
          <a:prstGeom prst="rect">
            <a:avLst/>
          </a:prstGeom>
          <a:noFill/>
          <a:ln/>
        </p:spPr>
        <p:txBody>
          <a:bodyPr wrap="square" lIns="0" tIns="0" rIns="0" bIns="0" rtlCol="0" anchor="ctr"/>
          <a:lstStyle/>
          <a:p>
            <a:pPr algn="ctr" indent="0" marL="0">
              <a:buNone/>
            </a:pPr>
            <a:r>
              <a:rPr lang="en-US" sz="3000" b="1" dirty="0">
                <a:solidFill>
                  <a:srgbClr val="22D3EE"/>
                </a:solidFill>
              </a:rPr>
              <a:t>+13.76 pp</a:t>
            </a:r>
            <a:endParaRPr lang="en-US" sz="3000" dirty="0"/>
          </a:p>
        </p:txBody>
      </p:sp>
      <p:sp>
        <p:nvSpPr>
          <p:cNvPr id="31" name="Text 29"/>
          <p:cNvSpPr/>
          <p:nvPr/>
        </p:nvSpPr>
        <p:spPr>
          <a:xfrm>
            <a:off x="8915400" y="2331720"/>
            <a:ext cx="1691640" cy="320040"/>
          </a:xfrm>
          <a:prstGeom prst="rect">
            <a:avLst/>
          </a:prstGeom>
          <a:noFill/>
          <a:ln/>
        </p:spPr>
        <p:txBody>
          <a:bodyPr wrap="square" lIns="0" tIns="0" rIns="0" bIns="0" rtlCol="0" anchor="ctr"/>
          <a:lstStyle/>
          <a:p>
            <a:pPr algn="ctr" indent="0" marL="0">
              <a:buNone/>
            </a:pPr>
            <a:r>
              <a:rPr lang="en-US" sz="950" dirty="0">
                <a:solidFill>
                  <a:srgbClr val="94A3B8"/>
                </a:solidFill>
              </a:rPr>
              <a:t>absolute vs baseline</a:t>
            </a:r>
            <a:endParaRPr lang="en-US" sz="950" dirty="0"/>
          </a:p>
        </p:txBody>
      </p:sp>
      <p:sp>
        <p:nvSpPr>
          <p:cNvPr id="32" name="Text 30"/>
          <p:cNvSpPr/>
          <p:nvPr/>
        </p:nvSpPr>
        <p:spPr>
          <a:xfrm>
            <a:off x="7635240" y="3337560"/>
            <a:ext cx="1920240" cy="438912"/>
          </a:xfrm>
          <a:prstGeom prst="rect">
            <a:avLst/>
          </a:prstGeom>
          <a:noFill/>
          <a:ln/>
        </p:spPr>
        <p:txBody>
          <a:bodyPr wrap="square" lIns="0" tIns="0" rIns="0" bIns="0" rtlCol="0" anchor="ctr"/>
          <a:lstStyle/>
          <a:p>
            <a:pPr algn="ctr" indent="0" marL="0">
              <a:buNone/>
            </a:pPr>
            <a:r>
              <a:rPr lang="en-US" sz="3000" b="1" dirty="0">
                <a:solidFill>
                  <a:srgbClr val="A78BFA"/>
                </a:solidFill>
              </a:rPr>
              <a:t>+35.0%</a:t>
            </a:r>
            <a:endParaRPr lang="en-US" sz="3000" dirty="0"/>
          </a:p>
        </p:txBody>
      </p:sp>
      <p:sp>
        <p:nvSpPr>
          <p:cNvPr id="33" name="Text 31"/>
          <p:cNvSpPr/>
          <p:nvPr/>
        </p:nvSpPr>
        <p:spPr>
          <a:xfrm>
            <a:off x="7635240" y="3840480"/>
            <a:ext cx="1920240" cy="320040"/>
          </a:xfrm>
          <a:prstGeom prst="rect">
            <a:avLst/>
          </a:prstGeom>
          <a:noFill/>
          <a:ln/>
        </p:spPr>
        <p:txBody>
          <a:bodyPr wrap="square" lIns="0" tIns="0" rIns="0" bIns="0" rtlCol="0" anchor="ctr"/>
          <a:lstStyle/>
          <a:p>
            <a:pPr algn="ctr" indent="0" marL="0">
              <a:buNone/>
            </a:pPr>
            <a:r>
              <a:rPr lang="en-US" sz="950" dirty="0">
                <a:solidFill>
                  <a:srgbClr val="94A3B8"/>
                </a:solidFill>
              </a:rPr>
              <a:t>relative lift</a:t>
            </a:r>
            <a:endParaRPr lang="en-US" sz="950" dirty="0"/>
          </a:p>
        </p:txBody>
      </p:sp>
      <p:sp>
        <p:nvSpPr>
          <p:cNvPr id="34" name="Text 32"/>
          <p:cNvSpPr/>
          <p:nvPr/>
        </p:nvSpPr>
        <p:spPr>
          <a:xfrm>
            <a:off x="6995160" y="4800600"/>
            <a:ext cx="3566160" cy="347472"/>
          </a:xfrm>
          <a:prstGeom prst="rect">
            <a:avLst/>
          </a:prstGeom>
          <a:noFill/>
          <a:ln/>
        </p:spPr>
        <p:txBody>
          <a:bodyPr wrap="square" lIns="0" tIns="0" rIns="0" bIns="0" rtlCol="0" anchor="ctr"/>
          <a:lstStyle/>
          <a:p>
            <a:pPr indent="0" marL="0">
              <a:buNone/>
            </a:pPr>
            <a:r>
              <a:rPr lang="en-US" sz="1150" dirty="0">
                <a:solidFill>
                  <a:srgbClr val="94A3B8"/>
                </a:solidFill>
              </a:rPr>
              <a:t>Legacy tap-radius for Run L: 0.6196, retained only for backward comparison.</a:t>
            </a:r>
            <a:endParaRPr lang="en-US" sz="115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PER-ACTION</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Where the final improvement came from</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685800" y="1325880"/>
            <a:ext cx="5623560" cy="4526280"/>
          </a:xfrm>
          <a:prstGeom prst="roundRect">
            <a:avLst>
              <a:gd name="adj" fmla="val 1616"/>
            </a:avLst>
          </a:prstGeom>
          <a:solidFill>
            <a:srgbClr val="111827"/>
          </a:solidFill>
          <a:ln w="12700">
            <a:solidFill>
              <a:srgbClr val="334155">
                <a:alpha val="85000"/>
              </a:srgbClr>
            </a:solidFill>
            <a:prstDash val="solid"/>
          </a:ln>
        </p:spPr>
      </p:sp>
      <p:sp>
        <p:nvSpPr>
          <p:cNvPr id="6" name="Text 4"/>
          <p:cNvSpPr/>
          <p:nvPr/>
        </p:nvSpPr>
        <p:spPr>
          <a:xfrm>
            <a:off x="960120" y="1600200"/>
            <a:ext cx="3657600" cy="228600"/>
          </a:xfrm>
          <a:prstGeom prst="rect">
            <a:avLst/>
          </a:prstGeom>
          <a:noFill/>
          <a:ln/>
        </p:spPr>
        <p:txBody>
          <a:bodyPr wrap="square" lIns="0" tIns="0" rIns="0" bIns="0" rtlCol="0" anchor="ctr"/>
          <a:lstStyle/>
          <a:p>
            <a:pPr indent="0" marL="0">
              <a:buNone/>
            </a:pPr>
            <a:r>
              <a:rPr lang="en-US" sz="1500" b="1" dirty="0">
                <a:solidFill>
                  <a:srgbClr val="E5E7EB"/>
                </a:solidFill>
              </a:rPr>
              <a:t>Run L vs zero-shot, by action type</a:t>
            </a:r>
            <a:endParaRPr lang="en-US" sz="1500" dirty="0"/>
          </a:p>
        </p:txBody>
      </p:sp>
      <p:sp>
        <p:nvSpPr>
          <p:cNvPr id="7" name="Text 5"/>
          <p:cNvSpPr/>
          <p:nvPr/>
        </p:nvSpPr>
        <p:spPr>
          <a:xfrm>
            <a:off x="960120" y="2139696"/>
            <a:ext cx="1325880" cy="164592"/>
          </a:xfrm>
          <a:prstGeom prst="rect">
            <a:avLst/>
          </a:prstGeom>
          <a:noFill/>
          <a:ln/>
        </p:spPr>
        <p:txBody>
          <a:bodyPr wrap="square" lIns="0" tIns="0" rIns="0" bIns="0" rtlCol="0" anchor="ctr">
            <a:normAutofit/>
          </a:bodyPr>
          <a:lstStyle/>
          <a:p>
            <a:pPr indent="0" marL="0">
              <a:buNone/>
            </a:pPr>
            <a:r>
              <a:rPr lang="en-US" sz="880" b="1" dirty="0">
                <a:solidFill>
                  <a:srgbClr val="E5E7EB"/>
                </a:solidFill>
              </a:rPr>
              <a:t>open_app</a:t>
            </a:r>
            <a:endParaRPr lang="en-US" sz="880" dirty="0"/>
          </a:p>
        </p:txBody>
      </p:sp>
      <p:sp>
        <p:nvSpPr>
          <p:cNvPr id="8" name="Shape 6"/>
          <p:cNvSpPr/>
          <p:nvPr/>
        </p:nvSpPr>
        <p:spPr>
          <a:xfrm>
            <a:off x="2331720" y="2139696"/>
            <a:ext cx="2697480" cy="146304"/>
          </a:xfrm>
          <a:prstGeom prst="rect">
            <a:avLst/>
          </a:prstGeom>
          <a:solidFill>
            <a:srgbClr val="1E293B"/>
          </a:solidFill>
          <a:ln w="12700">
            <a:solidFill>
              <a:srgbClr val="1E293B"/>
            </a:solidFill>
            <a:prstDash val="solid"/>
          </a:ln>
        </p:spPr>
      </p:sp>
      <p:sp>
        <p:nvSpPr>
          <p:cNvPr id="9" name="Shape 7"/>
          <p:cNvSpPr/>
          <p:nvPr/>
        </p:nvSpPr>
        <p:spPr>
          <a:xfrm>
            <a:off x="2331720" y="2139696"/>
            <a:ext cx="1836714" cy="146304"/>
          </a:xfrm>
          <a:prstGeom prst="rect">
            <a:avLst/>
          </a:prstGeom>
          <a:solidFill>
            <a:srgbClr val="34D399"/>
          </a:solidFill>
          <a:ln w="12700">
            <a:solidFill>
              <a:srgbClr val="34D399"/>
            </a:solidFill>
            <a:prstDash val="solid"/>
          </a:ln>
        </p:spPr>
      </p:sp>
      <p:sp>
        <p:nvSpPr>
          <p:cNvPr id="10" name="Text 8"/>
          <p:cNvSpPr/>
          <p:nvPr/>
        </p:nvSpPr>
        <p:spPr>
          <a:xfrm>
            <a:off x="5138928" y="2112264"/>
            <a:ext cx="685800" cy="182880"/>
          </a:xfrm>
          <a:prstGeom prst="rect">
            <a:avLst/>
          </a:prstGeom>
          <a:noFill/>
          <a:ln/>
        </p:spPr>
        <p:txBody>
          <a:bodyPr wrap="square" lIns="0" tIns="0" rIns="0" bIns="0" rtlCol="0" anchor="ctr"/>
          <a:lstStyle/>
          <a:p>
            <a:pPr algn="r" indent="0" marL="0">
              <a:buNone/>
            </a:pPr>
            <a:r>
              <a:rPr lang="en-US" sz="800" dirty="0">
                <a:solidFill>
                  <a:srgbClr val="34D399"/>
                </a:solidFill>
              </a:rPr>
              <a:t>68.1%</a:t>
            </a:r>
            <a:endParaRPr lang="en-US" sz="800" dirty="0"/>
          </a:p>
        </p:txBody>
      </p:sp>
      <p:sp>
        <p:nvSpPr>
          <p:cNvPr id="11" name="Text 9"/>
          <p:cNvSpPr/>
          <p:nvPr/>
        </p:nvSpPr>
        <p:spPr>
          <a:xfrm>
            <a:off x="960120" y="2589276"/>
            <a:ext cx="132588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tap</a:t>
            </a:r>
            <a:endParaRPr lang="en-US" sz="880" dirty="0"/>
          </a:p>
        </p:txBody>
      </p:sp>
      <p:sp>
        <p:nvSpPr>
          <p:cNvPr id="12" name="Shape 10"/>
          <p:cNvSpPr/>
          <p:nvPr/>
        </p:nvSpPr>
        <p:spPr>
          <a:xfrm>
            <a:off x="2331720" y="2589276"/>
            <a:ext cx="2697480" cy="146304"/>
          </a:xfrm>
          <a:prstGeom prst="rect">
            <a:avLst/>
          </a:prstGeom>
          <a:solidFill>
            <a:srgbClr val="1E293B"/>
          </a:solidFill>
          <a:ln w="12700">
            <a:solidFill>
              <a:srgbClr val="1E293B"/>
            </a:solidFill>
            <a:prstDash val="solid"/>
          </a:ln>
        </p:spPr>
      </p:sp>
      <p:sp>
        <p:nvSpPr>
          <p:cNvPr id="13" name="Shape 11"/>
          <p:cNvSpPr/>
          <p:nvPr/>
        </p:nvSpPr>
        <p:spPr>
          <a:xfrm>
            <a:off x="2331720" y="2589276"/>
            <a:ext cx="1471206" cy="146304"/>
          </a:xfrm>
          <a:prstGeom prst="rect">
            <a:avLst/>
          </a:prstGeom>
          <a:solidFill>
            <a:srgbClr val="22D3EE"/>
          </a:solidFill>
          <a:ln w="12700">
            <a:solidFill>
              <a:srgbClr val="22D3EE"/>
            </a:solidFill>
            <a:prstDash val="solid"/>
          </a:ln>
        </p:spPr>
      </p:sp>
      <p:sp>
        <p:nvSpPr>
          <p:cNvPr id="14" name="Text 12"/>
          <p:cNvSpPr/>
          <p:nvPr/>
        </p:nvSpPr>
        <p:spPr>
          <a:xfrm>
            <a:off x="5138928" y="2561844"/>
            <a:ext cx="685800" cy="182880"/>
          </a:xfrm>
          <a:prstGeom prst="rect">
            <a:avLst/>
          </a:prstGeom>
          <a:noFill/>
          <a:ln/>
        </p:spPr>
        <p:txBody>
          <a:bodyPr wrap="square" lIns="0" tIns="0" rIns="0" bIns="0" rtlCol="0" anchor="ctr"/>
          <a:lstStyle/>
          <a:p>
            <a:pPr algn="r" indent="0" marL="0">
              <a:buNone/>
            </a:pPr>
            <a:r>
              <a:rPr lang="en-US" sz="800" dirty="0">
                <a:solidFill>
                  <a:srgbClr val="22D3EE"/>
                </a:solidFill>
              </a:rPr>
              <a:t>54.5%</a:t>
            </a:r>
            <a:endParaRPr lang="en-US" sz="800" dirty="0"/>
          </a:p>
        </p:txBody>
      </p:sp>
      <p:sp>
        <p:nvSpPr>
          <p:cNvPr id="15" name="Text 13"/>
          <p:cNvSpPr/>
          <p:nvPr/>
        </p:nvSpPr>
        <p:spPr>
          <a:xfrm>
            <a:off x="960120" y="3038856"/>
            <a:ext cx="132588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scroll</a:t>
            </a:r>
            <a:endParaRPr lang="en-US" sz="880" dirty="0"/>
          </a:p>
        </p:txBody>
      </p:sp>
      <p:sp>
        <p:nvSpPr>
          <p:cNvPr id="16" name="Shape 14"/>
          <p:cNvSpPr/>
          <p:nvPr/>
        </p:nvSpPr>
        <p:spPr>
          <a:xfrm>
            <a:off x="2331720" y="3038856"/>
            <a:ext cx="2697480" cy="146304"/>
          </a:xfrm>
          <a:prstGeom prst="rect">
            <a:avLst/>
          </a:prstGeom>
          <a:solidFill>
            <a:srgbClr val="1E293B"/>
          </a:solidFill>
          <a:ln w="12700">
            <a:solidFill>
              <a:srgbClr val="1E293B"/>
            </a:solidFill>
            <a:prstDash val="solid"/>
          </a:ln>
        </p:spPr>
      </p:sp>
      <p:sp>
        <p:nvSpPr>
          <p:cNvPr id="17" name="Shape 15"/>
          <p:cNvSpPr/>
          <p:nvPr/>
        </p:nvSpPr>
        <p:spPr>
          <a:xfrm>
            <a:off x="2331720" y="3038856"/>
            <a:ext cx="1073058" cy="146304"/>
          </a:xfrm>
          <a:prstGeom prst="rect">
            <a:avLst/>
          </a:prstGeom>
          <a:solidFill>
            <a:srgbClr val="60A5FA"/>
          </a:solidFill>
          <a:ln w="12700">
            <a:solidFill>
              <a:srgbClr val="60A5FA"/>
            </a:solidFill>
            <a:prstDash val="solid"/>
          </a:ln>
        </p:spPr>
      </p:sp>
      <p:sp>
        <p:nvSpPr>
          <p:cNvPr id="18" name="Text 16"/>
          <p:cNvSpPr/>
          <p:nvPr/>
        </p:nvSpPr>
        <p:spPr>
          <a:xfrm>
            <a:off x="5138928" y="3011424"/>
            <a:ext cx="685800" cy="182880"/>
          </a:xfrm>
          <a:prstGeom prst="rect">
            <a:avLst/>
          </a:prstGeom>
          <a:noFill/>
          <a:ln/>
        </p:spPr>
        <p:txBody>
          <a:bodyPr wrap="square" lIns="0" tIns="0" rIns="0" bIns="0" rtlCol="0" anchor="ctr"/>
          <a:lstStyle/>
          <a:p>
            <a:pPr algn="r" indent="0" marL="0">
              <a:buNone/>
            </a:pPr>
            <a:r>
              <a:rPr lang="en-US" sz="800" dirty="0">
                <a:solidFill>
                  <a:srgbClr val="60A5FA"/>
                </a:solidFill>
              </a:rPr>
              <a:t>39.8%</a:t>
            </a:r>
            <a:endParaRPr lang="en-US" sz="800" dirty="0"/>
          </a:p>
        </p:txBody>
      </p:sp>
      <p:sp>
        <p:nvSpPr>
          <p:cNvPr id="19" name="Text 17"/>
          <p:cNvSpPr/>
          <p:nvPr/>
        </p:nvSpPr>
        <p:spPr>
          <a:xfrm>
            <a:off x="960120" y="3488436"/>
            <a:ext cx="132588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type</a:t>
            </a:r>
            <a:endParaRPr lang="en-US" sz="880" dirty="0"/>
          </a:p>
        </p:txBody>
      </p:sp>
      <p:sp>
        <p:nvSpPr>
          <p:cNvPr id="20" name="Shape 18"/>
          <p:cNvSpPr/>
          <p:nvPr/>
        </p:nvSpPr>
        <p:spPr>
          <a:xfrm>
            <a:off x="2331720" y="3488436"/>
            <a:ext cx="2697480" cy="146304"/>
          </a:xfrm>
          <a:prstGeom prst="rect">
            <a:avLst/>
          </a:prstGeom>
          <a:solidFill>
            <a:srgbClr val="1E293B"/>
          </a:solidFill>
          <a:ln w="12700">
            <a:solidFill>
              <a:srgbClr val="1E293B"/>
            </a:solidFill>
            <a:prstDash val="solid"/>
          </a:ln>
        </p:spPr>
      </p:sp>
      <p:sp>
        <p:nvSpPr>
          <p:cNvPr id="21" name="Shape 19"/>
          <p:cNvSpPr/>
          <p:nvPr/>
        </p:nvSpPr>
        <p:spPr>
          <a:xfrm>
            <a:off x="2331720" y="3488436"/>
            <a:ext cx="2023110" cy="146304"/>
          </a:xfrm>
          <a:prstGeom prst="rect">
            <a:avLst/>
          </a:prstGeom>
          <a:solidFill>
            <a:srgbClr val="A78BFA"/>
          </a:solidFill>
          <a:ln w="12700">
            <a:solidFill>
              <a:srgbClr val="A78BFA"/>
            </a:solidFill>
            <a:prstDash val="solid"/>
          </a:ln>
        </p:spPr>
      </p:sp>
      <p:sp>
        <p:nvSpPr>
          <p:cNvPr id="22" name="Text 20"/>
          <p:cNvSpPr/>
          <p:nvPr/>
        </p:nvSpPr>
        <p:spPr>
          <a:xfrm>
            <a:off x="5138928" y="3461004"/>
            <a:ext cx="685800" cy="182880"/>
          </a:xfrm>
          <a:prstGeom prst="rect">
            <a:avLst/>
          </a:prstGeom>
          <a:noFill/>
          <a:ln/>
        </p:spPr>
        <p:txBody>
          <a:bodyPr wrap="square" lIns="0" tIns="0" rIns="0" bIns="0" rtlCol="0" anchor="ctr"/>
          <a:lstStyle/>
          <a:p>
            <a:pPr algn="r" indent="0" marL="0">
              <a:buNone/>
            </a:pPr>
            <a:r>
              <a:rPr lang="en-US" sz="800" dirty="0">
                <a:solidFill>
                  <a:srgbClr val="A78BFA"/>
                </a:solidFill>
              </a:rPr>
              <a:t>75.0%</a:t>
            </a:r>
            <a:endParaRPr lang="en-US" sz="800" dirty="0"/>
          </a:p>
        </p:txBody>
      </p:sp>
      <p:sp>
        <p:nvSpPr>
          <p:cNvPr id="23" name="Text 21"/>
          <p:cNvSpPr/>
          <p:nvPr/>
        </p:nvSpPr>
        <p:spPr>
          <a:xfrm>
            <a:off x="960120" y="3938016"/>
            <a:ext cx="132588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navigate_back</a:t>
            </a:r>
            <a:endParaRPr lang="en-US" sz="880" dirty="0"/>
          </a:p>
        </p:txBody>
      </p:sp>
      <p:sp>
        <p:nvSpPr>
          <p:cNvPr id="24" name="Shape 22"/>
          <p:cNvSpPr/>
          <p:nvPr/>
        </p:nvSpPr>
        <p:spPr>
          <a:xfrm>
            <a:off x="2331720" y="3938016"/>
            <a:ext cx="2697480" cy="146304"/>
          </a:xfrm>
          <a:prstGeom prst="rect">
            <a:avLst/>
          </a:prstGeom>
          <a:solidFill>
            <a:srgbClr val="1E293B"/>
          </a:solidFill>
          <a:ln w="12700">
            <a:solidFill>
              <a:srgbClr val="1E293B"/>
            </a:solidFill>
            <a:prstDash val="solid"/>
          </a:ln>
        </p:spPr>
      </p:sp>
      <p:sp>
        <p:nvSpPr>
          <p:cNvPr id="25" name="Shape 23"/>
          <p:cNvSpPr/>
          <p:nvPr/>
        </p:nvSpPr>
        <p:spPr>
          <a:xfrm>
            <a:off x="2331720" y="3938016"/>
            <a:ext cx="2634359" cy="146304"/>
          </a:xfrm>
          <a:prstGeom prst="rect">
            <a:avLst/>
          </a:prstGeom>
          <a:solidFill>
            <a:srgbClr val="FBBF24"/>
          </a:solidFill>
          <a:ln w="12700">
            <a:solidFill>
              <a:srgbClr val="FBBF24"/>
            </a:solidFill>
            <a:prstDash val="solid"/>
          </a:ln>
        </p:spPr>
      </p:sp>
      <p:sp>
        <p:nvSpPr>
          <p:cNvPr id="26" name="Text 24"/>
          <p:cNvSpPr/>
          <p:nvPr/>
        </p:nvSpPr>
        <p:spPr>
          <a:xfrm>
            <a:off x="5138928" y="3910584"/>
            <a:ext cx="685800" cy="182880"/>
          </a:xfrm>
          <a:prstGeom prst="rect">
            <a:avLst/>
          </a:prstGeom>
          <a:noFill/>
          <a:ln/>
        </p:spPr>
        <p:txBody>
          <a:bodyPr wrap="square" lIns="0" tIns="0" rIns="0" bIns="0" rtlCol="0" anchor="ctr"/>
          <a:lstStyle/>
          <a:p>
            <a:pPr algn="r" indent="0" marL="0">
              <a:buNone/>
            </a:pPr>
            <a:r>
              <a:rPr lang="en-US" sz="800" dirty="0">
                <a:solidFill>
                  <a:srgbClr val="FBBF24"/>
                </a:solidFill>
              </a:rPr>
              <a:t>97.7%</a:t>
            </a:r>
            <a:endParaRPr lang="en-US" sz="800" dirty="0"/>
          </a:p>
        </p:txBody>
      </p:sp>
      <p:sp>
        <p:nvSpPr>
          <p:cNvPr id="27" name="Text 25"/>
          <p:cNvSpPr/>
          <p:nvPr/>
        </p:nvSpPr>
        <p:spPr>
          <a:xfrm>
            <a:off x="960120" y="4387596"/>
            <a:ext cx="132588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wait</a:t>
            </a:r>
            <a:endParaRPr lang="en-US" sz="880" dirty="0"/>
          </a:p>
        </p:txBody>
      </p:sp>
      <p:sp>
        <p:nvSpPr>
          <p:cNvPr id="28" name="Shape 26"/>
          <p:cNvSpPr/>
          <p:nvPr/>
        </p:nvSpPr>
        <p:spPr>
          <a:xfrm>
            <a:off x="2331720" y="4387596"/>
            <a:ext cx="2697480" cy="146304"/>
          </a:xfrm>
          <a:prstGeom prst="rect">
            <a:avLst/>
          </a:prstGeom>
          <a:solidFill>
            <a:srgbClr val="1E293B"/>
          </a:solidFill>
          <a:ln w="12700">
            <a:solidFill>
              <a:srgbClr val="1E293B"/>
            </a:solidFill>
            <a:prstDash val="solid"/>
          </a:ln>
        </p:spPr>
      </p:sp>
      <p:sp>
        <p:nvSpPr>
          <p:cNvPr id="29" name="Shape 27"/>
          <p:cNvSpPr/>
          <p:nvPr/>
        </p:nvSpPr>
        <p:spPr>
          <a:xfrm>
            <a:off x="2331720" y="4387596"/>
            <a:ext cx="18288" cy="146304"/>
          </a:xfrm>
          <a:prstGeom prst="rect">
            <a:avLst/>
          </a:prstGeom>
          <a:solidFill>
            <a:srgbClr val="FB7185"/>
          </a:solidFill>
          <a:ln w="12700">
            <a:solidFill>
              <a:srgbClr val="FB7185"/>
            </a:solidFill>
            <a:prstDash val="solid"/>
          </a:ln>
        </p:spPr>
      </p:sp>
      <p:sp>
        <p:nvSpPr>
          <p:cNvPr id="30" name="Text 28"/>
          <p:cNvSpPr/>
          <p:nvPr/>
        </p:nvSpPr>
        <p:spPr>
          <a:xfrm>
            <a:off x="5138928" y="4360164"/>
            <a:ext cx="685800" cy="182880"/>
          </a:xfrm>
          <a:prstGeom prst="rect">
            <a:avLst/>
          </a:prstGeom>
          <a:noFill/>
          <a:ln/>
        </p:spPr>
        <p:txBody>
          <a:bodyPr wrap="square" lIns="0" tIns="0" rIns="0" bIns="0" rtlCol="0" anchor="ctr"/>
          <a:lstStyle/>
          <a:p>
            <a:pPr algn="r" indent="0" marL="0">
              <a:buNone/>
            </a:pPr>
            <a:r>
              <a:rPr lang="en-US" sz="800" dirty="0">
                <a:solidFill>
                  <a:srgbClr val="FB7185"/>
                </a:solidFill>
              </a:rPr>
              <a:t>0.4%</a:t>
            </a:r>
            <a:endParaRPr lang="en-US" sz="800" dirty="0"/>
          </a:p>
        </p:txBody>
      </p:sp>
      <p:sp>
        <p:nvSpPr>
          <p:cNvPr id="31" name="Shape 29"/>
          <p:cNvSpPr/>
          <p:nvPr/>
        </p:nvSpPr>
        <p:spPr>
          <a:xfrm>
            <a:off x="6629400" y="1325880"/>
            <a:ext cx="4572000" cy="4526280"/>
          </a:xfrm>
          <a:prstGeom prst="roundRect">
            <a:avLst>
              <a:gd name="adj" fmla="val 1616"/>
            </a:avLst>
          </a:prstGeom>
          <a:solidFill>
            <a:srgbClr val="111827"/>
          </a:solidFill>
          <a:ln w="12700">
            <a:solidFill>
              <a:srgbClr val="334155">
                <a:alpha val="85000"/>
              </a:srgbClr>
            </a:solidFill>
            <a:prstDash val="solid"/>
          </a:ln>
        </p:spPr>
      </p:sp>
      <p:sp>
        <p:nvSpPr>
          <p:cNvPr id="32" name="Text 30"/>
          <p:cNvSpPr/>
          <p:nvPr/>
        </p:nvSpPr>
        <p:spPr>
          <a:xfrm>
            <a:off x="6903720" y="1600200"/>
            <a:ext cx="1828800" cy="228600"/>
          </a:xfrm>
          <a:prstGeom prst="rect">
            <a:avLst/>
          </a:prstGeom>
          <a:noFill/>
          <a:ln/>
        </p:spPr>
        <p:txBody>
          <a:bodyPr wrap="square" lIns="0" tIns="0" rIns="0" bIns="0" rtlCol="0" anchor="ctr"/>
          <a:lstStyle/>
          <a:p>
            <a:pPr indent="0" marL="0">
              <a:buNone/>
            </a:pPr>
            <a:r>
              <a:rPr lang="en-US" sz="1500" b="1" dirty="0">
                <a:solidFill>
                  <a:srgbClr val="E5E7EB"/>
                </a:solidFill>
              </a:rPr>
              <a:t>Interpretation</a:t>
            </a:r>
            <a:endParaRPr lang="en-US" sz="1500" dirty="0"/>
          </a:p>
        </p:txBody>
      </p:sp>
      <p:sp>
        <p:nvSpPr>
          <p:cNvPr id="33" name="Text 31"/>
          <p:cNvSpPr/>
          <p:nvPr/>
        </p:nvSpPr>
        <p:spPr>
          <a:xfrm>
            <a:off x="6903720" y="2103120"/>
            <a:ext cx="3794760" cy="2331720"/>
          </a:xfrm>
          <a:prstGeom prst="rect">
            <a:avLst/>
          </a:prstGeom>
          <a:noFill/>
          <a:ln/>
        </p:spPr>
        <p:txBody>
          <a:bodyPr wrap="square" lIns="1016" tIns="1016" rIns="1016" bIns="1016" rtlCol="0" anchor="ctr">
            <a:normAutofit/>
          </a:bodyPr>
          <a:lstStyle/>
          <a:p>
            <a:pPr marL="127000" indent="-127000">
              <a:buSzPct val="100000"/>
              <a:buChar char="•"/>
            </a:pPr>
            <a:r>
              <a:rPr lang="en-US" sz="1170" dirty="0">
                <a:solidFill>
                  <a:srgbClr val="E5E7EB"/>
                </a:solidFill>
              </a:rPr>
              <a:t>open_app: CAP changed a near-zero class into a strong class</a:t>
            </a:r>
            <a:endParaRPr lang="en-US" sz="1170" dirty="0"/>
          </a:p>
          <a:p>
            <a:pPr marL="127000" indent="-127000">
              <a:buSzPct val="100000"/>
              <a:buChar char="•"/>
            </a:pPr>
            <a:r>
              <a:rPr lang="en-US" sz="1170" dirty="0">
                <a:solidFill>
                  <a:srgbClr val="E5E7EB"/>
                </a:solidFill>
              </a:rPr>
              <a:t>tap: a11y-native selection lifted the dominant class</a:t>
            </a:r>
            <a:endParaRPr lang="en-US" sz="1170" dirty="0"/>
          </a:p>
          <a:p>
            <a:pPr marL="127000" indent="-127000">
              <a:buSzPct val="100000"/>
              <a:buChar char="•"/>
            </a:pPr>
            <a:r>
              <a:rPr lang="en-US" sz="1170" dirty="0">
                <a:solidFill>
                  <a:srgbClr val="E5E7EB"/>
                </a:solidFill>
              </a:rPr>
              <a:t>scroll: prior history repaired part of direction ambiguity</a:t>
            </a:r>
            <a:endParaRPr lang="en-US" sz="1170" dirty="0"/>
          </a:p>
          <a:p>
            <a:pPr marL="127000" indent="-127000">
              <a:buSzPct val="100000"/>
              <a:buChar char="•"/>
            </a:pPr>
            <a:r>
              <a:rPr lang="en-US" sz="1170" dirty="0">
                <a:solidFill>
                  <a:srgbClr val="E5E7EB"/>
                </a:solidFill>
              </a:rPr>
              <a:t>wait: still floor; single screenshots do not reveal loading state</a:t>
            </a:r>
            <a:endParaRPr lang="en-US" sz="117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TAKEAWAYS</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Lessons learned</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777240" y="1371600"/>
            <a:ext cx="3246120" cy="4343400"/>
          </a:xfrm>
          <a:prstGeom prst="roundRect">
            <a:avLst>
              <a:gd name="adj" fmla="val 2254"/>
            </a:avLst>
          </a:prstGeom>
          <a:solidFill>
            <a:srgbClr val="111827"/>
          </a:solidFill>
          <a:ln w="12700">
            <a:solidFill>
              <a:srgbClr val="334155">
                <a:alpha val="85000"/>
              </a:srgbClr>
            </a:solidFill>
            <a:prstDash val="solid"/>
          </a:ln>
        </p:spPr>
      </p:sp>
      <p:sp>
        <p:nvSpPr>
          <p:cNvPr id="6" name="Text 4"/>
          <p:cNvSpPr/>
          <p:nvPr/>
        </p:nvSpPr>
        <p:spPr>
          <a:xfrm>
            <a:off x="1024128" y="1691640"/>
            <a:ext cx="2560320" cy="228600"/>
          </a:xfrm>
          <a:prstGeom prst="rect">
            <a:avLst/>
          </a:prstGeom>
          <a:noFill/>
          <a:ln/>
        </p:spPr>
        <p:txBody>
          <a:bodyPr wrap="square" lIns="0" tIns="0" rIns="0" bIns="0" rtlCol="0" anchor="ctr"/>
          <a:lstStyle/>
          <a:p>
            <a:pPr indent="0" marL="0">
              <a:buNone/>
            </a:pPr>
            <a:r>
              <a:rPr lang="en-US" sz="1450" b="1" dirty="0">
                <a:solidFill>
                  <a:srgbClr val="22D3EE"/>
                </a:solidFill>
              </a:rPr>
              <a:t>1. Formulation &gt; knobs</a:t>
            </a:r>
            <a:endParaRPr lang="en-US" sz="1450" dirty="0"/>
          </a:p>
        </p:txBody>
      </p:sp>
      <p:sp>
        <p:nvSpPr>
          <p:cNvPr id="7" name="Text 5"/>
          <p:cNvSpPr/>
          <p:nvPr/>
        </p:nvSpPr>
        <p:spPr>
          <a:xfrm>
            <a:off x="1024128" y="2148840"/>
            <a:ext cx="2651760" cy="914400"/>
          </a:xfrm>
          <a:prstGeom prst="rect">
            <a:avLst/>
          </a:prstGeom>
          <a:noFill/>
          <a:ln/>
        </p:spPr>
        <p:txBody>
          <a:bodyPr wrap="square" lIns="0" tIns="0" rIns="0" bIns="0" rtlCol="0" anchor="ctr">
            <a:normAutofit/>
          </a:bodyPr>
          <a:lstStyle/>
          <a:p>
            <a:pPr indent="0" marL="0">
              <a:buNone/>
            </a:pPr>
            <a:r>
              <a:rPr lang="en-US" sz="1300" dirty="0">
                <a:solidFill>
                  <a:srgbClr val="E5E7EB"/>
                </a:solidFill>
              </a:rPr>
              <a:t>Changing from coordinate digits to element IDs mattered more than LoRA rank, loss tweaks, or training length.</a:t>
            </a:r>
            <a:endParaRPr lang="en-US" sz="1300" dirty="0"/>
          </a:p>
        </p:txBody>
      </p:sp>
      <p:sp>
        <p:nvSpPr>
          <p:cNvPr id="8" name="Shape 6"/>
          <p:cNvSpPr/>
          <p:nvPr/>
        </p:nvSpPr>
        <p:spPr>
          <a:xfrm>
            <a:off x="4480560" y="1371600"/>
            <a:ext cx="3246120" cy="4343400"/>
          </a:xfrm>
          <a:prstGeom prst="roundRect">
            <a:avLst>
              <a:gd name="adj" fmla="val 2254"/>
            </a:avLst>
          </a:prstGeom>
          <a:solidFill>
            <a:srgbClr val="111827"/>
          </a:solidFill>
          <a:ln w="12700">
            <a:solidFill>
              <a:srgbClr val="334155">
                <a:alpha val="85000"/>
              </a:srgbClr>
            </a:solidFill>
            <a:prstDash val="solid"/>
          </a:ln>
        </p:spPr>
      </p:sp>
      <p:sp>
        <p:nvSpPr>
          <p:cNvPr id="9" name="Text 7"/>
          <p:cNvSpPr/>
          <p:nvPr/>
        </p:nvSpPr>
        <p:spPr>
          <a:xfrm>
            <a:off x="4727448" y="1691640"/>
            <a:ext cx="2560320" cy="228600"/>
          </a:xfrm>
          <a:prstGeom prst="rect">
            <a:avLst/>
          </a:prstGeom>
          <a:noFill/>
          <a:ln/>
        </p:spPr>
        <p:txBody>
          <a:bodyPr wrap="square" lIns="0" tIns="0" rIns="0" bIns="0" rtlCol="0" anchor="ctr"/>
          <a:lstStyle/>
          <a:p>
            <a:pPr indent="0" marL="0">
              <a:buNone/>
            </a:pPr>
            <a:r>
              <a:rPr lang="en-US" sz="1450" b="1" dirty="0">
                <a:solidFill>
                  <a:srgbClr val="FBBF24"/>
                </a:solidFill>
              </a:rPr>
              <a:t>2. Metrics can lie</a:t>
            </a:r>
            <a:endParaRPr lang="en-US" sz="1450" dirty="0"/>
          </a:p>
        </p:txBody>
      </p:sp>
      <p:sp>
        <p:nvSpPr>
          <p:cNvPr id="10" name="Text 8"/>
          <p:cNvSpPr/>
          <p:nvPr/>
        </p:nvSpPr>
        <p:spPr>
          <a:xfrm>
            <a:off x="4727448" y="2148840"/>
            <a:ext cx="2651760" cy="914400"/>
          </a:xfrm>
          <a:prstGeom prst="rect">
            <a:avLst/>
          </a:prstGeom>
          <a:noFill/>
          <a:ln/>
        </p:spPr>
        <p:txBody>
          <a:bodyPr wrap="square" lIns="0" tIns="0" rIns="0" bIns="0" rtlCol="0" anchor="ctr">
            <a:normAutofit/>
          </a:bodyPr>
          <a:lstStyle/>
          <a:p>
            <a:pPr indent="0" marL="0">
              <a:buNone/>
            </a:pPr>
            <a:r>
              <a:rPr lang="en-US" sz="1300" dirty="0">
                <a:solidFill>
                  <a:srgbClr val="E5E7EB"/>
                </a:solidFill>
              </a:rPr>
              <a:t>Tap-radius made wrong nearby elements look correct and inverted the learning curve. Element-accuracy matched production.</a:t>
            </a:r>
            <a:endParaRPr lang="en-US" sz="1300" dirty="0"/>
          </a:p>
        </p:txBody>
      </p:sp>
      <p:sp>
        <p:nvSpPr>
          <p:cNvPr id="11" name="Shape 9"/>
          <p:cNvSpPr/>
          <p:nvPr/>
        </p:nvSpPr>
        <p:spPr>
          <a:xfrm>
            <a:off x="8183880" y="1371600"/>
            <a:ext cx="3246120" cy="4343400"/>
          </a:xfrm>
          <a:prstGeom prst="roundRect">
            <a:avLst>
              <a:gd name="adj" fmla="val 2254"/>
            </a:avLst>
          </a:prstGeom>
          <a:solidFill>
            <a:srgbClr val="111827"/>
          </a:solidFill>
          <a:ln w="12700">
            <a:solidFill>
              <a:srgbClr val="334155">
                <a:alpha val="85000"/>
              </a:srgbClr>
            </a:solidFill>
            <a:prstDash val="solid"/>
          </a:ln>
        </p:spPr>
      </p:sp>
      <p:sp>
        <p:nvSpPr>
          <p:cNvPr id="12" name="Text 10"/>
          <p:cNvSpPr/>
          <p:nvPr/>
        </p:nvSpPr>
        <p:spPr>
          <a:xfrm>
            <a:off x="8430768" y="1691640"/>
            <a:ext cx="2560320" cy="228600"/>
          </a:xfrm>
          <a:prstGeom prst="rect">
            <a:avLst/>
          </a:prstGeom>
          <a:noFill/>
          <a:ln/>
        </p:spPr>
        <p:txBody>
          <a:bodyPr wrap="square" lIns="0" tIns="0" rIns="0" bIns="0" rtlCol="0" anchor="ctr"/>
          <a:lstStyle/>
          <a:p>
            <a:pPr indent="0" marL="0">
              <a:buNone/>
            </a:pPr>
            <a:r>
              <a:rPr lang="en-US" sz="1450" b="1" dirty="0">
                <a:solidFill>
                  <a:srgbClr val="34D399"/>
                </a:solidFill>
              </a:rPr>
              <a:t>3. Ablations matter</a:t>
            </a:r>
            <a:endParaRPr lang="en-US" sz="1450" dirty="0"/>
          </a:p>
        </p:txBody>
      </p:sp>
      <p:sp>
        <p:nvSpPr>
          <p:cNvPr id="13" name="Text 11"/>
          <p:cNvSpPr/>
          <p:nvPr/>
        </p:nvSpPr>
        <p:spPr>
          <a:xfrm>
            <a:off x="8430768" y="2148840"/>
            <a:ext cx="2651760" cy="960120"/>
          </a:xfrm>
          <a:prstGeom prst="rect">
            <a:avLst/>
          </a:prstGeom>
          <a:noFill/>
          <a:ln/>
        </p:spPr>
        <p:txBody>
          <a:bodyPr wrap="square" lIns="0" tIns="0" rIns="0" bIns="0" rtlCol="0" anchor="ctr">
            <a:normAutofit/>
          </a:bodyPr>
          <a:lstStyle/>
          <a:p>
            <a:pPr indent="0" marL="0">
              <a:buNone/>
            </a:pPr>
            <a:r>
              <a:rPr lang="en-US" sz="1300" dirty="0">
                <a:solidFill>
                  <a:srgbClr val="E5E7EB"/>
                </a:solidFill>
              </a:rPr>
              <a:t>Negative runs were useful: they ruled out coordinate-token fixes and class-balanced loss, and isolated CAP + history as real gains.</a:t>
            </a:r>
            <a:endParaRPr lang="en-US" sz="1300" dirty="0"/>
          </a:p>
        </p:txBody>
      </p:sp>
      <p:sp>
        <p:nvSpPr>
          <p:cNvPr id="14" name="Text 12"/>
          <p:cNvSpPr/>
          <p:nvPr/>
        </p:nvSpPr>
        <p:spPr>
          <a:xfrm>
            <a:off x="1051560" y="5074920"/>
            <a:ext cx="9601200" cy="347472"/>
          </a:xfrm>
          <a:prstGeom prst="rect">
            <a:avLst/>
          </a:prstGeom>
          <a:noFill/>
          <a:ln/>
        </p:spPr>
        <p:txBody>
          <a:bodyPr wrap="square" lIns="0" tIns="0" rIns="0" bIns="0" rtlCol="0" anchor="ctr"/>
          <a:lstStyle/>
          <a:p>
            <a:pPr algn="ctr" indent="0" marL="0">
              <a:buNone/>
            </a:pPr>
            <a:r>
              <a:rPr lang="en-US" sz="1500" b="1" dirty="0">
                <a:solidFill>
                  <a:srgbClr val="FFFFFF"/>
                </a:solidFill>
              </a:rPr>
              <a:t>Practical lesson: treat mobile UI control as structured action selection over UI state, not as raw pixel coordinate regression.</a:t>
            </a:r>
            <a:endParaRPr lang="en-US" sz="150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ANDROIDWORLD</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Transition: live emulator success ≠ per-step accuracy</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640080" y="1371600"/>
            <a:ext cx="5486400" cy="4434840"/>
          </a:xfrm>
          <a:prstGeom prst="roundRect">
            <a:avLst>
              <a:gd name="adj" fmla="val 1649"/>
            </a:avLst>
          </a:prstGeom>
          <a:solidFill>
            <a:srgbClr val="111827"/>
          </a:solidFill>
          <a:ln w="12700">
            <a:solidFill>
              <a:srgbClr val="334155">
                <a:alpha val="85000"/>
              </a:srgbClr>
            </a:solidFill>
            <a:prstDash val="solid"/>
          </a:ln>
        </p:spPr>
      </p:sp>
      <p:sp>
        <p:nvSpPr>
          <p:cNvPr id="6" name="Text 4"/>
          <p:cNvSpPr/>
          <p:nvPr/>
        </p:nvSpPr>
        <p:spPr>
          <a:xfrm>
            <a:off x="914400" y="1645920"/>
            <a:ext cx="4114800" cy="228600"/>
          </a:xfrm>
          <a:prstGeom prst="rect">
            <a:avLst/>
          </a:prstGeom>
          <a:noFill/>
          <a:ln/>
        </p:spPr>
        <p:txBody>
          <a:bodyPr wrap="square" lIns="0" tIns="0" rIns="0" bIns="0" rtlCol="0" anchor="ctr"/>
          <a:lstStyle/>
          <a:p>
            <a:pPr indent="0" marL="0">
              <a:buNone/>
            </a:pPr>
            <a:r>
              <a:rPr lang="en-US" sz="1400" b="1" dirty="0">
                <a:solidFill>
                  <a:srgbClr val="E5E7EB"/>
                </a:solidFill>
              </a:rPr>
              <a:t>The compounding-error problem</a:t>
            </a:r>
            <a:endParaRPr lang="en-US" sz="1400" dirty="0"/>
          </a:p>
        </p:txBody>
      </p:sp>
      <p:sp>
        <p:nvSpPr>
          <p:cNvPr id="7" name="Text 5"/>
          <p:cNvSpPr/>
          <p:nvPr/>
        </p:nvSpPr>
        <p:spPr>
          <a:xfrm>
            <a:off x="914400" y="2103120"/>
            <a:ext cx="5029200" cy="411480"/>
          </a:xfrm>
          <a:prstGeom prst="rect">
            <a:avLst/>
          </a:prstGeom>
          <a:noFill/>
          <a:ln/>
        </p:spPr>
        <p:txBody>
          <a:bodyPr wrap="square" lIns="0" tIns="0" rIns="0" bIns="0" rtlCol="0" anchor="ctr"/>
          <a:lstStyle/>
          <a:p>
            <a:pPr indent="0" marL="0">
              <a:buNone/>
            </a:pPr>
            <a:r>
              <a:rPr lang="en-US" sz="2200" b="1" dirty="0">
                <a:solidFill>
                  <a:srgbClr val="22D3EE"/>
                </a:solidFill>
                <a:latin typeface="Aptos Mono" pitchFamily="34" charset="0"/>
                <a:ea typeface="Aptos Mono" pitchFamily="34" charset="-122"/>
                <a:cs typeface="Aptos Mono" pitchFamily="34" charset="-120"/>
              </a:rPr>
              <a:t>P(N-step success) = pᴺ</a:t>
            </a:r>
            <a:endParaRPr lang="en-US" sz="2200" dirty="0"/>
          </a:p>
        </p:txBody>
      </p:sp>
      <p:sp>
        <p:nvSpPr>
          <p:cNvPr id="8" name="Text 6"/>
          <p:cNvSpPr/>
          <p:nvPr/>
        </p:nvSpPr>
        <p:spPr>
          <a:xfrm>
            <a:off x="960120" y="2926080"/>
            <a:ext cx="1280160" cy="201168"/>
          </a:xfrm>
          <a:prstGeom prst="rect">
            <a:avLst/>
          </a:prstGeom>
          <a:noFill/>
          <a:ln/>
        </p:spPr>
        <p:txBody>
          <a:bodyPr wrap="square" lIns="0" tIns="0" rIns="0" bIns="0" rtlCol="0" anchor="ctr"/>
          <a:lstStyle/>
          <a:p>
            <a:pPr indent="0" marL="0">
              <a:buNone/>
            </a:pPr>
            <a:r>
              <a:rPr lang="en-US" sz="1000" b="1" dirty="0">
                <a:solidFill>
                  <a:srgbClr val="22D3EE"/>
                </a:solidFill>
              </a:rPr>
              <a:t>per-step p</a:t>
            </a:r>
            <a:endParaRPr lang="en-US" sz="1000" dirty="0"/>
          </a:p>
        </p:txBody>
      </p:sp>
      <p:sp>
        <p:nvSpPr>
          <p:cNvPr id="9" name="Text 7"/>
          <p:cNvSpPr/>
          <p:nvPr/>
        </p:nvSpPr>
        <p:spPr>
          <a:xfrm>
            <a:off x="2240280" y="2926080"/>
            <a:ext cx="1280160" cy="201168"/>
          </a:xfrm>
          <a:prstGeom prst="rect">
            <a:avLst/>
          </a:prstGeom>
          <a:noFill/>
          <a:ln/>
        </p:spPr>
        <p:txBody>
          <a:bodyPr wrap="square" lIns="0" tIns="0" rIns="0" bIns="0" rtlCol="0" anchor="ctr"/>
          <a:lstStyle/>
          <a:p>
            <a:pPr indent="0" marL="0">
              <a:buNone/>
            </a:pPr>
            <a:r>
              <a:rPr lang="en-US" sz="1000" b="1" dirty="0">
                <a:solidFill>
                  <a:srgbClr val="22D3EE"/>
                </a:solidFill>
              </a:rPr>
              <a:t>episode N</a:t>
            </a:r>
            <a:endParaRPr lang="en-US" sz="1000" dirty="0"/>
          </a:p>
        </p:txBody>
      </p:sp>
      <p:sp>
        <p:nvSpPr>
          <p:cNvPr id="10" name="Text 8"/>
          <p:cNvSpPr/>
          <p:nvPr/>
        </p:nvSpPr>
        <p:spPr>
          <a:xfrm>
            <a:off x="3520440" y="2926080"/>
            <a:ext cx="1463040" cy="201168"/>
          </a:xfrm>
          <a:prstGeom prst="rect">
            <a:avLst/>
          </a:prstGeom>
          <a:noFill/>
          <a:ln/>
        </p:spPr>
        <p:txBody>
          <a:bodyPr wrap="square" lIns="0" tIns="0" rIns="0" bIns="0" rtlCol="0" anchor="ctr"/>
          <a:lstStyle/>
          <a:p>
            <a:pPr indent="0" marL="0">
              <a:buNone/>
            </a:pPr>
            <a:r>
              <a:rPr lang="en-US" sz="1000" b="1" dirty="0">
                <a:solidFill>
                  <a:srgbClr val="22D3EE"/>
                </a:solidFill>
              </a:rPr>
              <a:t>P(success)</a:t>
            </a:r>
            <a:endParaRPr lang="en-US" sz="1000" dirty="0"/>
          </a:p>
        </p:txBody>
      </p:sp>
      <p:sp>
        <p:nvSpPr>
          <p:cNvPr id="11" name="Shape 9"/>
          <p:cNvSpPr/>
          <p:nvPr/>
        </p:nvSpPr>
        <p:spPr>
          <a:xfrm>
            <a:off x="914400" y="3291840"/>
            <a:ext cx="5120640" cy="365760"/>
          </a:xfrm>
          <a:prstGeom prst="rect">
            <a:avLst/>
          </a:prstGeom>
          <a:solidFill>
            <a:srgbClr val="111827">
              <a:alpha val="90000"/>
            </a:srgbClr>
          </a:solidFill>
          <a:ln w="12700">
            <a:solidFill>
              <a:srgbClr val="1E293B">
                <a:alpha val="50000"/>
              </a:srgbClr>
            </a:solidFill>
            <a:prstDash val="solid"/>
          </a:ln>
        </p:spPr>
      </p:sp>
      <p:sp>
        <p:nvSpPr>
          <p:cNvPr id="12" name="Text 10"/>
          <p:cNvSpPr/>
          <p:nvPr/>
        </p:nvSpPr>
        <p:spPr>
          <a:xfrm>
            <a:off x="960120" y="3337560"/>
            <a:ext cx="1280160" cy="201168"/>
          </a:xfrm>
          <a:prstGeom prst="rect">
            <a:avLst/>
          </a:prstGeom>
          <a:noFill/>
          <a:ln/>
        </p:spPr>
        <p:txBody>
          <a:bodyPr wrap="square" lIns="0" tIns="0" rIns="0" bIns="0" rtlCol="0" anchor="ctr"/>
          <a:lstStyle/>
          <a:p>
            <a:pPr indent="0" marL="0">
              <a:buNone/>
            </a:pPr>
            <a:r>
              <a:rPr lang="en-US" sz="1150" dirty="0">
                <a:solidFill>
                  <a:srgbClr val="E5E7EB"/>
                </a:solidFill>
              </a:rPr>
              <a:t>0.95</a:t>
            </a:r>
            <a:endParaRPr lang="en-US" sz="1150" dirty="0"/>
          </a:p>
        </p:txBody>
      </p:sp>
      <p:sp>
        <p:nvSpPr>
          <p:cNvPr id="13" name="Text 11"/>
          <p:cNvSpPr/>
          <p:nvPr/>
        </p:nvSpPr>
        <p:spPr>
          <a:xfrm>
            <a:off x="2240280" y="3337560"/>
            <a:ext cx="1280160" cy="201168"/>
          </a:xfrm>
          <a:prstGeom prst="rect">
            <a:avLst/>
          </a:prstGeom>
          <a:noFill/>
          <a:ln/>
        </p:spPr>
        <p:txBody>
          <a:bodyPr wrap="square" lIns="0" tIns="0" rIns="0" bIns="0" rtlCol="0" anchor="ctr"/>
          <a:lstStyle/>
          <a:p>
            <a:pPr indent="0" marL="0">
              <a:buNone/>
            </a:pPr>
            <a:r>
              <a:rPr lang="en-US" sz="1150" dirty="0">
                <a:solidFill>
                  <a:srgbClr val="E5E7EB"/>
                </a:solidFill>
              </a:rPr>
              <a:t>10 steps</a:t>
            </a:r>
            <a:endParaRPr lang="en-US" sz="1150" dirty="0"/>
          </a:p>
        </p:txBody>
      </p:sp>
      <p:sp>
        <p:nvSpPr>
          <p:cNvPr id="14" name="Text 12"/>
          <p:cNvSpPr/>
          <p:nvPr/>
        </p:nvSpPr>
        <p:spPr>
          <a:xfrm>
            <a:off x="3520440" y="3337560"/>
            <a:ext cx="1463040" cy="201168"/>
          </a:xfrm>
          <a:prstGeom prst="rect">
            <a:avLst/>
          </a:prstGeom>
          <a:noFill/>
          <a:ln/>
        </p:spPr>
        <p:txBody>
          <a:bodyPr wrap="square" lIns="0" tIns="0" rIns="0" bIns="0" rtlCol="0" anchor="ctr"/>
          <a:lstStyle/>
          <a:p>
            <a:pPr indent="0" marL="0">
              <a:buNone/>
            </a:pPr>
            <a:r>
              <a:rPr lang="en-US" sz="1150" dirty="0">
                <a:solidFill>
                  <a:srgbClr val="FBBF24"/>
                </a:solidFill>
              </a:rPr>
              <a:t>0.60</a:t>
            </a:r>
            <a:endParaRPr lang="en-US" sz="1150" dirty="0"/>
          </a:p>
        </p:txBody>
      </p:sp>
      <p:sp>
        <p:nvSpPr>
          <p:cNvPr id="15" name="Shape 13"/>
          <p:cNvSpPr/>
          <p:nvPr/>
        </p:nvSpPr>
        <p:spPr>
          <a:xfrm>
            <a:off x="914400" y="3703320"/>
            <a:ext cx="5120640" cy="365760"/>
          </a:xfrm>
          <a:prstGeom prst="rect">
            <a:avLst/>
          </a:prstGeom>
          <a:solidFill>
            <a:srgbClr val="162033">
              <a:alpha val="90000"/>
            </a:srgbClr>
          </a:solidFill>
          <a:ln w="12700">
            <a:solidFill>
              <a:srgbClr val="1E293B">
                <a:alpha val="50000"/>
              </a:srgbClr>
            </a:solidFill>
            <a:prstDash val="solid"/>
          </a:ln>
        </p:spPr>
      </p:sp>
      <p:sp>
        <p:nvSpPr>
          <p:cNvPr id="16" name="Text 14"/>
          <p:cNvSpPr/>
          <p:nvPr/>
        </p:nvSpPr>
        <p:spPr>
          <a:xfrm>
            <a:off x="960120" y="3749040"/>
            <a:ext cx="1280160" cy="201168"/>
          </a:xfrm>
          <a:prstGeom prst="rect">
            <a:avLst/>
          </a:prstGeom>
          <a:noFill/>
          <a:ln/>
        </p:spPr>
        <p:txBody>
          <a:bodyPr wrap="square" lIns="0" tIns="0" rIns="0" bIns="0" rtlCol="0" anchor="ctr"/>
          <a:lstStyle/>
          <a:p>
            <a:pPr indent="0" marL="0">
              <a:buNone/>
            </a:pPr>
            <a:r>
              <a:rPr lang="en-US" sz="1150" dirty="0">
                <a:solidFill>
                  <a:srgbClr val="E5E7EB"/>
                </a:solidFill>
              </a:rPr>
              <a:t>0.85</a:t>
            </a:r>
            <a:endParaRPr lang="en-US" sz="1150" dirty="0"/>
          </a:p>
        </p:txBody>
      </p:sp>
      <p:sp>
        <p:nvSpPr>
          <p:cNvPr id="17" name="Text 15"/>
          <p:cNvSpPr/>
          <p:nvPr/>
        </p:nvSpPr>
        <p:spPr>
          <a:xfrm>
            <a:off x="2240280" y="3749040"/>
            <a:ext cx="1280160" cy="201168"/>
          </a:xfrm>
          <a:prstGeom prst="rect">
            <a:avLst/>
          </a:prstGeom>
          <a:noFill/>
          <a:ln/>
        </p:spPr>
        <p:txBody>
          <a:bodyPr wrap="square" lIns="0" tIns="0" rIns="0" bIns="0" rtlCol="0" anchor="ctr"/>
          <a:lstStyle/>
          <a:p>
            <a:pPr indent="0" marL="0">
              <a:buNone/>
            </a:pPr>
            <a:r>
              <a:rPr lang="en-US" sz="1150" dirty="0">
                <a:solidFill>
                  <a:srgbClr val="E5E7EB"/>
                </a:solidFill>
              </a:rPr>
              <a:t>15 steps</a:t>
            </a:r>
            <a:endParaRPr lang="en-US" sz="1150" dirty="0"/>
          </a:p>
        </p:txBody>
      </p:sp>
      <p:sp>
        <p:nvSpPr>
          <p:cNvPr id="18" name="Text 16"/>
          <p:cNvSpPr/>
          <p:nvPr/>
        </p:nvSpPr>
        <p:spPr>
          <a:xfrm>
            <a:off x="3520440" y="3749040"/>
            <a:ext cx="1463040" cy="201168"/>
          </a:xfrm>
          <a:prstGeom prst="rect">
            <a:avLst/>
          </a:prstGeom>
          <a:noFill/>
          <a:ln/>
        </p:spPr>
        <p:txBody>
          <a:bodyPr wrap="square" lIns="0" tIns="0" rIns="0" bIns="0" rtlCol="0" anchor="ctr"/>
          <a:lstStyle/>
          <a:p>
            <a:pPr indent="0" marL="0">
              <a:buNone/>
            </a:pPr>
            <a:r>
              <a:rPr lang="en-US" sz="1150" dirty="0">
                <a:solidFill>
                  <a:srgbClr val="FBBF24"/>
                </a:solidFill>
              </a:rPr>
              <a:t>0.087</a:t>
            </a:r>
            <a:endParaRPr lang="en-US" sz="1150" dirty="0"/>
          </a:p>
        </p:txBody>
      </p:sp>
      <p:sp>
        <p:nvSpPr>
          <p:cNvPr id="19" name="Shape 17"/>
          <p:cNvSpPr/>
          <p:nvPr/>
        </p:nvSpPr>
        <p:spPr>
          <a:xfrm>
            <a:off x="914400" y="4114800"/>
            <a:ext cx="5120640" cy="365760"/>
          </a:xfrm>
          <a:prstGeom prst="rect">
            <a:avLst/>
          </a:prstGeom>
          <a:solidFill>
            <a:srgbClr val="111827">
              <a:alpha val="90000"/>
            </a:srgbClr>
          </a:solidFill>
          <a:ln w="12700">
            <a:solidFill>
              <a:srgbClr val="1E293B">
                <a:alpha val="50000"/>
              </a:srgbClr>
            </a:solidFill>
            <a:prstDash val="solid"/>
          </a:ln>
        </p:spPr>
      </p:sp>
      <p:sp>
        <p:nvSpPr>
          <p:cNvPr id="20" name="Text 18"/>
          <p:cNvSpPr/>
          <p:nvPr/>
        </p:nvSpPr>
        <p:spPr>
          <a:xfrm>
            <a:off x="960120" y="4160520"/>
            <a:ext cx="1280160" cy="201168"/>
          </a:xfrm>
          <a:prstGeom prst="rect">
            <a:avLst/>
          </a:prstGeom>
          <a:noFill/>
          <a:ln/>
        </p:spPr>
        <p:txBody>
          <a:bodyPr wrap="square" lIns="0" tIns="0" rIns="0" bIns="0" rtlCol="0" anchor="ctr"/>
          <a:lstStyle/>
          <a:p>
            <a:pPr indent="0" marL="0">
              <a:buNone/>
            </a:pPr>
            <a:r>
              <a:rPr lang="en-US" sz="1150" dirty="0">
                <a:solidFill>
                  <a:srgbClr val="E5E7EB"/>
                </a:solidFill>
              </a:rPr>
              <a:t>0.70</a:t>
            </a:r>
            <a:endParaRPr lang="en-US" sz="1150" dirty="0"/>
          </a:p>
        </p:txBody>
      </p:sp>
      <p:sp>
        <p:nvSpPr>
          <p:cNvPr id="21" name="Text 19"/>
          <p:cNvSpPr/>
          <p:nvPr/>
        </p:nvSpPr>
        <p:spPr>
          <a:xfrm>
            <a:off x="2240280" y="4160520"/>
            <a:ext cx="1280160" cy="201168"/>
          </a:xfrm>
          <a:prstGeom prst="rect">
            <a:avLst/>
          </a:prstGeom>
          <a:noFill/>
          <a:ln/>
        </p:spPr>
        <p:txBody>
          <a:bodyPr wrap="square" lIns="0" tIns="0" rIns="0" bIns="0" rtlCol="0" anchor="ctr"/>
          <a:lstStyle/>
          <a:p>
            <a:pPr indent="0" marL="0">
              <a:buNone/>
            </a:pPr>
            <a:r>
              <a:rPr lang="en-US" sz="1150" dirty="0">
                <a:solidFill>
                  <a:srgbClr val="E5E7EB"/>
                </a:solidFill>
              </a:rPr>
              <a:t>20 steps</a:t>
            </a:r>
            <a:endParaRPr lang="en-US" sz="1150" dirty="0"/>
          </a:p>
        </p:txBody>
      </p:sp>
      <p:sp>
        <p:nvSpPr>
          <p:cNvPr id="22" name="Text 20"/>
          <p:cNvSpPr/>
          <p:nvPr/>
        </p:nvSpPr>
        <p:spPr>
          <a:xfrm>
            <a:off x="3520440" y="4160520"/>
            <a:ext cx="1463040" cy="201168"/>
          </a:xfrm>
          <a:prstGeom prst="rect">
            <a:avLst/>
          </a:prstGeom>
          <a:noFill/>
          <a:ln/>
        </p:spPr>
        <p:txBody>
          <a:bodyPr wrap="square" lIns="0" tIns="0" rIns="0" bIns="0" rtlCol="0" anchor="ctr"/>
          <a:lstStyle/>
          <a:p>
            <a:pPr indent="0" marL="0">
              <a:buNone/>
            </a:pPr>
            <a:r>
              <a:rPr lang="en-US" sz="1150" dirty="0">
                <a:solidFill>
                  <a:srgbClr val="FBBF24"/>
                </a:solidFill>
              </a:rPr>
              <a:t>0.0008</a:t>
            </a:r>
            <a:endParaRPr lang="en-US" sz="1150" dirty="0"/>
          </a:p>
        </p:txBody>
      </p:sp>
      <p:sp>
        <p:nvSpPr>
          <p:cNvPr id="23" name="Text 21"/>
          <p:cNvSpPr/>
          <p:nvPr/>
        </p:nvSpPr>
        <p:spPr>
          <a:xfrm>
            <a:off x="914400" y="5029200"/>
            <a:ext cx="5212080" cy="640080"/>
          </a:xfrm>
          <a:prstGeom prst="rect">
            <a:avLst/>
          </a:prstGeom>
          <a:noFill/>
          <a:ln/>
        </p:spPr>
        <p:txBody>
          <a:bodyPr wrap="square" lIns="0" tIns="0" rIns="0" bIns="0" rtlCol="0" anchor="ctr"/>
          <a:lstStyle/>
          <a:p>
            <a:pPr indent="0" marL="0">
              <a:buNone/>
            </a:pPr>
            <a:r>
              <a:rPr lang="en-US" sz="1100" i="1" dirty="0">
                <a:solidFill>
                  <a:srgbClr val="94A3B8"/>
                </a:solidFill>
              </a:rPr>
              <a:t>AW episodes average ~12–20 steps. Run L's ~70 % per-step element-accuracy compounds to &lt;5 % task success in the abstract.</a:t>
            </a:r>
            <a:endParaRPr lang="en-US" sz="1100" dirty="0"/>
          </a:p>
        </p:txBody>
      </p:sp>
      <p:sp>
        <p:nvSpPr>
          <p:cNvPr id="24" name="Shape 22"/>
          <p:cNvSpPr/>
          <p:nvPr/>
        </p:nvSpPr>
        <p:spPr>
          <a:xfrm>
            <a:off x="6309360" y="1371600"/>
            <a:ext cx="5212080" cy="4434840"/>
          </a:xfrm>
          <a:prstGeom prst="roundRect">
            <a:avLst>
              <a:gd name="adj" fmla="val 1649"/>
            </a:avLst>
          </a:prstGeom>
          <a:solidFill>
            <a:srgbClr val="111827"/>
          </a:solidFill>
          <a:ln w="12700">
            <a:solidFill>
              <a:srgbClr val="334155">
                <a:alpha val="85000"/>
              </a:srgbClr>
            </a:solidFill>
            <a:prstDash val="solid"/>
          </a:ln>
        </p:spPr>
      </p:sp>
      <p:sp>
        <p:nvSpPr>
          <p:cNvPr id="25" name="Text 23"/>
          <p:cNvSpPr/>
          <p:nvPr/>
        </p:nvSpPr>
        <p:spPr>
          <a:xfrm>
            <a:off x="6583680" y="1645920"/>
            <a:ext cx="3657600" cy="228600"/>
          </a:xfrm>
          <a:prstGeom prst="rect">
            <a:avLst/>
          </a:prstGeom>
          <a:noFill/>
          <a:ln/>
        </p:spPr>
        <p:txBody>
          <a:bodyPr wrap="square" lIns="0" tIns="0" rIns="0" bIns="0" rtlCol="0" anchor="ctr"/>
          <a:lstStyle/>
          <a:p>
            <a:pPr indent="0" marL="0">
              <a:buNone/>
            </a:pPr>
            <a:r>
              <a:rPr lang="en-US" sz="1400" b="1" dirty="0">
                <a:solidFill>
                  <a:srgbClr val="E5E7EB"/>
                </a:solidFill>
              </a:rPr>
              <a:t>AndroidControl vs AndroidWorld</a:t>
            </a:r>
            <a:endParaRPr lang="en-US" sz="1400" dirty="0"/>
          </a:p>
        </p:txBody>
      </p:sp>
      <p:sp>
        <p:nvSpPr>
          <p:cNvPr id="26" name="Shape 24"/>
          <p:cNvSpPr/>
          <p:nvPr/>
        </p:nvSpPr>
        <p:spPr>
          <a:xfrm>
            <a:off x="6583680" y="2103120"/>
            <a:ext cx="2194560" cy="502920"/>
          </a:xfrm>
          <a:prstGeom prst="roundRect">
            <a:avLst>
              <a:gd name="adj" fmla="val 10909"/>
            </a:avLst>
          </a:prstGeom>
          <a:solidFill>
            <a:srgbClr val="60A5FA">
              <a:alpha val="92000"/>
            </a:srgbClr>
          </a:solidFill>
          <a:ln w="15240">
            <a:solidFill>
              <a:srgbClr val="60A5FA"/>
            </a:solidFill>
            <a:prstDash val="solid"/>
          </a:ln>
        </p:spPr>
      </p:sp>
      <p:sp>
        <p:nvSpPr>
          <p:cNvPr id="27" name="Text 25"/>
          <p:cNvSpPr/>
          <p:nvPr/>
        </p:nvSpPr>
        <p:spPr>
          <a:xfrm>
            <a:off x="6656832" y="2212848"/>
            <a:ext cx="2048256" cy="33832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AndroidControl</a:t>
            </a:r>
            <a:endParaRPr lang="en-US" sz="1020" dirty="0"/>
          </a:p>
        </p:txBody>
      </p:sp>
      <p:sp>
        <p:nvSpPr>
          <p:cNvPr id="28" name="Shape 26"/>
          <p:cNvSpPr/>
          <p:nvPr/>
        </p:nvSpPr>
        <p:spPr>
          <a:xfrm>
            <a:off x="9189720" y="2103120"/>
            <a:ext cx="2194560" cy="502920"/>
          </a:xfrm>
          <a:prstGeom prst="roundRect">
            <a:avLst>
              <a:gd name="adj" fmla="val 10909"/>
            </a:avLst>
          </a:prstGeom>
          <a:solidFill>
            <a:srgbClr val="A78BFA">
              <a:alpha val="92000"/>
            </a:srgbClr>
          </a:solidFill>
          <a:ln w="15240">
            <a:solidFill>
              <a:srgbClr val="A78BFA"/>
            </a:solidFill>
            <a:prstDash val="solid"/>
          </a:ln>
        </p:spPr>
      </p:sp>
      <p:sp>
        <p:nvSpPr>
          <p:cNvPr id="29" name="Text 27"/>
          <p:cNvSpPr/>
          <p:nvPr/>
        </p:nvSpPr>
        <p:spPr>
          <a:xfrm>
            <a:off x="9262872" y="2212848"/>
            <a:ext cx="2048256" cy="338328"/>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AndroidWorld</a:t>
            </a:r>
            <a:endParaRPr lang="en-US" sz="1020" dirty="0"/>
          </a:p>
        </p:txBody>
      </p:sp>
      <p:sp>
        <p:nvSpPr>
          <p:cNvPr id="30" name="Text 28"/>
          <p:cNvSpPr/>
          <p:nvPr/>
        </p:nvSpPr>
        <p:spPr>
          <a:xfrm>
            <a:off x="6583680" y="2743200"/>
            <a:ext cx="2286000" cy="2194560"/>
          </a:xfrm>
          <a:prstGeom prst="rect">
            <a:avLst/>
          </a:prstGeom>
          <a:noFill/>
          <a:ln/>
        </p:spPr>
        <p:txBody>
          <a:bodyPr wrap="square" lIns="1016" tIns="1016" rIns="1016" bIns="1016" rtlCol="0" anchor="ctr">
            <a:normAutofit/>
          </a:bodyPr>
          <a:lstStyle/>
          <a:p>
            <a:pPr marL="127000" indent="-127000">
              <a:buSzPct val="100000"/>
              <a:buChar char="•"/>
            </a:pPr>
            <a:r>
              <a:rPr lang="en-US" sz="1100" dirty="0">
                <a:solidFill>
                  <a:srgbClr val="E5E7EB"/>
                </a:solidFill>
              </a:rPr>
              <a:t>Static screenshots</a:t>
            </a:r>
            <a:endParaRPr lang="en-US" sz="1100" dirty="0"/>
          </a:p>
          <a:p>
            <a:pPr marL="127000" indent="-127000">
              <a:buSzPct val="100000"/>
              <a:buChar char="•"/>
            </a:pPr>
            <a:r>
              <a:rPr lang="en-US" sz="1100" dirty="0">
                <a:solidFill>
                  <a:srgbClr val="E5E7EB"/>
                </a:solidFill>
              </a:rPr>
              <a:t>One row = one step</a:t>
            </a:r>
            <a:endParaRPr lang="en-US" sz="1100" dirty="0"/>
          </a:p>
          <a:p>
            <a:pPr marL="127000" indent="-127000">
              <a:buSzPct val="100000"/>
              <a:buChar char="•"/>
            </a:pPr>
            <a:r>
              <a:rPr lang="en-US" sz="1100" dirty="0">
                <a:solidFill>
                  <a:srgbClr val="E5E7EB"/>
                </a:solidFill>
              </a:rPr>
              <a:t>Element-accuracy</a:t>
            </a:r>
            <a:endParaRPr lang="en-US" sz="1100" dirty="0"/>
          </a:p>
          <a:p>
            <a:pPr marL="127000" indent="-127000">
              <a:buSzPct val="100000"/>
              <a:buChar char="•"/>
            </a:pPr>
            <a:r>
              <a:rPr lang="en-US" sz="1100" dirty="0">
                <a:solidFill>
                  <a:srgbClr val="E5E7EB"/>
                </a:solidFill>
              </a:rPr>
              <a:t>Offline grading</a:t>
            </a:r>
            <a:endParaRPr lang="en-US" sz="1100" dirty="0"/>
          </a:p>
          <a:p>
            <a:pPr marL="127000" indent="-127000">
              <a:buSzPct val="100000"/>
              <a:buChar char="•"/>
            </a:pPr>
            <a:r>
              <a:rPr lang="en-US" sz="1100" dirty="0">
                <a:solidFill>
                  <a:srgbClr val="E5E7EB"/>
                </a:solidFill>
              </a:rPr>
              <a:t>Human-curated demos</a:t>
            </a:r>
            <a:endParaRPr lang="en-US" sz="1100" dirty="0"/>
          </a:p>
        </p:txBody>
      </p:sp>
      <p:sp>
        <p:nvSpPr>
          <p:cNvPr id="31" name="Text 29"/>
          <p:cNvSpPr/>
          <p:nvPr/>
        </p:nvSpPr>
        <p:spPr>
          <a:xfrm>
            <a:off x="9144000" y="2743200"/>
            <a:ext cx="2377440" cy="2194560"/>
          </a:xfrm>
          <a:prstGeom prst="rect">
            <a:avLst/>
          </a:prstGeom>
          <a:noFill/>
          <a:ln/>
        </p:spPr>
        <p:txBody>
          <a:bodyPr wrap="square" lIns="1016" tIns="1016" rIns="1016" bIns="1016" rtlCol="0" anchor="ctr">
            <a:normAutofit/>
          </a:bodyPr>
          <a:lstStyle/>
          <a:p>
            <a:pPr marL="127000" indent="-127000">
              <a:buSzPct val="100000"/>
              <a:buChar char="•"/>
            </a:pPr>
            <a:r>
              <a:rPr lang="en-US" sz="1100" dirty="0">
                <a:solidFill>
                  <a:srgbClr val="E5E7EB"/>
                </a:solidFill>
              </a:rPr>
              <a:t>Live emulator (M3A harness)</a:t>
            </a:r>
            <a:endParaRPr lang="en-US" sz="1100" dirty="0"/>
          </a:p>
          <a:p>
            <a:pPr marL="127000" indent="-127000">
              <a:buSzPct val="100000"/>
              <a:buChar char="•"/>
            </a:pPr>
            <a:r>
              <a:rPr lang="en-US" sz="1100" dirty="0">
                <a:solidFill>
                  <a:srgbClr val="E5E7EB"/>
                </a:solidFill>
              </a:rPr>
              <a:t>116 programmatic tasks · 20 apps</a:t>
            </a:r>
            <a:endParaRPr lang="en-US" sz="1100" dirty="0"/>
          </a:p>
          <a:p>
            <a:pPr marL="127000" indent="-127000">
              <a:buSzPct val="100000"/>
              <a:buChar char="•"/>
            </a:pPr>
            <a:r>
              <a:rPr lang="en-US" sz="1100" dirty="0">
                <a:solidFill>
                  <a:srgbClr val="E5E7EB"/>
                </a:solidFill>
              </a:rPr>
              <a:t>task.is_successful() per episode</a:t>
            </a:r>
            <a:endParaRPr lang="en-US" sz="1100" dirty="0"/>
          </a:p>
          <a:p>
            <a:pPr marL="127000" indent="-127000">
              <a:buSzPct val="100000"/>
              <a:buChar char="•"/>
            </a:pPr>
            <a:r>
              <a:rPr lang="en-US" sz="1100" dirty="0">
                <a:solidFill>
                  <a:srgbClr val="E5E7EB"/>
                </a:solidFill>
              </a:rPr>
              <a:t>Multi-step rollout, model self-corrects</a:t>
            </a:r>
            <a:endParaRPr lang="en-US" sz="1100" dirty="0"/>
          </a:p>
          <a:p>
            <a:pPr marL="127000" indent="-127000">
              <a:buSzPct val="100000"/>
              <a:buChar char="•"/>
            </a:pPr>
            <a:r>
              <a:rPr lang="en-US" sz="1100" dirty="0">
                <a:solidFill>
                  <a:srgbClr val="E5E7EB"/>
                </a:solidFill>
              </a:rPr>
              <a:t>Synthetic distribution shift</a:t>
            </a:r>
            <a:endParaRPr lang="en-US" sz="1100" dirty="0"/>
          </a:p>
        </p:txBody>
      </p:sp>
      <p:sp>
        <p:nvSpPr>
          <p:cNvPr id="32" name="Shape 30"/>
          <p:cNvSpPr/>
          <p:nvPr/>
        </p:nvSpPr>
        <p:spPr>
          <a:xfrm>
            <a:off x="6583680" y="5349240"/>
            <a:ext cx="4937760" cy="274320"/>
          </a:xfrm>
          <a:prstGeom prst="roundRect">
            <a:avLst>
              <a:gd name="adj" fmla="val 20000"/>
            </a:avLst>
          </a:prstGeom>
          <a:solidFill>
            <a:srgbClr val="FBBF24">
              <a:alpha val="92000"/>
            </a:srgbClr>
          </a:solidFill>
          <a:ln w="12700">
            <a:solidFill>
              <a:srgbClr val="FBBF24">
                <a:alpha val="90000"/>
              </a:srgbClr>
            </a:solidFill>
            <a:prstDash val="solid"/>
          </a:ln>
        </p:spPr>
      </p:sp>
      <p:sp>
        <p:nvSpPr>
          <p:cNvPr id="33" name="Text 31"/>
          <p:cNvSpPr/>
          <p:nvPr/>
        </p:nvSpPr>
        <p:spPr>
          <a:xfrm>
            <a:off x="6583680" y="5417820"/>
            <a:ext cx="4937760" cy="100584"/>
          </a:xfrm>
          <a:prstGeom prst="rect">
            <a:avLst/>
          </a:prstGeom>
          <a:noFill/>
          <a:ln/>
        </p:spPr>
        <p:txBody>
          <a:bodyPr wrap="square" lIns="0" tIns="0" rIns="0" bIns="0" rtlCol="0" anchor="ctr"/>
          <a:lstStyle/>
          <a:p>
            <a:pPr algn="ctr" indent="0" marL="0">
              <a:buNone/>
            </a:pPr>
            <a:r>
              <a:rPr lang="en-US" sz="750" b="1" dirty="0">
                <a:solidFill>
                  <a:srgbClr val="0B1020"/>
                </a:solidFill>
              </a:rPr>
              <a:t>different metric · different distribution</a:t>
            </a:r>
            <a:endParaRPr lang="en-US" sz="75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AW RESULT</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What we shipped on AndroidWorld: 8.70 % AW-116</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640080" y="1325880"/>
            <a:ext cx="6858000" cy="4526280"/>
          </a:xfrm>
          <a:prstGeom prst="roundRect">
            <a:avLst>
              <a:gd name="adj" fmla="val 1616"/>
            </a:avLst>
          </a:prstGeom>
          <a:solidFill>
            <a:srgbClr val="111827"/>
          </a:solidFill>
          <a:ln w="12700">
            <a:solidFill>
              <a:srgbClr val="334155">
                <a:alpha val="85000"/>
              </a:srgbClr>
            </a:solidFill>
            <a:prstDash val="solid"/>
          </a:ln>
        </p:spPr>
      </p:sp>
      <p:sp>
        <p:nvSpPr>
          <p:cNvPr id="6" name="Text 4"/>
          <p:cNvSpPr/>
          <p:nvPr/>
        </p:nvSpPr>
        <p:spPr>
          <a:xfrm>
            <a:off x="914400" y="1627632"/>
            <a:ext cx="4572000" cy="228600"/>
          </a:xfrm>
          <a:prstGeom prst="rect">
            <a:avLst/>
          </a:prstGeom>
          <a:noFill/>
          <a:ln/>
        </p:spPr>
        <p:txBody>
          <a:bodyPr wrap="square" lIns="0" tIns="0" rIns="0" bIns="0" rtlCol="0" anchor="ctr"/>
          <a:lstStyle/>
          <a:p>
            <a:pPr indent="0" marL="0">
              <a:buNone/>
            </a:pPr>
            <a:r>
              <a:rPr lang="en-US" sz="1400" b="1" dirty="0">
                <a:solidFill>
                  <a:srgbClr val="E5E7EB"/>
                </a:solidFill>
              </a:rPr>
              <a:t>AW-116 success-rate progression</a:t>
            </a:r>
            <a:endParaRPr lang="en-US" sz="1400" dirty="0"/>
          </a:p>
        </p:txBody>
      </p:sp>
      <p:sp>
        <p:nvSpPr>
          <p:cNvPr id="7" name="Text 5"/>
          <p:cNvSpPr/>
          <p:nvPr/>
        </p:nvSpPr>
        <p:spPr>
          <a:xfrm>
            <a:off x="914400" y="2185416"/>
            <a:ext cx="178308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M3A baseline (Gemma 4 E2B)</a:t>
            </a:r>
            <a:endParaRPr lang="en-US" sz="880" dirty="0"/>
          </a:p>
        </p:txBody>
      </p:sp>
      <p:sp>
        <p:nvSpPr>
          <p:cNvPr id="8" name="Shape 6"/>
          <p:cNvSpPr/>
          <p:nvPr/>
        </p:nvSpPr>
        <p:spPr>
          <a:xfrm>
            <a:off x="2743200" y="2185416"/>
            <a:ext cx="3749040" cy="146304"/>
          </a:xfrm>
          <a:prstGeom prst="rect">
            <a:avLst/>
          </a:prstGeom>
          <a:solidFill>
            <a:srgbClr val="1E293B"/>
          </a:solidFill>
          <a:ln w="12700">
            <a:solidFill>
              <a:srgbClr val="1E293B"/>
            </a:solidFill>
            <a:prstDash val="solid"/>
          </a:ln>
        </p:spPr>
      </p:sp>
      <p:sp>
        <p:nvSpPr>
          <p:cNvPr id="9" name="Shape 7"/>
          <p:cNvSpPr/>
          <p:nvPr/>
        </p:nvSpPr>
        <p:spPr>
          <a:xfrm>
            <a:off x="2743200" y="2185416"/>
            <a:ext cx="18288" cy="146304"/>
          </a:xfrm>
          <a:prstGeom prst="rect">
            <a:avLst/>
          </a:prstGeom>
          <a:solidFill>
            <a:srgbClr val="94A3B8"/>
          </a:solidFill>
          <a:ln w="12700">
            <a:solidFill>
              <a:srgbClr val="94A3B8"/>
            </a:solidFill>
            <a:prstDash val="solid"/>
          </a:ln>
        </p:spPr>
      </p:sp>
      <p:sp>
        <p:nvSpPr>
          <p:cNvPr id="10" name="Text 8"/>
          <p:cNvSpPr/>
          <p:nvPr/>
        </p:nvSpPr>
        <p:spPr>
          <a:xfrm>
            <a:off x="6601968" y="2157984"/>
            <a:ext cx="685800" cy="182880"/>
          </a:xfrm>
          <a:prstGeom prst="rect">
            <a:avLst/>
          </a:prstGeom>
          <a:noFill/>
          <a:ln/>
        </p:spPr>
        <p:txBody>
          <a:bodyPr wrap="square" lIns="0" tIns="0" rIns="0" bIns="0" rtlCol="0" anchor="ctr"/>
          <a:lstStyle/>
          <a:p>
            <a:pPr algn="r" indent="0" marL="0">
              <a:buNone/>
            </a:pPr>
            <a:r>
              <a:rPr lang="en-US" sz="800" dirty="0">
                <a:solidFill>
                  <a:srgbClr val="94A3B8"/>
                </a:solidFill>
              </a:rPr>
              <a:t>0.00%</a:t>
            </a:r>
            <a:endParaRPr lang="en-US" sz="800" dirty="0"/>
          </a:p>
        </p:txBody>
      </p:sp>
      <p:sp>
        <p:nvSpPr>
          <p:cNvPr id="11" name="Text 9"/>
          <p:cNvSpPr/>
          <p:nvPr/>
        </p:nvSpPr>
        <p:spPr>
          <a:xfrm>
            <a:off x="914400" y="2673096"/>
            <a:ext cx="178308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Run L LoRA (offline-SFT)</a:t>
            </a:r>
            <a:endParaRPr lang="en-US" sz="880" dirty="0"/>
          </a:p>
        </p:txBody>
      </p:sp>
      <p:sp>
        <p:nvSpPr>
          <p:cNvPr id="12" name="Shape 10"/>
          <p:cNvSpPr/>
          <p:nvPr/>
        </p:nvSpPr>
        <p:spPr>
          <a:xfrm>
            <a:off x="2743200" y="2673096"/>
            <a:ext cx="3749040" cy="146304"/>
          </a:xfrm>
          <a:prstGeom prst="rect">
            <a:avLst/>
          </a:prstGeom>
          <a:solidFill>
            <a:srgbClr val="1E293B"/>
          </a:solidFill>
          <a:ln w="12700">
            <a:solidFill>
              <a:srgbClr val="1E293B"/>
            </a:solidFill>
            <a:prstDash val="solid"/>
          </a:ln>
        </p:spPr>
      </p:sp>
      <p:sp>
        <p:nvSpPr>
          <p:cNvPr id="13" name="Shape 11"/>
          <p:cNvSpPr/>
          <p:nvPr/>
        </p:nvSpPr>
        <p:spPr>
          <a:xfrm>
            <a:off x="2743200" y="2673096"/>
            <a:ext cx="18288" cy="146304"/>
          </a:xfrm>
          <a:prstGeom prst="rect">
            <a:avLst/>
          </a:prstGeom>
          <a:solidFill>
            <a:srgbClr val="FB7185"/>
          </a:solidFill>
          <a:ln w="12700">
            <a:solidFill>
              <a:srgbClr val="FB7185"/>
            </a:solidFill>
            <a:prstDash val="solid"/>
          </a:ln>
        </p:spPr>
      </p:sp>
      <p:sp>
        <p:nvSpPr>
          <p:cNvPr id="14" name="Text 12"/>
          <p:cNvSpPr/>
          <p:nvPr/>
        </p:nvSpPr>
        <p:spPr>
          <a:xfrm>
            <a:off x="6601968" y="2645664"/>
            <a:ext cx="685800" cy="182880"/>
          </a:xfrm>
          <a:prstGeom prst="rect">
            <a:avLst/>
          </a:prstGeom>
          <a:noFill/>
          <a:ln/>
        </p:spPr>
        <p:txBody>
          <a:bodyPr wrap="square" lIns="0" tIns="0" rIns="0" bIns="0" rtlCol="0" anchor="ctr"/>
          <a:lstStyle/>
          <a:p>
            <a:pPr algn="r" indent="0" marL="0">
              <a:buNone/>
            </a:pPr>
            <a:r>
              <a:rPr lang="en-US" sz="800" dirty="0">
                <a:solidFill>
                  <a:srgbClr val="FB7185"/>
                </a:solidFill>
              </a:rPr>
              <a:t>0.00%</a:t>
            </a:r>
            <a:endParaRPr lang="en-US" sz="800" dirty="0"/>
          </a:p>
        </p:txBody>
      </p:sp>
      <p:sp>
        <p:nvSpPr>
          <p:cNvPr id="15" name="Text 13"/>
          <p:cNvSpPr/>
          <p:nvPr/>
        </p:nvSpPr>
        <p:spPr>
          <a:xfrm>
            <a:off x="914400" y="3160776"/>
            <a:ext cx="178308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r48 genesis-text SFT</a:t>
            </a:r>
            <a:endParaRPr lang="en-US" sz="880" dirty="0"/>
          </a:p>
        </p:txBody>
      </p:sp>
      <p:sp>
        <p:nvSpPr>
          <p:cNvPr id="16" name="Shape 14"/>
          <p:cNvSpPr/>
          <p:nvPr/>
        </p:nvSpPr>
        <p:spPr>
          <a:xfrm>
            <a:off x="2743200" y="3160776"/>
            <a:ext cx="3749040" cy="146304"/>
          </a:xfrm>
          <a:prstGeom prst="rect">
            <a:avLst/>
          </a:prstGeom>
          <a:solidFill>
            <a:srgbClr val="1E293B"/>
          </a:solidFill>
          <a:ln w="12700">
            <a:solidFill>
              <a:srgbClr val="1E293B"/>
            </a:solidFill>
            <a:prstDash val="solid"/>
          </a:ln>
        </p:spPr>
      </p:sp>
      <p:sp>
        <p:nvSpPr>
          <p:cNvPr id="17" name="Shape 15"/>
          <p:cNvSpPr/>
          <p:nvPr/>
        </p:nvSpPr>
        <p:spPr>
          <a:xfrm>
            <a:off x="2743200" y="3160776"/>
            <a:ext cx="2909255" cy="146304"/>
          </a:xfrm>
          <a:prstGeom prst="rect">
            <a:avLst/>
          </a:prstGeom>
          <a:solidFill>
            <a:srgbClr val="60A5FA"/>
          </a:solidFill>
          <a:ln w="12700">
            <a:solidFill>
              <a:srgbClr val="60A5FA"/>
            </a:solidFill>
            <a:prstDash val="solid"/>
          </a:ln>
        </p:spPr>
      </p:sp>
      <p:sp>
        <p:nvSpPr>
          <p:cNvPr id="18" name="Text 16"/>
          <p:cNvSpPr/>
          <p:nvPr/>
        </p:nvSpPr>
        <p:spPr>
          <a:xfrm>
            <a:off x="6601968" y="3133344"/>
            <a:ext cx="685800" cy="182880"/>
          </a:xfrm>
          <a:prstGeom prst="rect">
            <a:avLst/>
          </a:prstGeom>
          <a:noFill/>
          <a:ln/>
        </p:spPr>
        <p:txBody>
          <a:bodyPr wrap="square" lIns="0" tIns="0" rIns="0" bIns="0" rtlCol="0" anchor="ctr"/>
          <a:lstStyle/>
          <a:p>
            <a:pPr algn="r" indent="0" marL="0">
              <a:buNone/>
            </a:pPr>
            <a:r>
              <a:rPr lang="en-US" sz="800" dirty="0">
                <a:solidFill>
                  <a:srgbClr val="60A5FA"/>
                </a:solidFill>
              </a:rPr>
              <a:t>7.76%</a:t>
            </a:r>
            <a:endParaRPr lang="en-US" sz="800" dirty="0"/>
          </a:p>
        </p:txBody>
      </p:sp>
      <p:sp>
        <p:nvSpPr>
          <p:cNvPr id="19" name="Text 17"/>
          <p:cNvSpPr/>
          <p:nvPr/>
        </p:nvSpPr>
        <p:spPr>
          <a:xfrm>
            <a:off x="914400" y="3648456"/>
            <a:ext cx="178308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r52 genesis + vision-inf.</a:t>
            </a:r>
            <a:endParaRPr lang="en-US" sz="880" dirty="0"/>
          </a:p>
        </p:txBody>
      </p:sp>
      <p:sp>
        <p:nvSpPr>
          <p:cNvPr id="20" name="Shape 18"/>
          <p:cNvSpPr/>
          <p:nvPr/>
        </p:nvSpPr>
        <p:spPr>
          <a:xfrm>
            <a:off x="2743200" y="3648456"/>
            <a:ext cx="3749040" cy="146304"/>
          </a:xfrm>
          <a:prstGeom prst="rect">
            <a:avLst/>
          </a:prstGeom>
          <a:solidFill>
            <a:srgbClr val="1E293B"/>
          </a:solidFill>
          <a:ln w="12700">
            <a:solidFill>
              <a:srgbClr val="1E293B"/>
            </a:solidFill>
            <a:prstDash val="solid"/>
          </a:ln>
        </p:spPr>
      </p:sp>
      <p:sp>
        <p:nvSpPr>
          <p:cNvPr id="21" name="Shape 19"/>
          <p:cNvSpPr/>
          <p:nvPr/>
        </p:nvSpPr>
        <p:spPr>
          <a:xfrm>
            <a:off x="2743200" y="3648456"/>
            <a:ext cx="3231672" cy="146304"/>
          </a:xfrm>
          <a:prstGeom prst="rect">
            <a:avLst/>
          </a:prstGeom>
          <a:solidFill>
            <a:srgbClr val="A78BFA"/>
          </a:solidFill>
          <a:ln w="12700">
            <a:solidFill>
              <a:srgbClr val="A78BFA"/>
            </a:solidFill>
            <a:prstDash val="solid"/>
          </a:ln>
        </p:spPr>
      </p:sp>
      <p:sp>
        <p:nvSpPr>
          <p:cNvPr id="22" name="Text 20"/>
          <p:cNvSpPr/>
          <p:nvPr/>
        </p:nvSpPr>
        <p:spPr>
          <a:xfrm>
            <a:off x="6601968" y="3621024"/>
            <a:ext cx="685800" cy="182880"/>
          </a:xfrm>
          <a:prstGeom prst="rect">
            <a:avLst/>
          </a:prstGeom>
          <a:noFill/>
          <a:ln/>
        </p:spPr>
        <p:txBody>
          <a:bodyPr wrap="square" lIns="0" tIns="0" rIns="0" bIns="0" rtlCol="0" anchor="ctr"/>
          <a:lstStyle/>
          <a:p>
            <a:pPr algn="r" indent="0" marL="0">
              <a:buNone/>
            </a:pPr>
            <a:r>
              <a:rPr lang="en-US" sz="800" dirty="0">
                <a:solidFill>
                  <a:srgbClr val="A78BFA"/>
                </a:solidFill>
              </a:rPr>
              <a:t>8.62%</a:t>
            </a:r>
            <a:endParaRPr lang="en-US" sz="800" dirty="0"/>
          </a:p>
        </p:txBody>
      </p:sp>
      <p:sp>
        <p:nvSpPr>
          <p:cNvPr id="23" name="Text 21"/>
          <p:cNvSpPr/>
          <p:nvPr/>
        </p:nvSpPr>
        <p:spPr>
          <a:xfrm>
            <a:off x="914400" y="4136136"/>
            <a:ext cx="178308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r57b Qwen3.5-4B base</a:t>
            </a:r>
            <a:endParaRPr lang="en-US" sz="880" dirty="0"/>
          </a:p>
        </p:txBody>
      </p:sp>
      <p:sp>
        <p:nvSpPr>
          <p:cNvPr id="24" name="Shape 22"/>
          <p:cNvSpPr/>
          <p:nvPr/>
        </p:nvSpPr>
        <p:spPr>
          <a:xfrm>
            <a:off x="2743200" y="4136136"/>
            <a:ext cx="3749040" cy="146304"/>
          </a:xfrm>
          <a:prstGeom prst="rect">
            <a:avLst/>
          </a:prstGeom>
          <a:solidFill>
            <a:srgbClr val="1E293B"/>
          </a:solidFill>
          <a:ln w="12700">
            <a:solidFill>
              <a:srgbClr val="1E293B"/>
            </a:solidFill>
            <a:prstDash val="solid"/>
          </a:ln>
        </p:spPr>
      </p:sp>
      <p:sp>
        <p:nvSpPr>
          <p:cNvPr id="25" name="Shape 23"/>
          <p:cNvSpPr/>
          <p:nvPr/>
        </p:nvSpPr>
        <p:spPr>
          <a:xfrm>
            <a:off x="2743200" y="4136136"/>
            <a:ext cx="2586838" cy="146304"/>
          </a:xfrm>
          <a:prstGeom prst="rect">
            <a:avLst/>
          </a:prstGeom>
          <a:solidFill>
            <a:srgbClr val="FBBF24"/>
          </a:solidFill>
          <a:ln w="12700">
            <a:solidFill>
              <a:srgbClr val="FBBF24"/>
            </a:solidFill>
            <a:prstDash val="solid"/>
          </a:ln>
        </p:spPr>
      </p:sp>
      <p:sp>
        <p:nvSpPr>
          <p:cNvPr id="26" name="Text 24"/>
          <p:cNvSpPr/>
          <p:nvPr/>
        </p:nvSpPr>
        <p:spPr>
          <a:xfrm>
            <a:off x="6601968" y="4108704"/>
            <a:ext cx="685800" cy="182880"/>
          </a:xfrm>
          <a:prstGeom prst="rect">
            <a:avLst/>
          </a:prstGeom>
          <a:noFill/>
          <a:ln/>
        </p:spPr>
        <p:txBody>
          <a:bodyPr wrap="square" lIns="0" tIns="0" rIns="0" bIns="0" rtlCol="0" anchor="ctr"/>
          <a:lstStyle/>
          <a:p>
            <a:pPr algn="r" indent="0" marL="0">
              <a:buNone/>
            </a:pPr>
            <a:r>
              <a:rPr lang="en-US" sz="800" dirty="0">
                <a:solidFill>
                  <a:srgbClr val="FBBF24"/>
                </a:solidFill>
              </a:rPr>
              <a:t>6.90%</a:t>
            </a:r>
            <a:endParaRPr lang="en-US" sz="800" dirty="0"/>
          </a:p>
        </p:txBody>
      </p:sp>
      <p:sp>
        <p:nvSpPr>
          <p:cNvPr id="27" name="Text 25"/>
          <p:cNvSpPr/>
          <p:nvPr/>
        </p:nvSpPr>
        <p:spPr>
          <a:xfrm>
            <a:off x="914400" y="4623816"/>
            <a:ext cx="1783080" cy="164592"/>
          </a:xfrm>
          <a:prstGeom prst="rect">
            <a:avLst/>
          </a:prstGeom>
          <a:noFill/>
          <a:ln/>
        </p:spPr>
        <p:txBody>
          <a:bodyPr wrap="square" lIns="0" tIns="0" rIns="0" bIns="0" rtlCol="0" anchor="ctr">
            <a:normAutofit/>
          </a:bodyPr>
          <a:lstStyle/>
          <a:p>
            <a:pPr indent="0" marL="0">
              <a:buNone/>
            </a:pPr>
            <a:r>
              <a:rPr lang="en-US" sz="880" b="1" dirty="0">
                <a:solidFill>
                  <a:srgbClr val="E5E7EB"/>
                </a:solidFill>
              </a:rPr>
              <a:t>r62 Qwen3.5 + Genesis-vision</a:t>
            </a:r>
            <a:endParaRPr lang="en-US" sz="880" dirty="0"/>
          </a:p>
        </p:txBody>
      </p:sp>
      <p:sp>
        <p:nvSpPr>
          <p:cNvPr id="28" name="Shape 26"/>
          <p:cNvSpPr/>
          <p:nvPr/>
        </p:nvSpPr>
        <p:spPr>
          <a:xfrm>
            <a:off x="2743200" y="4623816"/>
            <a:ext cx="3749040" cy="146304"/>
          </a:xfrm>
          <a:prstGeom prst="rect">
            <a:avLst/>
          </a:prstGeom>
          <a:solidFill>
            <a:srgbClr val="1E293B"/>
          </a:solidFill>
          <a:ln w="12700">
            <a:solidFill>
              <a:srgbClr val="1E293B"/>
            </a:solidFill>
            <a:prstDash val="solid"/>
          </a:ln>
        </p:spPr>
      </p:sp>
      <p:sp>
        <p:nvSpPr>
          <p:cNvPr id="29" name="Shape 27"/>
          <p:cNvSpPr/>
          <p:nvPr/>
        </p:nvSpPr>
        <p:spPr>
          <a:xfrm>
            <a:off x="2743200" y="4623816"/>
            <a:ext cx="3261665" cy="146304"/>
          </a:xfrm>
          <a:prstGeom prst="rect">
            <a:avLst/>
          </a:prstGeom>
          <a:solidFill>
            <a:srgbClr val="34D399"/>
          </a:solidFill>
          <a:ln w="12700">
            <a:solidFill>
              <a:srgbClr val="34D399"/>
            </a:solidFill>
            <a:prstDash val="solid"/>
          </a:ln>
        </p:spPr>
      </p:sp>
      <p:sp>
        <p:nvSpPr>
          <p:cNvPr id="30" name="Text 28"/>
          <p:cNvSpPr/>
          <p:nvPr/>
        </p:nvSpPr>
        <p:spPr>
          <a:xfrm>
            <a:off x="6601968" y="4596384"/>
            <a:ext cx="685800" cy="182880"/>
          </a:xfrm>
          <a:prstGeom prst="rect">
            <a:avLst/>
          </a:prstGeom>
          <a:noFill/>
          <a:ln/>
        </p:spPr>
        <p:txBody>
          <a:bodyPr wrap="square" lIns="0" tIns="0" rIns="0" bIns="0" rtlCol="0" anchor="ctr"/>
          <a:lstStyle/>
          <a:p>
            <a:pPr algn="r" indent="0" marL="0">
              <a:buNone/>
            </a:pPr>
            <a:r>
              <a:rPr lang="en-US" sz="800" dirty="0">
                <a:solidFill>
                  <a:srgbClr val="34D399"/>
                </a:solidFill>
              </a:rPr>
              <a:t>8.70%</a:t>
            </a:r>
            <a:endParaRPr lang="en-US" sz="800" dirty="0"/>
          </a:p>
        </p:txBody>
      </p:sp>
      <p:sp>
        <p:nvSpPr>
          <p:cNvPr id="31" name="Text 29"/>
          <p:cNvSpPr/>
          <p:nvPr/>
        </p:nvSpPr>
        <p:spPr>
          <a:xfrm>
            <a:off x="914400" y="5166360"/>
            <a:ext cx="6400800" cy="457200"/>
          </a:xfrm>
          <a:prstGeom prst="rect">
            <a:avLst/>
          </a:prstGeom>
          <a:noFill/>
          <a:ln/>
        </p:spPr>
        <p:txBody>
          <a:bodyPr wrap="square" lIns="0" tIns="0" rIns="0" bIns="0" rtlCol="0" anchor="ctr"/>
          <a:lstStyle/>
          <a:p>
            <a:pPr indent="0" marL="0">
              <a:buNone/>
            </a:pPr>
            <a:r>
              <a:rPr lang="en-US" sz="1100" i="1" dirty="0">
                <a:solidFill>
                  <a:srgbClr val="94A3B8"/>
                </a:solidFill>
              </a:rPr>
              <a:t>Each bar is full AW-116 (live emulator). Baseline + Run-L = 0/82 and 0/31 respectively (early-stop).</a:t>
            </a:r>
            <a:endParaRPr lang="en-US" sz="1100" dirty="0"/>
          </a:p>
        </p:txBody>
      </p:sp>
      <p:sp>
        <p:nvSpPr>
          <p:cNvPr id="32" name="Shape 30"/>
          <p:cNvSpPr/>
          <p:nvPr/>
        </p:nvSpPr>
        <p:spPr>
          <a:xfrm>
            <a:off x="7680960" y="1325880"/>
            <a:ext cx="3886200" cy="4526280"/>
          </a:xfrm>
          <a:prstGeom prst="roundRect">
            <a:avLst>
              <a:gd name="adj" fmla="val 1882"/>
            </a:avLst>
          </a:prstGeom>
          <a:solidFill>
            <a:srgbClr val="111827"/>
          </a:solidFill>
          <a:ln w="12700">
            <a:solidFill>
              <a:srgbClr val="334155">
                <a:alpha val="85000"/>
              </a:srgbClr>
            </a:solidFill>
            <a:prstDash val="solid"/>
          </a:ln>
        </p:spPr>
      </p:sp>
      <p:sp>
        <p:nvSpPr>
          <p:cNvPr id="33" name="Text 31"/>
          <p:cNvSpPr/>
          <p:nvPr/>
        </p:nvSpPr>
        <p:spPr>
          <a:xfrm>
            <a:off x="7955280" y="1627632"/>
            <a:ext cx="3108960" cy="228600"/>
          </a:xfrm>
          <a:prstGeom prst="rect">
            <a:avLst/>
          </a:prstGeom>
          <a:noFill/>
          <a:ln/>
        </p:spPr>
        <p:txBody>
          <a:bodyPr wrap="square" lIns="0" tIns="0" rIns="0" bIns="0" rtlCol="0" anchor="ctr"/>
          <a:lstStyle/>
          <a:p>
            <a:pPr indent="0" marL="0">
              <a:buNone/>
            </a:pPr>
            <a:r>
              <a:rPr lang="en-US" sz="1400" b="1" dirty="0">
                <a:solidFill>
                  <a:srgbClr val="34D399"/>
                </a:solidFill>
              </a:rPr>
              <a:t>How r62 got there</a:t>
            </a:r>
            <a:endParaRPr lang="en-US" sz="1400" dirty="0"/>
          </a:p>
        </p:txBody>
      </p:sp>
      <p:sp>
        <p:nvSpPr>
          <p:cNvPr id="34" name="Text 32"/>
          <p:cNvSpPr/>
          <p:nvPr/>
        </p:nvSpPr>
        <p:spPr>
          <a:xfrm>
            <a:off x="7955280" y="2057400"/>
            <a:ext cx="3520440" cy="2788920"/>
          </a:xfrm>
          <a:prstGeom prst="rect">
            <a:avLst/>
          </a:prstGeom>
          <a:noFill/>
          <a:ln/>
        </p:spPr>
        <p:txBody>
          <a:bodyPr wrap="square" lIns="1016" tIns="1016" rIns="1016" bIns="1016" rtlCol="0" anchor="ctr">
            <a:normAutofit/>
          </a:bodyPr>
          <a:lstStyle/>
          <a:p>
            <a:pPr marL="127000" indent="-127000">
              <a:buSzPct val="100000"/>
              <a:buChar char="•"/>
            </a:pPr>
            <a:r>
              <a:rPr lang="en-US" sz="1050" dirty="0">
                <a:solidFill>
                  <a:srgbClr val="E5E7EB"/>
                </a:solidFill>
              </a:rPr>
              <a:t>Genesis-style trajectory synthesis (Gemma 4 31B teacher rolls trajectories, filtered to keep through first status:complete)</a:t>
            </a:r>
            <a:endParaRPr lang="en-US" sz="1050" dirty="0"/>
          </a:p>
          <a:p>
            <a:pPr marL="127000" indent="-127000">
              <a:buSzPct val="100000"/>
              <a:buChar char="•"/>
            </a:pPr>
            <a:r>
              <a:rPr lang="en-US" sz="1050" dirty="0">
                <a:solidFill>
                  <a:srgbClr val="E5E7EB"/>
                </a:solidFill>
              </a:rPr>
              <a:t>AC + AndroidLab vocab mix so open_app exemplars exist (pure-AL underperforms here)</a:t>
            </a:r>
            <a:endParaRPr lang="en-US" sz="1050" dirty="0"/>
          </a:p>
          <a:p>
            <a:pPr marL="127000" indent="-127000">
              <a:buSzPct val="100000"/>
              <a:buChar char="•"/>
            </a:pPr>
            <a:r>
              <a:rPr lang="en-US" sz="1050" dirty="0">
                <a:solidFill>
                  <a:srgbClr val="E5E7EB"/>
                </a:solidFill>
              </a:rPr>
              <a:t>Base swap to Qwen3.5-4B for sharper agent priors (train-loss 0.15 vs Gemma 0.73)</a:t>
            </a:r>
            <a:endParaRPr lang="en-US" sz="1050" dirty="0"/>
          </a:p>
          <a:p>
            <a:pPr marL="127000" indent="-127000">
              <a:buSzPct val="100000"/>
              <a:buChar char="•"/>
            </a:pPr>
            <a:r>
              <a:rPr lang="en-US" sz="1050" dirty="0">
                <a:solidFill>
                  <a:srgbClr val="E5E7EB"/>
                </a:solidFill>
              </a:rPr>
              <a:t>2-epoch Genesis-vision continuation from r57b on aligned screenshots</a:t>
            </a:r>
            <a:endParaRPr lang="en-US" sz="1050" dirty="0"/>
          </a:p>
        </p:txBody>
      </p:sp>
      <p:sp>
        <p:nvSpPr>
          <p:cNvPr id="35" name="Shape 33"/>
          <p:cNvSpPr/>
          <p:nvPr/>
        </p:nvSpPr>
        <p:spPr>
          <a:xfrm>
            <a:off x="7955280" y="4983480"/>
            <a:ext cx="3383280" cy="0"/>
          </a:xfrm>
          <a:prstGeom prst="line">
            <a:avLst/>
          </a:prstGeom>
          <a:noFill/>
          <a:ln w="6350">
            <a:solidFill>
              <a:srgbClr val="334155"/>
            </a:solidFill>
            <a:prstDash val="solid"/>
          </a:ln>
        </p:spPr>
      </p:sp>
      <p:sp>
        <p:nvSpPr>
          <p:cNvPr id="36" name="Text 34"/>
          <p:cNvSpPr/>
          <p:nvPr/>
        </p:nvSpPr>
        <p:spPr>
          <a:xfrm>
            <a:off x="7955280" y="5074920"/>
            <a:ext cx="3520440" cy="502920"/>
          </a:xfrm>
          <a:prstGeom prst="rect">
            <a:avLst/>
          </a:prstGeom>
          <a:noFill/>
          <a:ln/>
        </p:spPr>
        <p:txBody>
          <a:bodyPr wrap="square" lIns="0" tIns="0" rIns="0" bIns="0" rtlCol="0" anchor="ctr"/>
          <a:lstStyle/>
          <a:p>
            <a:pPr indent="0" marL="0">
              <a:buNone/>
            </a:pPr>
            <a:r>
              <a:rPr lang="en-US" sz="950" b="1" dirty="0">
                <a:solidFill>
                  <a:srgbClr val="22D3EE"/>
                </a:solidFill>
              </a:rPr>
              <a:t>10 wins · 4 app families · Markor / Recipes / Calendar / System / Contacts / OpenApp</a:t>
            </a:r>
            <a:endParaRPr lang="en-US" sz="95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FAILURE ANALYSIS</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Why we couldn’t fully bridge AC → AW</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640080" y="1325880"/>
            <a:ext cx="5852160" cy="4526280"/>
          </a:xfrm>
          <a:prstGeom prst="roundRect">
            <a:avLst>
              <a:gd name="adj" fmla="val 1616"/>
            </a:avLst>
          </a:prstGeom>
          <a:solidFill>
            <a:srgbClr val="111827"/>
          </a:solidFill>
          <a:ln w="12700">
            <a:solidFill>
              <a:srgbClr val="334155">
                <a:alpha val="85000"/>
              </a:srgbClr>
            </a:solidFill>
            <a:prstDash val="solid"/>
          </a:ln>
        </p:spPr>
      </p:sp>
      <p:sp>
        <p:nvSpPr>
          <p:cNvPr id="6" name="Text 4"/>
          <p:cNvSpPr/>
          <p:nvPr/>
        </p:nvSpPr>
        <p:spPr>
          <a:xfrm>
            <a:off x="914400" y="1627632"/>
            <a:ext cx="4572000" cy="228600"/>
          </a:xfrm>
          <a:prstGeom prst="rect">
            <a:avLst/>
          </a:prstGeom>
          <a:noFill/>
          <a:ln/>
        </p:spPr>
        <p:txBody>
          <a:bodyPr wrap="square" lIns="0" tIns="0" rIns="0" bIns="0" rtlCol="0" anchor="ctr"/>
          <a:lstStyle/>
          <a:p>
            <a:pPr indent="0" marL="0">
              <a:buNone/>
            </a:pPr>
            <a:r>
              <a:rPr lang="en-US" sz="1400" b="1" dirty="0">
                <a:solidFill>
                  <a:srgbClr val="E5E7EB"/>
                </a:solidFill>
              </a:rPr>
              <a:t>M3A baseline failure modes (n=82 episodes)</a:t>
            </a:r>
            <a:endParaRPr lang="en-US" sz="1400" dirty="0"/>
          </a:p>
        </p:txBody>
      </p:sp>
      <p:sp>
        <p:nvSpPr>
          <p:cNvPr id="7" name="Text 5"/>
          <p:cNvSpPr/>
          <p:nvPr/>
        </p:nvSpPr>
        <p:spPr>
          <a:xfrm>
            <a:off x="914400" y="2203704"/>
            <a:ext cx="1874520" cy="164592"/>
          </a:xfrm>
          <a:prstGeom prst="rect">
            <a:avLst/>
          </a:prstGeom>
          <a:noFill/>
          <a:ln/>
        </p:spPr>
        <p:txBody>
          <a:bodyPr wrap="square" lIns="0" tIns="0" rIns="0" bIns="0" rtlCol="0" anchor="ctr">
            <a:normAutofit/>
          </a:bodyPr>
          <a:lstStyle/>
          <a:p>
            <a:pPr indent="0" marL="0">
              <a:buNone/>
            </a:pPr>
            <a:r>
              <a:rPr lang="en-US" sz="880" b="1" dirty="0">
                <a:solidFill>
                  <a:srgbClr val="E5E7EB"/>
                </a:solidFill>
              </a:rPr>
              <a:t>max_steps_no_terminate</a:t>
            </a:r>
            <a:endParaRPr lang="en-US" sz="880" dirty="0"/>
          </a:p>
        </p:txBody>
      </p:sp>
      <p:sp>
        <p:nvSpPr>
          <p:cNvPr id="8" name="Shape 6"/>
          <p:cNvSpPr/>
          <p:nvPr/>
        </p:nvSpPr>
        <p:spPr>
          <a:xfrm>
            <a:off x="2834640" y="2203704"/>
            <a:ext cx="2743200" cy="146304"/>
          </a:xfrm>
          <a:prstGeom prst="rect">
            <a:avLst/>
          </a:prstGeom>
          <a:solidFill>
            <a:srgbClr val="1E293B"/>
          </a:solidFill>
          <a:ln w="12700">
            <a:solidFill>
              <a:srgbClr val="1E293B"/>
            </a:solidFill>
            <a:prstDash val="solid"/>
          </a:ln>
        </p:spPr>
      </p:sp>
      <p:sp>
        <p:nvSpPr>
          <p:cNvPr id="9" name="Shape 7"/>
          <p:cNvSpPr/>
          <p:nvPr/>
        </p:nvSpPr>
        <p:spPr>
          <a:xfrm>
            <a:off x="2834640" y="2203704"/>
            <a:ext cx="2483510" cy="146304"/>
          </a:xfrm>
          <a:prstGeom prst="rect">
            <a:avLst/>
          </a:prstGeom>
          <a:solidFill>
            <a:srgbClr val="FB7185"/>
          </a:solidFill>
          <a:ln w="12700">
            <a:solidFill>
              <a:srgbClr val="FB7185"/>
            </a:solidFill>
            <a:prstDash val="solid"/>
          </a:ln>
        </p:spPr>
      </p:sp>
      <p:sp>
        <p:nvSpPr>
          <p:cNvPr id="10" name="Text 8"/>
          <p:cNvSpPr/>
          <p:nvPr/>
        </p:nvSpPr>
        <p:spPr>
          <a:xfrm>
            <a:off x="5687568" y="2176272"/>
            <a:ext cx="685800" cy="182880"/>
          </a:xfrm>
          <a:prstGeom prst="rect">
            <a:avLst/>
          </a:prstGeom>
          <a:noFill/>
          <a:ln/>
        </p:spPr>
        <p:txBody>
          <a:bodyPr wrap="square" lIns="0" tIns="0" rIns="0" bIns="0" rtlCol="0" anchor="ctr"/>
          <a:lstStyle/>
          <a:p>
            <a:pPr algn="r" indent="0" marL="0">
              <a:buNone/>
            </a:pPr>
            <a:r>
              <a:rPr lang="en-US" sz="800" dirty="0">
                <a:solidFill>
                  <a:srgbClr val="FB7185"/>
                </a:solidFill>
              </a:rPr>
              <a:t>67.9%</a:t>
            </a:r>
            <a:endParaRPr lang="en-US" sz="800" dirty="0"/>
          </a:p>
        </p:txBody>
      </p:sp>
      <p:sp>
        <p:nvSpPr>
          <p:cNvPr id="11" name="Text 9"/>
          <p:cNvSpPr/>
          <p:nvPr/>
        </p:nvSpPr>
        <p:spPr>
          <a:xfrm>
            <a:off x="914400" y="2706624"/>
            <a:ext cx="187452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parse_fail_majority</a:t>
            </a:r>
            <a:endParaRPr lang="en-US" sz="880" dirty="0"/>
          </a:p>
        </p:txBody>
      </p:sp>
      <p:sp>
        <p:nvSpPr>
          <p:cNvPr id="12" name="Shape 10"/>
          <p:cNvSpPr/>
          <p:nvPr/>
        </p:nvSpPr>
        <p:spPr>
          <a:xfrm>
            <a:off x="2834640" y="2706624"/>
            <a:ext cx="2743200" cy="146304"/>
          </a:xfrm>
          <a:prstGeom prst="rect">
            <a:avLst/>
          </a:prstGeom>
          <a:solidFill>
            <a:srgbClr val="1E293B"/>
          </a:solidFill>
          <a:ln w="12700">
            <a:solidFill>
              <a:srgbClr val="1E293B"/>
            </a:solidFill>
            <a:prstDash val="solid"/>
          </a:ln>
        </p:spPr>
      </p:sp>
      <p:sp>
        <p:nvSpPr>
          <p:cNvPr id="13" name="Shape 11"/>
          <p:cNvSpPr/>
          <p:nvPr/>
        </p:nvSpPr>
        <p:spPr>
          <a:xfrm>
            <a:off x="2834640" y="2706624"/>
            <a:ext cx="449885" cy="146304"/>
          </a:xfrm>
          <a:prstGeom prst="rect">
            <a:avLst/>
          </a:prstGeom>
          <a:solidFill>
            <a:srgbClr val="FBBF24"/>
          </a:solidFill>
          <a:ln w="12700">
            <a:solidFill>
              <a:srgbClr val="FBBF24"/>
            </a:solidFill>
            <a:prstDash val="solid"/>
          </a:ln>
        </p:spPr>
      </p:sp>
      <p:sp>
        <p:nvSpPr>
          <p:cNvPr id="14" name="Text 12"/>
          <p:cNvSpPr/>
          <p:nvPr/>
        </p:nvSpPr>
        <p:spPr>
          <a:xfrm>
            <a:off x="5687568" y="2679192"/>
            <a:ext cx="685800" cy="182880"/>
          </a:xfrm>
          <a:prstGeom prst="rect">
            <a:avLst/>
          </a:prstGeom>
          <a:noFill/>
          <a:ln/>
        </p:spPr>
        <p:txBody>
          <a:bodyPr wrap="square" lIns="0" tIns="0" rIns="0" bIns="0" rtlCol="0" anchor="ctr"/>
          <a:lstStyle/>
          <a:p>
            <a:pPr algn="r" indent="0" marL="0">
              <a:buNone/>
            </a:pPr>
            <a:r>
              <a:rPr lang="en-US" sz="800" dirty="0">
                <a:solidFill>
                  <a:srgbClr val="FBBF24"/>
                </a:solidFill>
              </a:rPr>
              <a:t>12.3%</a:t>
            </a:r>
            <a:endParaRPr lang="en-US" sz="800" dirty="0"/>
          </a:p>
        </p:txBody>
      </p:sp>
      <p:sp>
        <p:nvSpPr>
          <p:cNvPr id="15" name="Text 13"/>
          <p:cNvSpPr/>
          <p:nvPr/>
        </p:nvSpPr>
        <p:spPr>
          <a:xfrm>
            <a:off x="914400" y="3209544"/>
            <a:ext cx="187452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answered_but_wrong</a:t>
            </a:r>
            <a:endParaRPr lang="en-US" sz="880" dirty="0"/>
          </a:p>
        </p:txBody>
      </p:sp>
      <p:sp>
        <p:nvSpPr>
          <p:cNvPr id="16" name="Shape 14"/>
          <p:cNvSpPr/>
          <p:nvPr/>
        </p:nvSpPr>
        <p:spPr>
          <a:xfrm>
            <a:off x="2834640" y="3209544"/>
            <a:ext cx="2743200" cy="146304"/>
          </a:xfrm>
          <a:prstGeom prst="rect">
            <a:avLst/>
          </a:prstGeom>
          <a:solidFill>
            <a:srgbClr val="1E293B"/>
          </a:solidFill>
          <a:ln w="12700">
            <a:solidFill>
              <a:srgbClr val="1E293B"/>
            </a:solidFill>
            <a:prstDash val="solid"/>
          </a:ln>
        </p:spPr>
      </p:sp>
      <p:sp>
        <p:nvSpPr>
          <p:cNvPr id="17" name="Shape 15"/>
          <p:cNvSpPr/>
          <p:nvPr/>
        </p:nvSpPr>
        <p:spPr>
          <a:xfrm>
            <a:off x="2834640" y="3209544"/>
            <a:ext cx="270662" cy="146304"/>
          </a:xfrm>
          <a:prstGeom prst="rect">
            <a:avLst/>
          </a:prstGeom>
          <a:solidFill>
            <a:srgbClr val="60A5FA"/>
          </a:solidFill>
          <a:ln w="12700">
            <a:solidFill>
              <a:srgbClr val="60A5FA"/>
            </a:solidFill>
            <a:prstDash val="solid"/>
          </a:ln>
        </p:spPr>
      </p:sp>
      <p:sp>
        <p:nvSpPr>
          <p:cNvPr id="18" name="Text 16"/>
          <p:cNvSpPr/>
          <p:nvPr/>
        </p:nvSpPr>
        <p:spPr>
          <a:xfrm>
            <a:off x="5687568" y="3182112"/>
            <a:ext cx="685800" cy="182880"/>
          </a:xfrm>
          <a:prstGeom prst="rect">
            <a:avLst/>
          </a:prstGeom>
          <a:noFill/>
          <a:ln/>
        </p:spPr>
        <p:txBody>
          <a:bodyPr wrap="square" lIns="0" tIns="0" rIns="0" bIns="0" rtlCol="0" anchor="ctr"/>
          <a:lstStyle/>
          <a:p>
            <a:pPr algn="r" indent="0" marL="0">
              <a:buNone/>
            </a:pPr>
            <a:r>
              <a:rPr lang="en-US" sz="800" dirty="0">
                <a:solidFill>
                  <a:srgbClr val="60A5FA"/>
                </a:solidFill>
              </a:rPr>
              <a:t>7.4%</a:t>
            </a:r>
            <a:endParaRPr lang="en-US" sz="800" dirty="0"/>
          </a:p>
        </p:txBody>
      </p:sp>
      <p:sp>
        <p:nvSpPr>
          <p:cNvPr id="19" name="Text 17"/>
          <p:cNvSpPr/>
          <p:nvPr/>
        </p:nvSpPr>
        <p:spPr>
          <a:xfrm>
            <a:off x="914400" y="3712464"/>
            <a:ext cx="187452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thought_complete_wrong</a:t>
            </a:r>
            <a:endParaRPr lang="en-US" sz="880" dirty="0"/>
          </a:p>
        </p:txBody>
      </p:sp>
      <p:sp>
        <p:nvSpPr>
          <p:cNvPr id="20" name="Shape 18"/>
          <p:cNvSpPr/>
          <p:nvPr/>
        </p:nvSpPr>
        <p:spPr>
          <a:xfrm>
            <a:off x="2834640" y="3712464"/>
            <a:ext cx="2743200" cy="146304"/>
          </a:xfrm>
          <a:prstGeom prst="rect">
            <a:avLst/>
          </a:prstGeom>
          <a:solidFill>
            <a:srgbClr val="1E293B"/>
          </a:solidFill>
          <a:ln w="12700">
            <a:solidFill>
              <a:srgbClr val="1E293B"/>
            </a:solidFill>
            <a:prstDash val="solid"/>
          </a:ln>
        </p:spPr>
      </p:sp>
      <p:sp>
        <p:nvSpPr>
          <p:cNvPr id="21" name="Shape 19"/>
          <p:cNvSpPr/>
          <p:nvPr/>
        </p:nvSpPr>
        <p:spPr>
          <a:xfrm>
            <a:off x="2834640" y="3712464"/>
            <a:ext cx="226771" cy="146304"/>
          </a:xfrm>
          <a:prstGeom prst="rect">
            <a:avLst/>
          </a:prstGeom>
          <a:solidFill>
            <a:srgbClr val="A78BFA"/>
          </a:solidFill>
          <a:ln w="12700">
            <a:solidFill>
              <a:srgbClr val="A78BFA"/>
            </a:solidFill>
            <a:prstDash val="solid"/>
          </a:ln>
        </p:spPr>
      </p:sp>
      <p:sp>
        <p:nvSpPr>
          <p:cNvPr id="22" name="Text 20"/>
          <p:cNvSpPr/>
          <p:nvPr/>
        </p:nvSpPr>
        <p:spPr>
          <a:xfrm>
            <a:off x="5687568" y="3685032"/>
            <a:ext cx="685800" cy="182880"/>
          </a:xfrm>
          <a:prstGeom prst="rect">
            <a:avLst/>
          </a:prstGeom>
          <a:noFill/>
          <a:ln/>
        </p:spPr>
        <p:txBody>
          <a:bodyPr wrap="square" lIns="0" tIns="0" rIns="0" bIns="0" rtlCol="0" anchor="ctr"/>
          <a:lstStyle/>
          <a:p>
            <a:pPr algn="r" indent="0" marL="0">
              <a:buNone/>
            </a:pPr>
            <a:r>
              <a:rPr lang="en-US" sz="800" dirty="0">
                <a:solidFill>
                  <a:srgbClr val="A78BFA"/>
                </a:solidFill>
              </a:rPr>
              <a:t>6.2%</a:t>
            </a:r>
            <a:endParaRPr lang="en-US" sz="800" dirty="0"/>
          </a:p>
        </p:txBody>
      </p:sp>
      <p:sp>
        <p:nvSpPr>
          <p:cNvPr id="23" name="Text 21"/>
          <p:cNvSpPr/>
          <p:nvPr/>
        </p:nvSpPr>
        <p:spPr>
          <a:xfrm>
            <a:off x="914400" y="4215384"/>
            <a:ext cx="187452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gave_up_infeasible</a:t>
            </a:r>
            <a:endParaRPr lang="en-US" sz="880" dirty="0"/>
          </a:p>
        </p:txBody>
      </p:sp>
      <p:sp>
        <p:nvSpPr>
          <p:cNvPr id="24" name="Shape 22"/>
          <p:cNvSpPr/>
          <p:nvPr/>
        </p:nvSpPr>
        <p:spPr>
          <a:xfrm>
            <a:off x="2834640" y="4215384"/>
            <a:ext cx="2743200" cy="146304"/>
          </a:xfrm>
          <a:prstGeom prst="rect">
            <a:avLst/>
          </a:prstGeom>
          <a:solidFill>
            <a:srgbClr val="1E293B"/>
          </a:solidFill>
          <a:ln w="12700">
            <a:solidFill>
              <a:srgbClr val="1E293B"/>
            </a:solidFill>
            <a:prstDash val="solid"/>
          </a:ln>
        </p:spPr>
      </p:sp>
      <p:sp>
        <p:nvSpPr>
          <p:cNvPr id="25" name="Shape 23"/>
          <p:cNvSpPr/>
          <p:nvPr/>
        </p:nvSpPr>
        <p:spPr>
          <a:xfrm>
            <a:off x="2834640" y="4215384"/>
            <a:ext cx="179222" cy="146304"/>
          </a:xfrm>
          <a:prstGeom prst="rect">
            <a:avLst/>
          </a:prstGeom>
          <a:solidFill>
            <a:srgbClr val="94A3B8"/>
          </a:solidFill>
          <a:ln w="12700">
            <a:solidFill>
              <a:srgbClr val="94A3B8"/>
            </a:solidFill>
            <a:prstDash val="solid"/>
          </a:ln>
        </p:spPr>
      </p:sp>
      <p:sp>
        <p:nvSpPr>
          <p:cNvPr id="26" name="Text 24"/>
          <p:cNvSpPr/>
          <p:nvPr/>
        </p:nvSpPr>
        <p:spPr>
          <a:xfrm>
            <a:off x="5687568" y="4187952"/>
            <a:ext cx="685800" cy="182880"/>
          </a:xfrm>
          <a:prstGeom prst="rect">
            <a:avLst/>
          </a:prstGeom>
          <a:noFill/>
          <a:ln/>
        </p:spPr>
        <p:txBody>
          <a:bodyPr wrap="square" lIns="0" tIns="0" rIns="0" bIns="0" rtlCol="0" anchor="ctr"/>
          <a:lstStyle/>
          <a:p>
            <a:pPr algn="r" indent="0" marL="0">
              <a:buNone/>
            </a:pPr>
            <a:r>
              <a:rPr lang="en-US" sz="800" dirty="0">
                <a:solidFill>
                  <a:srgbClr val="94A3B8"/>
                </a:solidFill>
              </a:rPr>
              <a:t>4.9%</a:t>
            </a:r>
            <a:endParaRPr lang="en-US" sz="800" dirty="0"/>
          </a:p>
        </p:txBody>
      </p:sp>
      <p:sp>
        <p:nvSpPr>
          <p:cNvPr id="27" name="Text 25"/>
          <p:cNvSpPr/>
          <p:nvPr/>
        </p:nvSpPr>
        <p:spPr>
          <a:xfrm>
            <a:off x="914400" y="4718304"/>
            <a:ext cx="1874520" cy="164592"/>
          </a:xfrm>
          <a:prstGeom prst="rect">
            <a:avLst/>
          </a:prstGeom>
          <a:noFill/>
          <a:ln/>
        </p:spPr>
        <p:txBody>
          <a:bodyPr wrap="square" lIns="0" tIns="0" rIns="0" bIns="0" rtlCol="0" anchor="ctr">
            <a:normAutofit/>
          </a:bodyPr>
          <a:lstStyle/>
          <a:p>
            <a:pPr indent="0" marL="0">
              <a:buNone/>
            </a:pPr>
            <a:r>
              <a:rPr lang="en-US" sz="880" dirty="0">
                <a:solidFill>
                  <a:srgbClr val="E5E7EB"/>
                </a:solidFill>
              </a:rPr>
              <a:t>runtime_exception</a:t>
            </a:r>
            <a:endParaRPr lang="en-US" sz="880" dirty="0"/>
          </a:p>
        </p:txBody>
      </p:sp>
      <p:sp>
        <p:nvSpPr>
          <p:cNvPr id="28" name="Shape 26"/>
          <p:cNvSpPr/>
          <p:nvPr/>
        </p:nvSpPr>
        <p:spPr>
          <a:xfrm>
            <a:off x="2834640" y="4718304"/>
            <a:ext cx="2743200" cy="146304"/>
          </a:xfrm>
          <a:prstGeom prst="rect">
            <a:avLst/>
          </a:prstGeom>
          <a:solidFill>
            <a:srgbClr val="1E293B"/>
          </a:solidFill>
          <a:ln w="12700">
            <a:solidFill>
              <a:srgbClr val="1E293B"/>
            </a:solidFill>
            <a:prstDash val="solid"/>
          </a:ln>
        </p:spPr>
      </p:sp>
      <p:sp>
        <p:nvSpPr>
          <p:cNvPr id="29" name="Shape 27"/>
          <p:cNvSpPr/>
          <p:nvPr/>
        </p:nvSpPr>
        <p:spPr>
          <a:xfrm>
            <a:off x="2834640" y="4718304"/>
            <a:ext cx="43891" cy="146304"/>
          </a:xfrm>
          <a:prstGeom prst="rect">
            <a:avLst/>
          </a:prstGeom>
          <a:solidFill>
            <a:srgbClr val="334155"/>
          </a:solidFill>
          <a:ln w="12700">
            <a:solidFill>
              <a:srgbClr val="334155"/>
            </a:solidFill>
            <a:prstDash val="solid"/>
          </a:ln>
        </p:spPr>
      </p:sp>
      <p:sp>
        <p:nvSpPr>
          <p:cNvPr id="30" name="Text 28"/>
          <p:cNvSpPr/>
          <p:nvPr/>
        </p:nvSpPr>
        <p:spPr>
          <a:xfrm>
            <a:off x="5687568" y="4690872"/>
            <a:ext cx="685800" cy="182880"/>
          </a:xfrm>
          <a:prstGeom prst="rect">
            <a:avLst/>
          </a:prstGeom>
          <a:noFill/>
          <a:ln/>
        </p:spPr>
        <p:txBody>
          <a:bodyPr wrap="square" lIns="0" tIns="0" rIns="0" bIns="0" rtlCol="0" anchor="ctr"/>
          <a:lstStyle/>
          <a:p>
            <a:pPr algn="r" indent="0" marL="0">
              <a:buNone/>
            </a:pPr>
            <a:r>
              <a:rPr lang="en-US" sz="800" dirty="0">
                <a:solidFill>
                  <a:srgbClr val="334155"/>
                </a:solidFill>
              </a:rPr>
              <a:t>1.2%</a:t>
            </a:r>
            <a:endParaRPr lang="en-US" sz="800" dirty="0"/>
          </a:p>
        </p:txBody>
      </p:sp>
      <p:sp>
        <p:nvSpPr>
          <p:cNvPr id="31" name="Text 29"/>
          <p:cNvSpPr/>
          <p:nvPr/>
        </p:nvSpPr>
        <p:spPr>
          <a:xfrm>
            <a:off x="914400" y="5257800"/>
            <a:ext cx="5486400" cy="411480"/>
          </a:xfrm>
          <a:prstGeom prst="rect">
            <a:avLst/>
          </a:prstGeom>
          <a:noFill/>
          <a:ln/>
        </p:spPr>
        <p:txBody>
          <a:bodyPr wrap="square" lIns="0" tIns="0" rIns="0" bIns="0" rtlCol="0" anchor="ctr"/>
          <a:lstStyle/>
          <a:p>
            <a:pPr indent="0" marL="0">
              <a:buNone/>
            </a:pPr>
            <a:r>
              <a:rPr lang="en-US" sz="1100" i="1" dirty="0">
                <a:solidFill>
                  <a:srgbClr val="94A3B8"/>
                </a:solidFill>
              </a:rPr>
              <a:t>67.9 % of failed episodes never emit a terminal status — the model loops until step budget exhausts.</a:t>
            </a:r>
            <a:endParaRPr lang="en-US" sz="1100" dirty="0"/>
          </a:p>
        </p:txBody>
      </p:sp>
      <p:sp>
        <p:nvSpPr>
          <p:cNvPr id="32" name="Shape 30"/>
          <p:cNvSpPr/>
          <p:nvPr/>
        </p:nvSpPr>
        <p:spPr>
          <a:xfrm>
            <a:off x="6675120" y="1325880"/>
            <a:ext cx="4892040" cy="4526280"/>
          </a:xfrm>
          <a:prstGeom prst="roundRect">
            <a:avLst>
              <a:gd name="adj" fmla="val 1616"/>
            </a:avLst>
          </a:prstGeom>
          <a:solidFill>
            <a:srgbClr val="111827"/>
          </a:solidFill>
          <a:ln w="12700">
            <a:solidFill>
              <a:srgbClr val="334155">
                <a:alpha val="85000"/>
              </a:srgbClr>
            </a:solidFill>
            <a:prstDash val="solid"/>
          </a:ln>
        </p:spPr>
      </p:sp>
      <p:sp>
        <p:nvSpPr>
          <p:cNvPr id="33" name="Text 31"/>
          <p:cNvSpPr/>
          <p:nvPr/>
        </p:nvSpPr>
        <p:spPr>
          <a:xfrm>
            <a:off x="6949440" y="1627632"/>
            <a:ext cx="3657600" cy="228600"/>
          </a:xfrm>
          <a:prstGeom prst="rect">
            <a:avLst/>
          </a:prstGeom>
          <a:noFill/>
          <a:ln/>
        </p:spPr>
        <p:txBody>
          <a:bodyPr wrap="square" lIns="0" tIns="0" rIns="0" bIns="0" rtlCol="0" anchor="ctr"/>
          <a:lstStyle/>
          <a:p>
            <a:pPr indent="0" marL="0">
              <a:buNone/>
            </a:pPr>
            <a:r>
              <a:rPr lang="en-US" sz="1400" b="1" dirty="0">
                <a:solidFill>
                  <a:srgbClr val="E5E7EB"/>
                </a:solidFill>
              </a:rPr>
              <a:t>Three structural gaps</a:t>
            </a:r>
            <a:endParaRPr lang="en-US" sz="1400" dirty="0"/>
          </a:p>
        </p:txBody>
      </p:sp>
      <p:sp>
        <p:nvSpPr>
          <p:cNvPr id="34" name="Text 32"/>
          <p:cNvSpPr/>
          <p:nvPr/>
        </p:nvSpPr>
        <p:spPr>
          <a:xfrm>
            <a:off x="6949440" y="2057400"/>
            <a:ext cx="4297680" cy="201168"/>
          </a:xfrm>
          <a:prstGeom prst="rect">
            <a:avLst/>
          </a:prstGeom>
          <a:noFill/>
          <a:ln/>
        </p:spPr>
        <p:txBody>
          <a:bodyPr wrap="square" lIns="0" tIns="0" rIns="0" bIns="0" rtlCol="0" anchor="ctr"/>
          <a:lstStyle/>
          <a:p>
            <a:pPr indent="0" marL="0">
              <a:buNone/>
            </a:pPr>
            <a:r>
              <a:rPr lang="en-US" sz="1150" b="1" dirty="0">
                <a:solidFill>
                  <a:srgbClr val="22D3EE"/>
                </a:solidFill>
              </a:rPr>
              <a:t>1. Per-step → episode dropoff</a:t>
            </a:r>
            <a:endParaRPr lang="en-US" sz="1150" dirty="0"/>
          </a:p>
        </p:txBody>
      </p:sp>
      <p:sp>
        <p:nvSpPr>
          <p:cNvPr id="35" name="Text 33"/>
          <p:cNvSpPr/>
          <p:nvPr/>
        </p:nvSpPr>
        <p:spPr>
          <a:xfrm>
            <a:off x="6949440" y="2286000"/>
            <a:ext cx="4297680" cy="502920"/>
          </a:xfrm>
          <a:prstGeom prst="rect">
            <a:avLst/>
          </a:prstGeom>
          <a:noFill/>
          <a:ln/>
        </p:spPr>
        <p:txBody>
          <a:bodyPr wrap="square" lIns="0" tIns="0" rIns="0" bIns="0" rtlCol="0" anchor="ctr"/>
          <a:lstStyle/>
          <a:p>
            <a:pPr indent="0" marL="0">
              <a:buNone/>
            </a:pPr>
            <a:r>
              <a:rPr lang="en-US" sz="1020" dirty="0">
                <a:solidFill>
                  <a:srgbClr val="E5E7EB"/>
                </a:solidFill>
              </a:rPr>
              <a:t>Run L's ~70 % per-step accuracy compounds away over 12–20 step episodes (see prior slide).</a:t>
            </a:r>
            <a:endParaRPr lang="en-US" sz="1020" dirty="0"/>
          </a:p>
        </p:txBody>
      </p:sp>
      <p:sp>
        <p:nvSpPr>
          <p:cNvPr id="36" name="Text 34"/>
          <p:cNvSpPr/>
          <p:nvPr/>
        </p:nvSpPr>
        <p:spPr>
          <a:xfrm>
            <a:off x="6949440" y="2880360"/>
            <a:ext cx="4297680" cy="201168"/>
          </a:xfrm>
          <a:prstGeom prst="rect">
            <a:avLst/>
          </a:prstGeom>
          <a:noFill/>
          <a:ln/>
        </p:spPr>
        <p:txBody>
          <a:bodyPr wrap="square" lIns="0" tIns="0" rIns="0" bIns="0" rtlCol="0" anchor="ctr"/>
          <a:lstStyle/>
          <a:p>
            <a:pPr indent="0" marL="0">
              <a:buNone/>
            </a:pPr>
            <a:r>
              <a:rPr lang="en-US" sz="1150" b="1" dirty="0">
                <a:solidFill>
                  <a:srgbClr val="FBBF24"/>
                </a:solidFill>
              </a:rPr>
              <a:t>2. OOD-prompt narrowness</a:t>
            </a:r>
            <a:endParaRPr lang="en-US" sz="1150" dirty="0"/>
          </a:p>
        </p:txBody>
      </p:sp>
      <p:sp>
        <p:nvSpPr>
          <p:cNvPr id="37" name="Text 35"/>
          <p:cNvSpPr/>
          <p:nvPr/>
        </p:nvSpPr>
        <p:spPr>
          <a:xfrm>
            <a:off x="6949440" y="3108960"/>
            <a:ext cx="4297680" cy="960120"/>
          </a:xfrm>
          <a:prstGeom prst="rect">
            <a:avLst/>
          </a:prstGeom>
          <a:noFill/>
          <a:ln/>
        </p:spPr>
        <p:txBody>
          <a:bodyPr wrap="square" lIns="0" tIns="0" rIns="0" bIns="0" rtlCol="0" anchor="ctr"/>
          <a:lstStyle/>
          <a:p>
            <a:pPr indent="0" marL="0">
              <a:buNone/>
            </a:pPr>
            <a:r>
              <a:rPr lang="en-US" sz="1020" dirty="0">
                <a:solidFill>
                  <a:srgbClr val="E5E7EB"/>
                </a:solidFill>
              </a:rPr>
              <a:t>LoRA was trained on single-shot "Previous action: &lt;json&gt;" prompts. AW's multi-step rollout is OOD; Run L mode-collapsed (87 % of tasks emitted one action verbatim until budget) and hallucinated schemas (navigate_to, record_audio).</a:t>
            </a:r>
            <a:endParaRPr lang="en-US" sz="1020" dirty="0"/>
          </a:p>
        </p:txBody>
      </p:sp>
      <p:sp>
        <p:nvSpPr>
          <p:cNvPr id="38" name="Text 36"/>
          <p:cNvSpPr/>
          <p:nvPr/>
        </p:nvSpPr>
        <p:spPr>
          <a:xfrm>
            <a:off x="6949440" y="4160520"/>
            <a:ext cx="4297680" cy="201168"/>
          </a:xfrm>
          <a:prstGeom prst="rect">
            <a:avLst/>
          </a:prstGeom>
          <a:noFill/>
          <a:ln/>
        </p:spPr>
        <p:txBody>
          <a:bodyPr wrap="square" lIns="0" tIns="0" rIns="0" bIns="0" rtlCol="0" anchor="ctr"/>
          <a:lstStyle/>
          <a:p>
            <a:pPr indent="0" marL="0">
              <a:buNone/>
            </a:pPr>
            <a:r>
              <a:rPr lang="en-US" sz="1150" b="1" dirty="0">
                <a:solidFill>
                  <a:srgbClr val="FB7185"/>
                </a:solidFill>
              </a:rPr>
              <a:t>3. No terminal-state signal</a:t>
            </a:r>
            <a:endParaRPr lang="en-US" sz="1150" dirty="0"/>
          </a:p>
        </p:txBody>
      </p:sp>
      <p:sp>
        <p:nvSpPr>
          <p:cNvPr id="39" name="Text 37"/>
          <p:cNvSpPr/>
          <p:nvPr/>
        </p:nvSpPr>
        <p:spPr>
          <a:xfrm>
            <a:off x="6949440" y="4389120"/>
            <a:ext cx="4297680" cy="868680"/>
          </a:xfrm>
          <a:prstGeom prst="rect">
            <a:avLst/>
          </a:prstGeom>
          <a:noFill/>
          <a:ln/>
        </p:spPr>
        <p:txBody>
          <a:bodyPr wrap="square" lIns="0" tIns="0" rIns="0" bIns="0" rtlCol="0" anchor="ctr"/>
          <a:lstStyle/>
          <a:p>
            <a:pPr indent="0" marL="0">
              <a:buNone/>
            </a:pPr>
            <a:r>
              <a:rPr lang="en-US" sz="1020" dirty="0">
                <a:solidFill>
                  <a:srgbClr val="E5E7EB"/>
                </a:solidFill>
              </a:rPr>
              <a:t>"wait" and "status:complete" need a what-just-happened delta the single screenshot does not contain. wait stuck near 0 across every recipe.</a:t>
            </a:r>
            <a:endParaRPr lang="en-US" sz="102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FUTURE WORK</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What we didn’t get to try (and why it plausibly works)</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640080" y="1325880"/>
            <a:ext cx="5440680" cy="2240280"/>
          </a:xfrm>
          <a:prstGeom prst="roundRect">
            <a:avLst>
              <a:gd name="adj" fmla="val 3265"/>
            </a:avLst>
          </a:prstGeom>
          <a:solidFill>
            <a:srgbClr val="111827"/>
          </a:solidFill>
          <a:ln w="12700">
            <a:solidFill>
              <a:srgbClr val="22D3EE">
                <a:alpha val="85000"/>
              </a:srgbClr>
            </a:solidFill>
            <a:prstDash val="solid"/>
          </a:ln>
        </p:spPr>
      </p:sp>
      <p:sp>
        <p:nvSpPr>
          <p:cNvPr id="6" name="Text 4"/>
          <p:cNvSpPr/>
          <p:nvPr/>
        </p:nvSpPr>
        <p:spPr>
          <a:xfrm>
            <a:off x="914400" y="1554480"/>
            <a:ext cx="3657600" cy="228600"/>
          </a:xfrm>
          <a:prstGeom prst="rect">
            <a:avLst/>
          </a:prstGeom>
          <a:noFill/>
          <a:ln/>
        </p:spPr>
        <p:txBody>
          <a:bodyPr wrap="square" lIns="0" tIns="0" rIns="0" bIns="0" rtlCol="0" anchor="ctr"/>
          <a:lstStyle/>
          <a:p>
            <a:pPr indent="0" marL="0">
              <a:buNone/>
            </a:pPr>
            <a:r>
              <a:rPr lang="en-US" sz="1350" b="1" dirty="0">
                <a:solidFill>
                  <a:srgbClr val="22D3EE"/>
                </a:solidFill>
              </a:rPr>
              <a:t>1. Trajectory-replay SFT</a:t>
            </a:r>
            <a:endParaRPr lang="en-US" sz="1350" dirty="0"/>
          </a:p>
        </p:txBody>
      </p:sp>
      <p:sp>
        <p:nvSpPr>
          <p:cNvPr id="7" name="Text 5"/>
          <p:cNvSpPr/>
          <p:nvPr/>
        </p:nvSpPr>
        <p:spPr>
          <a:xfrm>
            <a:off x="914400" y="1828800"/>
            <a:ext cx="5029200" cy="777240"/>
          </a:xfrm>
          <a:prstGeom prst="rect">
            <a:avLst/>
          </a:prstGeom>
          <a:noFill/>
          <a:ln/>
        </p:spPr>
        <p:txBody>
          <a:bodyPr wrap="square" lIns="0" tIns="0" rIns="0" bIns="0" rtlCol="0" anchor="ctr"/>
          <a:lstStyle/>
          <a:p>
            <a:pPr indent="0" marL="0">
              <a:buNone/>
            </a:pPr>
            <a:r>
              <a:rPr lang="en-US" sz="1050" dirty="0">
                <a:solidFill>
                  <a:srgbClr val="E5E7EB"/>
                </a:solidFill>
              </a:rPr>
              <a:t>Train on full successful AW episodes, not per-step rows. Filtered behavior cloning + monte-carlo prefix filter from V-Droid §4.1.</a:t>
            </a:r>
            <a:endParaRPr lang="en-US" sz="1050" dirty="0"/>
          </a:p>
        </p:txBody>
      </p:sp>
      <p:sp>
        <p:nvSpPr>
          <p:cNvPr id="8" name="Shape 6"/>
          <p:cNvSpPr/>
          <p:nvPr/>
        </p:nvSpPr>
        <p:spPr>
          <a:xfrm>
            <a:off x="914400" y="2743200"/>
            <a:ext cx="1828800" cy="274320"/>
          </a:xfrm>
          <a:prstGeom prst="roundRect">
            <a:avLst>
              <a:gd name="adj" fmla="val 20000"/>
            </a:avLst>
          </a:prstGeom>
          <a:solidFill>
            <a:srgbClr val="22D3EE">
              <a:alpha val="92000"/>
            </a:srgbClr>
          </a:solidFill>
          <a:ln w="12700">
            <a:solidFill>
              <a:srgbClr val="22D3EE">
                <a:alpha val="90000"/>
              </a:srgbClr>
            </a:solidFill>
            <a:prstDash val="solid"/>
          </a:ln>
        </p:spPr>
      </p:sp>
      <p:sp>
        <p:nvSpPr>
          <p:cNvPr id="9" name="Text 7"/>
          <p:cNvSpPr/>
          <p:nvPr/>
        </p:nvSpPr>
        <p:spPr>
          <a:xfrm>
            <a:off x="914400" y="2811780"/>
            <a:ext cx="1828800" cy="100584"/>
          </a:xfrm>
          <a:prstGeom prst="rect">
            <a:avLst/>
          </a:prstGeom>
          <a:noFill/>
          <a:ln/>
        </p:spPr>
        <p:txBody>
          <a:bodyPr wrap="square" lIns="0" tIns="0" rIns="0" bIns="0" rtlCol="0" anchor="ctr"/>
          <a:lstStyle/>
          <a:p>
            <a:pPr algn="ctr" indent="0" marL="0">
              <a:buNone/>
            </a:pPr>
            <a:r>
              <a:rPr lang="en-US" sz="750" b="1" dirty="0">
                <a:solidFill>
                  <a:srgbClr val="0B1020"/>
                </a:solidFill>
              </a:rPr>
              <a:t>+5–15 pp expected</a:t>
            </a:r>
            <a:endParaRPr lang="en-US" sz="750" dirty="0"/>
          </a:p>
        </p:txBody>
      </p:sp>
      <p:sp>
        <p:nvSpPr>
          <p:cNvPr id="10" name="Shape 8"/>
          <p:cNvSpPr/>
          <p:nvPr/>
        </p:nvSpPr>
        <p:spPr>
          <a:xfrm>
            <a:off x="2834640" y="2743200"/>
            <a:ext cx="3108960" cy="274320"/>
          </a:xfrm>
          <a:prstGeom prst="roundRect">
            <a:avLst>
              <a:gd name="adj" fmla="val 20000"/>
            </a:avLst>
          </a:prstGeom>
          <a:solidFill>
            <a:srgbClr val="94A3B8">
              <a:alpha val="92000"/>
            </a:srgbClr>
          </a:solidFill>
          <a:ln w="12700">
            <a:solidFill>
              <a:srgbClr val="94A3B8">
                <a:alpha val="90000"/>
              </a:srgbClr>
            </a:solidFill>
            <a:prstDash val="solid"/>
          </a:ln>
        </p:spPr>
      </p:sp>
      <p:sp>
        <p:nvSpPr>
          <p:cNvPr id="11" name="Text 9"/>
          <p:cNvSpPr/>
          <p:nvPr/>
        </p:nvSpPr>
        <p:spPr>
          <a:xfrm>
            <a:off x="2834640" y="2811780"/>
            <a:ext cx="3108960" cy="100584"/>
          </a:xfrm>
          <a:prstGeom prst="rect">
            <a:avLst/>
          </a:prstGeom>
          <a:noFill/>
          <a:ln/>
        </p:spPr>
        <p:txBody>
          <a:bodyPr wrap="square" lIns="0" tIns="0" rIns="0" bIns="0" rtlCol="0" anchor="ctr"/>
          <a:lstStyle/>
          <a:p>
            <a:pPr algn="ctr" indent="0" marL="0">
              <a:buNone/>
            </a:pPr>
            <a:r>
              <a:rPr lang="en-US" sz="750" b="1" dirty="0">
                <a:solidFill>
                  <a:srgbClr val="0B1020"/>
                </a:solidFill>
              </a:rPr>
              <a:t>DigiRL: 17.7→67.2 % AitW</a:t>
            </a:r>
            <a:endParaRPr lang="en-US" sz="750" dirty="0"/>
          </a:p>
        </p:txBody>
      </p:sp>
      <p:sp>
        <p:nvSpPr>
          <p:cNvPr id="12" name="Shape 10"/>
          <p:cNvSpPr/>
          <p:nvPr/>
        </p:nvSpPr>
        <p:spPr>
          <a:xfrm>
            <a:off x="6263640" y="1325880"/>
            <a:ext cx="5303520" cy="2240280"/>
          </a:xfrm>
          <a:prstGeom prst="roundRect">
            <a:avLst>
              <a:gd name="adj" fmla="val 3265"/>
            </a:avLst>
          </a:prstGeom>
          <a:solidFill>
            <a:srgbClr val="111827"/>
          </a:solidFill>
          <a:ln w="12700">
            <a:solidFill>
              <a:srgbClr val="34D399">
                <a:alpha val="85000"/>
              </a:srgbClr>
            </a:solidFill>
            <a:prstDash val="solid"/>
          </a:ln>
        </p:spPr>
      </p:sp>
      <p:sp>
        <p:nvSpPr>
          <p:cNvPr id="13" name="Text 11"/>
          <p:cNvSpPr/>
          <p:nvPr/>
        </p:nvSpPr>
        <p:spPr>
          <a:xfrm>
            <a:off x="6537960" y="1554480"/>
            <a:ext cx="3657600" cy="228600"/>
          </a:xfrm>
          <a:prstGeom prst="rect">
            <a:avLst/>
          </a:prstGeom>
          <a:noFill/>
          <a:ln/>
        </p:spPr>
        <p:txBody>
          <a:bodyPr wrap="square" lIns="0" tIns="0" rIns="0" bIns="0" rtlCol="0" anchor="ctr"/>
          <a:lstStyle/>
          <a:p>
            <a:pPr indent="0" marL="0">
              <a:buNone/>
            </a:pPr>
            <a:r>
              <a:rPr lang="en-US" sz="1350" b="1" dirty="0">
                <a:solidFill>
                  <a:srgbClr val="34D399"/>
                </a:solidFill>
              </a:rPr>
              <a:t>2. Schema-enforced decoding</a:t>
            </a:r>
            <a:endParaRPr lang="en-US" sz="1350" dirty="0"/>
          </a:p>
        </p:txBody>
      </p:sp>
      <p:sp>
        <p:nvSpPr>
          <p:cNvPr id="14" name="Text 12"/>
          <p:cNvSpPr/>
          <p:nvPr/>
        </p:nvSpPr>
        <p:spPr>
          <a:xfrm>
            <a:off x="6537960" y="1828800"/>
            <a:ext cx="4937760" cy="914400"/>
          </a:xfrm>
          <a:prstGeom prst="rect">
            <a:avLst/>
          </a:prstGeom>
          <a:noFill/>
          <a:ln/>
        </p:spPr>
        <p:txBody>
          <a:bodyPr wrap="square" lIns="0" tIns="0" rIns="0" bIns="0" rtlCol="0" anchor="ctr"/>
          <a:lstStyle/>
          <a:p>
            <a:pPr indent="0" marL="0">
              <a:buNone/>
            </a:pPr>
            <a:r>
              <a:rPr lang="en-US" sz="1050" dirty="0">
                <a:solidFill>
                  <a:srgbClr val="E5E7EB"/>
                </a:solidFill>
              </a:rPr>
              <a:t>outlines / JSON-grammar at inference time. Eliminates the schema hallucinations (navigate_to, record_audio, delete_files) Run L emitted on 213 steps in §51.</a:t>
            </a:r>
            <a:endParaRPr lang="en-US" sz="1050" dirty="0"/>
          </a:p>
        </p:txBody>
      </p:sp>
      <p:sp>
        <p:nvSpPr>
          <p:cNvPr id="15" name="Shape 13"/>
          <p:cNvSpPr/>
          <p:nvPr/>
        </p:nvSpPr>
        <p:spPr>
          <a:xfrm>
            <a:off x="6537960" y="2788920"/>
            <a:ext cx="3017520" cy="274320"/>
          </a:xfrm>
          <a:prstGeom prst="roundRect">
            <a:avLst>
              <a:gd name="adj" fmla="val 20000"/>
            </a:avLst>
          </a:prstGeom>
          <a:solidFill>
            <a:srgbClr val="34D399">
              <a:alpha val="92000"/>
            </a:srgbClr>
          </a:solidFill>
          <a:ln w="12700">
            <a:solidFill>
              <a:srgbClr val="34D399">
                <a:alpha val="90000"/>
              </a:srgbClr>
            </a:solidFill>
            <a:prstDash val="solid"/>
          </a:ln>
        </p:spPr>
      </p:sp>
      <p:sp>
        <p:nvSpPr>
          <p:cNvPr id="16" name="Text 14"/>
          <p:cNvSpPr/>
          <p:nvPr/>
        </p:nvSpPr>
        <p:spPr>
          <a:xfrm>
            <a:off x="6537960" y="2857500"/>
            <a:ext cx="3017520" cy="100584"/>
          </a:xfrm>
          <a:prstGeom prst="rect">
            <a:avLst/>
          </a:prstGeom>
          <a:noFill/>
          <a:ln/>
        </p:spPr>
        <p:txBody>
          <a:bodyPr wrap="square" lIns="0" tIns="0" rIns="0" bIns="0" rtlCol="0" anchor="ctr"/>
          <a:lstStyle/>
          <a:p>
            <a:pPr algn="ctr" indent="0" marL="0">
              <a:buNone/>
            </a:pPr>
            <a:r>
              <a:rPr lang="en-US" sz="750" b="1" dirty="0">
                <a:solidFill>
                  <a:srgbClr val="0B1020"/>
                </a:solidFill>
              </a:rPr>
              <a:t>recovers ~5–10 pp parse loss</a:t>
            </a:r>
            <a:endParaRPr lang="en-US" sz="750" dirty="0"/>
          </a:p>
        </p:txBody>
      </p:sp>
      <p:sp>
        <p:nvSpPr>
          <p:cNvPr id="17" name="Shape 15"/>
          <p:cNvSpPr/>
          <p:nvPr/>
        </p:nvSpPr>
        <p:spPr>
          <a:xfrm>
            <a:off x="640080" y="3703320"/>
            <a:ext cx="5440680" cy="2240280"/>
          </a:xfrm>
          <a:prstGeom prst="roundRect">
            <a:avLst>
              <a:gd name="adj" fmla="val 3265"/>
            </a:avLst>
          </a:prstGeom>
          <a:solidFill>
            <a:srgbClr val="111827"/>
          </a:solidFill>
          <a:ln w="12700">
            <a:solidFill>
              <a:srgbClr val="FBBF24">
                <a:alpha val="85000"/>
              </a:srgbClr>
            </a:solidFill>
            <a:prstDash val="solid"/>
          </a:ln>
        </p:spPr>
      </p:sp>
      <p:sp>
        <p:nvSpPr>
          <p:cNvPr id="18" name="Text 16"/>
          <p:cNvSpPr/>
          <p:nvPr/>
        </p:nvSpPr>
        <p:spPr>
          <a:xfrm>
            <a:off x="914400" y="3931920"/>
            <a:ext cx="3657600" cy="228600"/>
          </a:xfrm>
          <a:prstGeom prst="rect">
            <a:avLst/>
          </a:prstGeom>
          <a:noFill/>
          <a:ln/>
        </p:spPr>
        <p:txBody>
          <a:bodyPr wrap="square" lIns="0" tIns="0" rIns="0" bIns="0" rtlCol="0" anchor="ctr"/>
          <a:lstStyle/>
          <a:p>
            <a:pPr indent="0" marL="0">
              <a:buNone/>
            </a:pPr>
            <a:r>
              <a:rPr lang="en-US" sz="1350" b="1" dirty="0">
                <a:solidFill>
                  <a:srgbClr val="FBBF24"/>
                </a:solidFill>
              </a:rPr>
              <a:t>3. CoT / ReAct-format SFT</a:t>
            </a:r>
            <a:endParaRPr lang="en-US" sz="1350" dirty="0"/>
          </a:p>
        </p:txBody>
      </p:sp>
      <p:sp>
        <p:nvSpPr>
          <p:cNvPr id="19" name="Text 17"/>
          <p:cNvSpPr/>
          <p:nvPr/>
        </p:nvSpPr>
        <p:spPr>
          <a:xfrm>
            <a:off x="914400" y="4206240"/>
            <a:ext cx="5029200" cy="1051560"/>
          </a:xfrm>
          <a:prstGeom prst="rect">
            <a:avLst/>
          </a:prstGeom>
          <a:noFill/>
          <a:ln/>
        </p:spPr>
        <p:txBody>
          <a:bodyPr wrap="square" lIns="0" tIns="0" rIns="0" bIns="0" rtlCol="0" anchor="ctr"/>
          <a:lstStyle/>
          <a:p>
            <a:pPr indent="0" marL="0">
              <a:buNone/>
            </a:pPr>
            <a:r>
              <a:rPr lang="en-US" sz="1050" dirty="0">
                <a:solidFill>
                  <a:srgbClr val="E5E7EB"/>
                </a:solidFill>
              </a:rPr>
              <a:t>"Thought: … Action: …" labels matching the M3A prompt at training time, not just inference. Every published AW model above the 2B floor is trained this way (UI-TARS, V-Droid, AndroidLab).</a:t>
            </a:r>
            <a:endParaRPr lang="en-US" sz="1050" dirty="0"/>
          </a:p>
        </p:txBody>
      </p:sp>
      <p:sp>
        <p:nvSpPr>
          <p:cNvPr id="20" name="Shape 18"/>
          <p:cNvSpPr/>
          <p:nvPr/>
        </p:nvSpPr>
        <p:spPr>
          <a:xfrm>
            <a:off x="914400" y="5413248"/>
            <a:ext cx="2377440" cy="274320"/>
          </a:xfrm>
          <a:prstGeom prst="roundRect">
            <a:avLst>
              <a:gd name="adj" fmla="val 20000"/>
            </a:avLst>
          </a:prstGeom>
          <a:solidFill>
            <a:srgbClr val="FBBF24">
              <a:alpha val="92000"/>
            </a:srgbClr>
          </a:solidFill>
          <a:ln w="12700">
            <a:solidFill>
              <a:srgbClr val="FBBF24">
                <a:alpha val="90000"/>
              </a:srgbClr>
            </a:solidFill>
            <a:prstDash val="solid"/>
          </a:ln>
        </p:spPr>
      </p:sp>
      <p:sp>
        <p:nvSpPr>
          <p:cNvPr id="21" name="Text 19"/>
          <p:cNvSpPr/>
          <p:nvPr/>
        </p:nvSpPr>
        <p:spPr>
          <a:xfrm>
            <a:off x="914400" y="5481828"/>
            <a:ext cx="2377440" cy="100584"/>
          </a:xfrm>
          <a:prstGeom prst="rect">
            <a:avLst/>
          </a:prstGeom>
          <a:noFill/>
          <a:ln/>
        </p:spPr>
        <p:txBody>
          <a:bodyPr wrap="square" lIns="0" tIns="0" rIns="0" bIns="0" rtlCol="0" anchor="ctr"/>
          <a:lstStyle/>
          <a:p>
            <a:pPr algn="ctr" indent="0" marL="0">
              <a:buNone/>
            </a:pPr>
            <a:r>
              <a:rPr lang="en-US" sz="750" b="1" dirty="0">
                <a:solidFill>
                  <a:srgbClr val="0B1020"/>
                </a:solidFill>
              </a:rPr>
              <a:t>~2–3 days + retrain</a:t>
            </a:r>
            <a:endParaRPr lang="en-US" sz="750" dirty="0"/>
          </a:p>
        </p:txBody>
      </p:sp>
      <p:sp>
        <p:nvSpPr>
          <p:cNvPr id="22" name="Shape 20"/>
          <p:cNvSpPr/>
          <p:nvPr/>
        </p:nvSpPr>
        <p:spPr>
          <a:xfrm>
            <a:off x="6263640" y="3703320"/>
            <a:ext cx="5303520" cy="2240280"/>
          </a:xfrm>
          <a:prstGeom prst="roundRect">
            <a:avLst>
              <a:gd name="adj" fmla="val 3265"/>
            </a:avLst>
          </a:prstGeom>
          <a:solidFill>
            <a:srgbClr val="111827"/>
          </a:solidFill>
          <a:ln w="12700">
            <a:solidFill>
              <a:srgbClr val="A78BFA">
                <a:alpha val="85000"/>
              </a:srgbClr>
            </a:solidFill>
            <a:prstDash val="solid"/>
          </a:ln>
        </p:spPr>
      </p:sp>
      <p:sp>
        <p:nvSpPr>
          <p:cNvPr id="23" name="Text 21"/>
          <p:cNvSpPr/>
          <p:nvPr/>
        </p:nvSpPr>
        <p:spPr>
          <a:xfrm>
            <a:off x="6537960" y="3931920"/>
            <a:ext cx="3657600" cy="228600"/>
          </a:xfrm>
          <a:prstGeom prst="rect">
            <a:avLst/>
          </a:prstGeom>
          <a:noFill/>
          <a:ln/>
        </p:spPr>
        <p:txBody>
          <a:bodyPr wrap="square" lIns="0" tIns="0" rIns="0" bIns="0" rtlCol="0" anchor="ctr"/>
          <a:lstStyle/>
          <a:p>
            <a:pPr indent="0" marL="0">
              <a:buNone/>
            </a:pPr>
            <a:r>
              <a:rPr lang="en-US" sz="1350" b="1" dirty="0">
                <a:solidFill>
                  <a:srgbClr val="A78BFA"/>
                </a:solidFill>
              </a:rPr>
              <a:t>4. Inference-time reflector</a:t>
            </a:r>
            <a:endParaRPr lang="en-US" sz="1350" dirty="0"/>
          </a:p>
        </p:txBody>
      </p:sp>
      <p:sp>
        <p:nvSpPr>
          <p:cNvPr id="24" name="Text 22"/>
          <p:cNvSpPr/>
          <p:nvPr/>
        </p:nvSpPr>
        <p:spPr>
          <a:xfrm>
            <a:off x="6537960" y="4206240"/>
            <a:ext cx="4937760" cy="960120"/>
          </a:xfrm>
          <a:prstGeom prst="rect">
            <a:avLst/>
          </a:prstGeom>
          <a:noFill/>
          <a:ln/>
        </p:spPr>
        <p:txBody>
          <a:bodyPr wrap="square" lIns="0" tIns="0" rIns="0" bIns="0" rtlCol="0" anchor="ctr"/>
          <a:lstStyle/>
          <a:p>
            <a:pPr indent="0" marL="0">
              <a:buNone/>
            </a:pPr>
            <a:r>
              <a:rPr lang="en-US" sz="1050" dirty="0">
                <a:solidFill>
                  <a:srgbClr val="E5E7EB"/>
                </a:solidFill>
              </a:rPr>
              <a:t>Mobile-Agent-E-style scaffolding: planner / executor split, persistent memory, screen-diff reflection. Cheap (no retrain).</a:t>
            </a:r>
            <a:endParaRPr lang="en-US" sz="1050" dirty="0"/>
          </a:p>
        </p:txBody>
      </p:sp>
      <p:sp>
        <p:nvSpPr>
          <p:cNvPr id="25" name="Shape 23"/>
          <p:cNvSpPr/>
          <p:nvPr/>
        </p:nvSpPr>
        <p:spPr>
          <a:xfrm>
            <a:off x="6537960" y="5413248"/>
            <a:ext cx="2743200" cy="274320"/>
          </a:xfrm>
          <a:prstGeom prst="roundRect">
            <a:avLst>
              <a:gd name="adj" fmla="val 20000"/>
            </a:avLst>
          </a:prstGeom>
          <a:solidFill>
            <a:srgbClr val="A78BFA">
              <a:alpha val="92000"/>
            </a:srgbClr>
          </a:solidFill>
          <a:ln w="12700">
            <a:solidFill>
              <a:srgbClr val="A78BFA">
                <a:alpha val="90000"/>
              </a:srgbClr>
            </a:solidFill>
            <a:prstDash val="solid"/>
          </a:ln>
        </p:spPr>
      </p:sp>
      <p:sp>
        <p:nvSpPr>
          <p:cNvPr id="26" name="Text 24"/>
          <p:cNvSpPr/>
          <p:nvPr/>
        </p:nvSpPr>
        <p:spPr>
          <a:xfrm>
            <a:off x="6537960" y="5481828"/>
            <a:ext cx="2743200" cy="100584"/>
          </a:xfrm>
          <a:prstGeom prst="rect">
            <a:avLst/>
          </a:prstGeom>
          <a:noFill/>
          <a:ln/>
        </p:spPr>
        <p:txBody>
          <a:bodyPr wrap="square" lIns="0" tIns="0" rIns="0" bIns="0" rtlCol="0" anchor="ctr"/>
          <a:lstStyle/>
          <a:p>
            <a:pPr algn="ctr" indent="0" marL="0">
              <a:buNone/>
            </a:pPr>
            <a:r>
              <a:rPr lang="en-US" sz="750" b="1" dirty="0">
                <a:solidFill>
                  <a:srgbClr val="0B1020"/>
                </a:solidFill>
              </a:rPr>
              <a:t>+22 pp from harness alone</a:t>
            </a:r>
            <a:endParaRPr lang="en-US" sz="750" dirty="0"/>
          </a:p>
        </p:txBody>
      </p:sp>
      <p:sp>
        <p:nvSpPr>
          <p:cNvPr id="27" name="Text 25"/>
          <p:cNvSpPr/>
          <p:nvPr/>
        </p:nvSpPr>
        <p:spPr>
          <a:xfrm>
            <a:off x="640080" y="6080760"/>
            <a:ext cx="10927080" cy="365760"/>
          </a:xfrm>
          <a:prstGeom prst="rect">
            <a:avLst/>
          </a:prstGeom>
          <a:noFill/>
          <a:ln/>
        </p:spPr>
        <p:txBody>
          <a:bodyPr wrap="square" lIns="0" tIns="0" rIns="0" bIns="0" rtlCol="0" anchor="ctr"/>
          <a:lstStyle/>
          <a:p>
            <a:pPr algn="ctr" indent="0" marL="0">
              <a:buNone/>
            </a:pPr>
            <a:r>
              <a:rPr lang="en-US" sz="1100" i="1" dirty="0">
                <a:solidFill>
                  <a:srgbClr val="94A3B8"/>
                </a:solidFill>
              </a:rPr>
              <a:t>All four sit in TRAINING_LOG §51 with cost / risk / expected-gain estimates. None fit a one-term project budget; each is a credible follow-on.</a:t>
            </a:r>
            <a:endParaRPr lang="en-US" sz="110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56032"/>
            <a:ext cx="3200400" cy="201168"/>
          </a:xfrm>
          <a:prstGeom prst="rect">
            <a:avLst/>
          </a:prstGeom>
          <a:noFill/>
          <a:ln/>
        </p:spPr>
        <p:txBody>
          <a:bodyPr wrap="square" lIns="0" tIns="0" rIns="0" bIns="0" rtlCol="0" anchor="ctr"/>
          <a:lstStyle/>
          <a:p>
            <a:pPr indent="0" marL="0">
              <a:buNone/>
            </a:pPr>
            <a:r>
              <a:rPr lang="en-US" sz="800" b="1" spc="120" kern="0" dirty="0">
                <a:solidFill>
                  <a:srgbClr val="22D3EE"/>
                </a:solidFill>
              </a:rPr>
              <a:t>CONCLUSION</a:t>
            </a:r>
            <a:endParaRPr lang="en-US" sz="800" dirty="0"/>
          </a:p>
        </p:txBody>
      </p:sp>
      <p:sp>
        <p:nvSpPr>
          <p:cNvPr id="3" name="Text 1"/>
          <p:cNvSpPr/>
          <p:nvPr/>
        </p:nvSpPr>
        <p:spPr>
          <a:xfrm>
            <a:off x="502920" y="530352"/>
            <a:ext cx="10881360" cy="411480"/>
          </a:xfrm>
          <a:prstGeom prst="rect">
            <a:avLst/>
          </a:prstGeom>
          <a:noFill/>
          <a:ln/>
        </p:spPr>
        <p:txBody>
          <a:bodyPr wrap="square" lIns="0" tIns="0" rIns="0" bIns="0" rtlCol="0" anchor="ctr"/>
          <a:lstStyle/>
          <a:p>
            <a:pPr indent="0" marL="0">
              <a:buNone/>
            </a:pPr>
            <a:r>
              <a:rPr lang="en-US" sz="2400" b="1" dirty="0">
                <a:solidFill>
                  <a:srgbClr val="E5E7EB"/>
                </a:solidFill>
              </a:rPr>
              <a:t>Final takeaway</a:t>
            </a:r>
            <a:endParaRPr lang="en-US" sz="2400" dirty="0"/>
          </a:p>
        </p:txBody>
      </p:sp>
      <p:sp>
        <p:nvSpPr>
          <p:cNvPr id="4" name="Shape 2"/>
          <p:cNvSpPr/>
          <p:nvPr/>
        </p:nvSpPr>
        <p:spPr>
          <a:xfrm>
            <a:off x="502920" y="1051560"/>
            <a:ext cx="11155680" cy="0"/>
          </a:xfrm>
          <a:prstGeom prst="line">
            <a:avLst/>
          </a:prstGeom>
          <a:noFill/>
          <a:ln w="12700">
            <a:solidFill>
              <a:srgbClr val="334155"/>
            </a:solidFill>
            <a:prstDash val="solid"/>
          </a:ln>
        </p:spPr>
      </p:sp>
      <p:sp>
        <p:nvSpPr>
          <p:cNvPr id="5" name="Shape 3"/>
          <p:cNvSpPr/>
          <p:nvPr/>
        </p:nvSpPr>
        <p:spPr>
          <a:xfrm>
            <a:off x="868680" y="1280160"/>
            <a:ext cx="10469880" cy="4160520"/>
          </a:xfrm>
          <a:prstGeom prst="roundRect">
            <a:avLst>
              <a:gd name="adj" fmla="val 1758"/>
            </a:avLst>
          </a:prstGeom>
          <a:solidFill>
            <a:srgbClr val="0F172A"/>
          </a:solidFill>
          <a:ln w="12700">
            <a:solidFill>
              <a:srgbClr val="34D399">
                <a:alpha val="85000"/>
              </a:srgbClr>
            </a:solidFill>
            <a:prstDash val="solid"/>
          </a:ln>
        </p:spPr>
      </p:sp>
      <p:sp>
        <p:nvSpPr>
          <p:cNvPr id="6" name="Text 4"/>
          <p:cNvSpPr/>
          <p:nvPr/>
        </p:nvSpPr>
        <p:spPr>
          <a:xfrm>
            <a:off x="1234440" y="1691640"/>
            <a:ext cx="9692640" cy="868680"/>
          </a:xfrm>
          <a:prstGeom prst="rect">
            <a:avLst/>
          </a:prstGeom>
          <a:noFill/>
          <a:ln/>
        </p:spPr>
        <p:txBody>
          <a:bodyPr wrap="square" lIns="0" tIns="0" rIns="0" bIns="0" rtlCol="0" anchor="ctr">
            <a:normAutofit/>
          </a:bodyPr>
          <a:lstStyle/>
          <a:p>
            <a:pPr algn="ctr" indent="0" marL="0">
              <a:buNone/>
            </a:pPr>
            <a:r>
              <a:rPr lang="en-US" sz="2100" b="1" dirty="0">
                <a:solidFill>
                  <a:srgbClr val="FFFFFF"/>
                </a:solidFill>
              </a:rPr>
              <a:t>Mobile UI control is solvable with a 2B-class VLM when framed as accessibility-native element selection — but live multi-step deployment is a separate problem.</a:t>
            </a:r>
            <a:endParaRPr lang="en-US" sz="2100" dirty="0"/>
          </a:p>
        </p:txBody>
      </p:sp>
      <p:sp>
        <p:nvSpPr>
          <p:cNvPr id="7" name="Text 5"/>
          <p:cNvSpPr/>
          <p:nvPr/>
        </p:nvSpPr>
        <p:spPr>
          <a:xfrm>
            <a:off x="2057400" y="2743200"/>
            <a:ext cx="8046720" cy="292608"/>
          </a:xfrm>
          <a:prstGeom prst="rect">
            <a:avLst/>
          </a:prstGeom>
          <a:noFill/>
          <a:ln/>
        </p:spPr>
        <p:txBody>
          <a:bodyPr wrap="square" lIns="0" tIns="0" rIns="0" bIns="0" rtlCol="0" anchor="ctr"/>
          <a:lstStyle/>
          <a:p>
            <a:pPr algn="ctr" indent="0" marL="0">
              <a:buNone/>
            </a:pPr>
            <a:r>
              <a:rPr lang="en-US" sz="1500" b="1" dirty="0">
                <a:solidFill>
                  <a:srgbClr val="22D3EE"/>
                </a:solidFill>
              </a:rPr>
              <a:t>Best recipe: Path W + CAP-style schema + one-step history</a:t>
            </a:r>
            <a:endParaRPr lang="en-US" sz="1500" dirty="0"/>
          </a:p>
        </p:txBody>
      </p:sp>
      <p:sp>
        <p:nvSpPr>
          <p:cNvPr id="8" name="Shape 6"/>
          <p:cNvSpPr/>
          <p:nvPr/>
        </p:nvSpPr>
        <p:spPr>
          <a:xfrm>
            <a:off x="1234440" y="3246120"/>
            <a:ext cx="4572000" cy="1691640"/>
          </a:xfrm>
          <a:prstGeom prst="roundRect">
            <a:avLst>
              <a:gd name="adj" fmla="val 4324"/>
            </a:avLst>
          </a:prstGeom>
          <a:solidFill>
            <a:srgbClr val="111827"/>
          </a:solidFill>
          <a:ln w="12700">
            <a:solidFill>
              <a:srgbClr val="34D399">
                <a:alpha val="85000"/>
              </a:srgbClr>
            </a:solidFill>
            <a:prstDash val="solid"/>
          </a:ln>
        </p:spPr>
      </p:sp>
      <p:sp>
        <p:nvSpPr>
          <p:cNvPr id="9" name="Text 7"/>
          <p:cNvSpPr/>
          <p:nvPr/>
        </p:nvSpPr>
        <p:spPr>
          <a:xfrm>
            <a:off x="1280160" y="3383280"/>
            <a:ext cx="4480560" cy="438912"/>
          </a:xfrm>
          <a:prstGeom prst="rect">
            <a:avLst/>
          </a:prstGeom>
          <a:noFill/>
          <a:ln/>
        </p:spPr>
        <p:txBody>
          <a:bodyPr wrap="square" lIns="0" tIns="0" rIns="0" bIns="0" rtlCol="0" anchor="ctr"/>
          <a:lstStyle/>
          <a:p>
            <a:pPr algn="ctr" indent="0" marL="0">
              <a:buNone/>
            </a:pPr>
            <a:r>
              <a:rPr lang="en-US" sz="3000" b="1" dirty="0">
                <a:solidFill>
                  <a:srgbClr val="34D399"/>
                </a:solidFill>
              </a:rPr>
              <a:t>0.5311</a:t>
            </a:r>
            <a:endParaRPr lang="en-US" sz="3000" dirty="0"/>
          </a:p>
        </p:txBody>
      </p:sp>
      <p:sp>
        <p:nvSpPr>
          <p:cNvPr id="10" name="Text 8"/>
          <p:cNvSpPr/>
          <p:nvPr/>
        </p:nvSpPr>
        <p:spPr>
          <a:xfrm>
            <a:off x="1280160" y="3886200"/>
            <a:ext cx="4480560" cy="320040"/>
          </a:xfrm>
          <a:prstGeom prst="rect">
            <a:avLst/>
          </a:prstGeom>
          <a:noFill/>
          <a:ln/>
        </p:spPr>
        <p:txBody>
          <a:bodyPr wrap="square" lIns="0" tIns="0" rIns="0" bIns="0" rtlCol="0" anchor="ctr"/>
          <a:lstStyle/>
          <a:p>
            <a:pPr algn="ctr" indent="0" marL="0">
              <a:buNone/>
            </a:pPr>
            <a:r>
              <a:rPr lang="en-US" sz="950" dirty="0">
                <a:solidFill>
                  <a:srgbClr val="94A3B8"/>
                </a:solidFill>
              </a:rPr>
              <a:t>AndroidControl element-acc (Run L)</a:t>
            </a:r>
            <a:endParaRPr lang="en-US" sz="950" dirty="0"/>
          </a:p>
        </p:txBody>
      </p:sp>
      <p:sp>
        <p:nvSpPr>
          <p:cNvPr id="11" name="Text 9"/>
          <p:cNvSpPr/>
          <p:nvPr/>
        </p:nvSpPr>
        <p:spPr>
          <a:xfrm>
            <a:off x="1280160" y="4434840"/>
            <a:ext cx="4480560" cy="365760"/>
          </a:xfrm>
          <a:prstGeom prst="rect">
            <a:avLst/>
          </a:prstGeom>
          <a:noFill/>
          <a:ln/>
        </p:spPr>
        <p:txBody>
          <a:bodyPr wrap="square" lIns="0" tIns="0" rIns="0" bIns="0" rtlCol="0" anchor="ctr"/>
          <a:lstStyle/>
          <a:p>
            <a:pPr algn="ctr" indent="0" marL="0">
              <a:buNone/>
            </a:pPr>
            <a:r>
              <a:rPr lang="en-US" sz="1050" i="1" dirty="0">
                <a:solidFill>
                  <a:srgbClr val="94A3B8"/>
                </a:solidFill>
              </a:rPr>
              <a:t>+13.76 pp · +35 % vs zero-shot 0.3935 · 8,217-row test</a:t>
            </a:r>
            <a:endParaRPr lang="en-US" sz="1050" dirty="0"/>
          </a:p>
        </p:txBody>
      </p:sp>
      <p:sp>
        <p:nvSpPr>
          <p:cNvPr id="12" name="Shape 10"/>
          <p:cNvSpPr/>
          <p:nvPr/>
        </p:nvSpPr>
        <p:spPr>
          <a:xfrm>
            <a:off x="6355080" y="3246120"/>
            <a:ext cx="4572000" cy="1691640"/>
          </a:xfrm>
          <a:prstGeom prst="roundRect">
            <a:avLst>
              <a:gd name="adj" fmla="val 4324"/>
            </a:avLst>
          </a:prstGeom>
          <a:solidFill>
            <a:srgbClr val="111827"/>
          </a:solidFill>
          <a:ln w="12700">
            <a:solidFill>
              <a:srgbClr val="A78BFA">
                <a:alpha val="85000"/>
              </a:srgbClr>
            </a:solidFill>
            <a:prstDash val="solid"/>
          </a:ln>
        </p:spPr>
      </p:sp>
      <p:sp>
        <p:nvSpPr>
          <p:cNvPr id="13" name="Text 11"/>
          <p:cNvSpPr/>
          <p:nvPr/>
        </p:nvSpPr>
        <p:spPr>
          <a:xfrm>
            <a:off x="6400800" y="3383280"/>
            <a:ext cx="4480560" cy="438912"/>
          </a:xfrm>
          <a:prstGeom prst="rect">
            <a:avLst/>
          </a:prstGeom>
          <a:noFill/>
          <a:ln/>
        </p:spPr>
        <p:txBody>
          <a:bodyPr wrap="square" lIns="0" tIns="0" rIns="0" bIns="0" rtlCol="0" anchor="ctr"/>
          <a:lstStyle/>
          <a:p>
            <a:pPr algn="ctr" indent="0" marL="0">
              <a:buNone/>
            </a:pPr>
            <a:r>
              <a:rPr lang="en-US" sz="3000" b="1" dirty="0">
                <a:solidFill>
                  <a:srgbClr val="A78BFA"/>
                </a:solidFill>
              </a:rPr>
              <a:t>8.70 %</a:t>
            </a:r>
            <a:endParaRPr lang="en-US" sz="3000" dirty="0"/>
          </a:p>
        </p:txBody>
      </p:sp>
      <p:sp>
        <p:nvSpPr>
          <p:cNvPr id="14" name="Text 12"/>
          <p:cNvSpPr/>
          <p:nvPr/>
        </p:nvSpPr>
        <p:spPr>
          <a:xfrm>
            <a:off x="6400800" y="3886200"/>
            <a:ext cx="4480560" cy="320040"/>
          </a:xfrm>
          <a:prstGeom prst="rect">
            <a:avLst/>
          </a:prstGeom>
          <a:noFill/>
          <a:ln/>
        </p:spPr>
        <p:txBody>
          <a:bodyPr wrap="square" lIns="0" tIns="0" rIns="0" bIns="0" rtlCol="0" anchor="ctr"/>
          <a:lstStyle/>
          <a:p>
            <a:pPr algn="ctr" indent="0" marL="0">
              <a:buNone/>
            </a:pPr>
            <a:r>
              <a:rPr lang="en-US" sz="950" dirty="0">
                <a:solidFill>
                  <a:srgbClr val="94A3B8"/>
                </a:solidFill>
              </a:rPr>
              <a:t>AndroidWorld AW-116 SR (r62)</a:t>
            </a:r>
            <a:endParaRPr lang="en-US" sz="950" dirty="0"/>
          </a:p>
        </p:txBody>
      </p:sp>
      <p:sp>
        <p:nvSpPr>
          <p:cNvPr id="15" name="Text 13"/>
          <p:cNvSpPr/>
          <p:nvPr/>
        </p:nvSpPr>
        <p:spPr>
          <a:xfrm>
            <a:off x="6400800" y="4434840"/>
            <a:ext cx="4480560" cy="365760"/>
          </a:xfrm>
          <a:prstGeom prst="rect">
            <a:avLst/>
          </a:prstGeom>
          <a:noFill/>
          <a:ln/>
        </p:spPr>
        <p:txBody>
          <a:bodyPr wrap="square" lIns="0" tIns="0" rIns="0" bIns="0" rtlCol="0" anchor="ctr"/>
          <a:lstStyle/>
          <a:p>
            <a:pPr algn="ctr" indent="0" marL="0">
              <a:buNone/>
            </a:pPr>
            <a:r>
              <a:rPr lang="en-US" sz="1050" i="1" dirty="0">
                <a:solidFill>
                  <a:srgbClr val="94A3B8"/>
                </a:solidFill>
              </a:rPr>
              <a:t>10/115 attempted · M3A harness · vs 0/82 baseline floor</a:t>
            </a:r>
            <a:endParaRPr lang="en-US" sz="1050" dirty="0"/>
          </a:p>
        </p:txBody>
      </p:sp>
      <p:sp>
        <p:nvSpPr>
          <p:cNvPr id="16" name="Text 14"/>
          <p:cNvSpPr/>
          <p:nvPr/>
        </p:nvSpPr>
        <p:spPr>
          <a:xfrm>
            <a:off x="1280160" y="5532120"/>
            <a:ext cx="9692640" cy="777240"/>
          </a:xfrm>
          <a:prstGeom prst="rect">
            <a:avLst/>
          </a:prstGeom>
          <a:noFill/>
          <a:ln/>
        </p:spPr>
        <p:txBody>
          <a:bodyPr wrap="square" lIns="0" tIns="0" rIns="0" bIns="0" rtlCol="0" anchor="ctr"/>
          <a:lstStyle/>
          <a:p>
            <a:pPr algn="ctr" indent="0" marL="0">
              <a:buNone/>
            </a:pPr>
            <a:r>
              <a:rPr lang="en-US" sz="1200" i="1" dirty="0">
                <a:solidFill>
                  <a:srgbClr val="94A3B8"/>
                </a:solidFill>
              </a:rPr>
              <a:t>AC core is the headline; AW exploration is honest depth. Bridging the gap needs trajectory-level training and harness-aware scaffolding — both flagged in §51 as the natural next steps.</a:t>
            </a:r>
            <a:endParaRPr lang="en-US" sz="1200" dirty="0"/>
          </a:p>
        </p:txBody>
      </p:sp>
      <p:sp>
        <p:nvSpPr>
          <p:cNvPr id="25" name="Slide Number Placeholder 0"/>
          <p:cNvSpPr>
            <a:spLocks noGrp="1"/>
          </p:cNvSpPr>
          <p:nvPr>
            <p:ph type="sldNum" sz="quarter" idx="4294967295"/>
          </p:nvPr>
        </p:nvSpPr>
        <p:spPr>
          <a:xfrm>
            <a:off x="1129284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CS5661 Final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Android UI Control with Gemma 4 E2B</dc:title>
  <dc:subject>AndroidControl SFT for Mobile UI Agents</dc:subject>
  <dc:creator>Sanskar / Hermes Agent</dc:creator>
  <cp:lastModifiedBy>Sanskar / Hermes Agent</cp:lastModifiedBy>
  <cp:revision>1</cp:revision>
  <dcterms:created xsi:type="dcterms:W3CDTF">2026-05-05T22:25:47Z</dcterms:created>
  <dcterms:modified xsi:type="dcterms:W3CDTF">2026-05-05T22:25:47Z</dcterms:modified>
</cp:coreProperties>
</file>