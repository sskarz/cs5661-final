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 loss (full-sequence)</c:v>
                </c:pt>
              </c:strCache>
            </c:strRef>
          </c:tx>
          <c:spPr>
            <a:ln w="38100" cap="flat">
              <a:solidFill>
                <a:srgbClr val="8E44A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E44AD"/>
              </a:solidFill>
              <a:ln w="9525" cap="flat">
                <a:solidFill>
                  <a:srgbClr val="8E44AD"/>
                </a:solidFill>
                <a:prstDash val="solid"/>
                <a:round/>
              </a:ln>
              <a:effectLst/>
            </c:spPr>
          </c:marker>
          <c:cat>
            <c:strRef>
              <c:f>Sheet1!$A$2:$A$41</c:f>
              <c:strCache>
                <c:ptCount val="40"/>
                <c:pt idx="0">
                  <c:v>10</c:v>
                </c:pt>
                <c:pt idx="1">
                  <c:v>520</c:v>
                </c:pt>
                <c:pt idx="2">
                  <c:v>1029</c:v>
                </c:pt>
                <c:pt idx="3">
                  <c:v>1539</c:v>
                </c:pt>
                <c:pt idx="4">
                  <c:v>2049</c:v>
                </c:pt>
                <c:pt idx="5">
                  <c:v>2558</c:v>
                </c:pt>
                <c:pt idx="6">
                  <c:v>3068</c:v>
                </c:pt>
                <c:pt idx="7">
                  <c:v>3577</c:v>
                </c:pt>
                <c:pt idx="8">
                  <c:v>4087</c:v>
                </c:pt>
                <c:pt idx="9">
                  <c:v>4597</c:v>
                </c:pt>
                <c:pt idx="10">
                  <c:v>5106</c:v>
                </c:pt>
                <c:pt idx="11">
                  <c:v>5616</c:v>
                </c:pt>
                <c:pt idx="12">
                  <c:v>6126</c:v>
                </c:pt>
                <c:pt idx="13">
                  <c:v>6635</c:v>
                </c:pt>
                <c:pt idx="14">
                  <c:v>7145</c:v>
                </c:pt>
                <c:pt idx="15">
                  <c:v>7655</c:v>
                </c:pt>
                <c:pt idx="16">
                  <c:v>8164</c:v>
                </c:pt>
                <c:pt idx="17">
                  <c:v>8674</c:v>
                </c:pt>
                <c:pt idx="18">
                  <c:v>9184</c:v>
                </c:pt>
                <c:pt idx="19">
                  <c:v>9693</c:v>
                </c:pt>
                <c:pt idx="20">
                  <c:v>10203</c:v>
                </c:pt>
                <c:pt idx="21">
                  <c:v>10712</c:v>
                </c:pt>
                <c:pt idx="22">
                  <c:v>11222</c:v>
                </c:pt>
                <c:pt idx="23">
                  <c:v>11732</c:v>
                </c:pt>
                <c:pt idx="24">
                  <c:v>12241</c:v>
                </c:pt>
                <c:pt idx="25">
                  <c:v>12751</c:v>
                </c:pt>
                <c:pt idx="26">
                  <c:v>13261</c:v>
                </c:pt>
                <c:pt idx="27">
                  <c:v>13770</c:v>
                </c:pt>
                <c:pt idx="28">
                  <c:v>14280</c:v>
                </c:pt>
                <c:pt idx="29">
                  <c:v>14790</c:v>
                </c:pt>
                <c:pt idx="30">
                  <c:v>15299</c:v>
                </c:pt>
                <c:pt idx="31">
                  <c:v>15809</c:v>
                </c:pt>
                <c:pt idx="32">
                  <c:v>16319</c:v>
                </c:pt>
                <c:pt idx="33">
                  <c:v>16828</c:v>
                </c:pt>
                <c:pt idx="34">
                  <c:v>17338</c:v>
                </c:pt>
                <c:pt idx="35">
                  <c:v>17847</c:v>
                </c:pt>
                <c:pt idx="36">
                  <c:v>18357</c:v>
                </c:pt>
                <c:pt idx="37">
                  <c:v>18867</c:v>
                </c:pt>
                <c:pt idx="38">
                  <c:v>19376</c:v>
                </c:pt>
                <c:pt idx="39">
                  <c:v>19886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10.24</c:v>
                </c:pt>
                <c:pt idx="1">
                  <c:v>9.84</c:v>
                </c:pt>
                <c:pt idx="2">
                  <c:v>9.4469999999999992</c:v>
                </c:pt>
                <c:pt idx="3">
                  <c:v>9.06</c:v>
                </c:pt>
                <c:pt idx="4">
                  <c:v>8.6790000000000003</c:v>
                </c:pt>
                <c:pt idx="5">
                  <c:v>8.3049999999999997</c:v>
                </c:pt>
                <c:pt idx="6">
                  <c:v>7.9370000000000003</c:v>
                </c:pt>
                <c:pt idx="7">
                  <c:v>7.5759999999999996</c:v>
                </c:pt>
                <c:pt idx="8">
                  <c:v>7.2210000000000001</c:v>
                </c:pt>
                <c:pt idx="9">
                  <c:v>6.8739999999999997</c:v>
                </c:pt>
                <c:pt idx="10">
                  <c:v>6.5330000000000004</c:v>
                </c:pt>
                <c:pt idx="11">
                  <c:v>6.1989999999999998</c:v>
                </c:pt>
                <c:pt idx="12">
                  <c:v>5.8719999999999999</c:v>
                </c:pt>
                <c:pt idx="13">
                  <c:v>5.5529999999999999</c:v>
                </c:pt>
                <c:pt idx="14">
                  <c:v>5.2409999999999997</c:v>
                </c:pt>
                <c:pt idx="15">
                  <c:v>4.9359999999999999</c:v>
                </c:pt>
                <c:pt idx="16">
                  <c:v>4.6390000000000002</c:v>
                </c:pt>
                <c:pt idx="17">
                  <c:v>4.3490000000000002</c:v>
                </c:pt>
                <c:pt idx="18">
                  <c:v>4.0670000000000002</c:v>
                </c:pt>
                <c:pt idx="19">
                  <c:v>3.7930000000000001</c:v>
                </c:pt>
                <c:pt idx="20">
                  <c:v>3.528</c:v>
                </c:pt>
                <c:pt idx="21">
                  <c:v>3.27</c:v>
                </c:pt>
                <c:pt idx="22">
                  <c:v>3.0209999999999999</c:v>
                </c:pt>
                <c:pt idx="23">
                  <c:v>2.78</c:v>
                </c:pt>
                <c:pt idx="24">
                  <c:v>2.5489999999999999</c:v>
                </c:pt>
                <c:pt idx="25">
                  <c:v>2.3260000000000001</c:v>
                </c:pt>
                <c:pt idx="26">
                  <c:v>2.113</c:v>
                </c:pt>
                <c:pt idx="27">
                  <c:v>1.91</c:v>
                </c:pt>
                <c:pt idx="28">
                  <c:v>1.716</c:v>
                </c:pt>
                <c:pt idx="29">
                  <c:v>1.5329999999999999</c:v>
                </c:pt>
                <c:pt idx="30">
                  <c:v>1.36</c:v>
                </c:pt>
                <c:pt idx="31">
                  <c:v>1.1990000000000001</c:v>
                </c:pt>
                <c:pt idx="32">
                  <c:v>1.0489999999999999</c:v>
                </c:pt>
                <c:pt idx="33">
                  <c:v>0.91100000000000003</c:v>
                </c:pt>
                <c:pt idx="34">
                  <c:v>0.78700000000000003</c:v>
                </c:pt>
                <c:pt idx="35">
                  <c:v>0.67700000000000005</c:v>
                </c:pt>
                <c:pt idx="36">
                  <c:v>0.58199999999999996</c:v>
                </c:pt>
                <c:pt idx="37">
                  <c:v>0.505</c:v>
                </c:pt>
                <c:pt idx="38">
                  <c:v>0.44800000000000001</c:v>
                </c:pt>
                <c:pt idx="39">
                  <c:v>0.42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A92-7A4E-9AF9-62A4604E55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6368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5F6368"/>
                    </a:solidFill>
                    <a:latin typeface="Arial"/>
                  </a:rPr>
                  <a:t>training step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F63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8"/>
        <c:noMultiLvlLbl val="1"/>
      </c:catAx>
      <c:valAx>
        <c:axId val="2094734552"/>
        <c:scaling>
          <c:orientation val="minMax"/>
          <c:max val="11"/>
          <c:min val="0"/>
        </c:scaling>
        <c:delete val="0"/>
        <c:axPos val="l"/>
        <c:majorGridlines>
          <c:spPr>
            <a:ln w="6350" cap="flat">
              <a:solidFill>
                <a:srgbClr val="DADC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6368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5F6368"/>
                    </a:solidFill>
                    <a:latin typeface="Arial"/>
                  </a:rPr>
                  <a:t>CE loss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3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K</c:v>
                </c:pt>
              </c:strCache>
            </c:strRef>
          </c:tx>
          <c:spPr>
            <a:solidFill>
              <a:srgbClr val="9AA0A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21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Scroll accuracy</c:v>
                </c:pt>
                <c:pt idx="1">
                  <c:v>Overall element-acc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21.5</c:v>
                </c:pt>
                <c:pt idx="1">
                  <c:v>52.3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29-1B4E-89F4-A1C2037555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Run L</c:v>
                </c:pt>
              </c:strCache>
            </c:strRef>
          </c:tx>
          <c:spPr>
            <a:solidFill>
              <a:srgbClr val="34A853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21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Scroll accuracy</c:v>
                </c:pt>
                <c:pt idx="1">
                  <c:v>Overall element-acc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39.799999999999997</c:v>
                </c:pt>
                <c:pt idx="1">
                  <c:v>53.1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829-1B4E-89F4-A1C2037555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021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AD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3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36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Element-accuracy</c:v>
                </c:pt>
              </c:strCache>
            </c:strRef>
          </c:tx>
          <c:spPr>
            <a:solidFill>
              <a:srgbClr val="34A853">
                <a:alpha val="75000"/>
              </a:srgbClr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021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Zero-shot</c:v>
                </c:pt>
                <c:pt idx="1">
                  <c:v>Run I: Path W SFT</c:v>
                </c:pt>
                <c:pt idx="2">
                  <c:v>Run J: + Cui</c:v>
                </c:pt>
                <c:pt idx="3">
                  <c:v>Run K: + CAP</c:v>
                </c:pt>
                <c:pt idx="4">
                  <c:v>Run L: + history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0.39350000000000002</c:v>
                </c:pt>
                <c:pt idx="1">
                  <c:v>0.49299999999999999</c:v>
                </c:pt>
                <c:pt idx="2">
                  <c:v>0.47849999999999998</c:v>
                </c:pt>
                <c:pt idx="3">
                  <c:v>0.52349999999999997</c:v>
                </c:pt>
                <c:pt idx="4">
                  <c:v>0.53110000000000002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C3-A646-B355-05835CCFE7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021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"/>
          <c:min val="0.3"/>
        </c:scaling>
        <c:delete val="0"/>
        <c:axPos val="b"/>
        <c:majorGridlines>
          <c:spPr>
            <a:ln w="6350" cap="flat">
              <a:solidFill>
                <a:srgbClr val="DAD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3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rate (%)</c:v>
                </c:pt>
              </c:strCache>
            </c:strRef>
          </c:tx>
          <c:spPr>
            <a:solidFill>
              <a:srgbClr val="34A853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0212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M3A baseline (Gemma 4 E2B)</c:v>
                </c:pt>
                <c:pt idx="1">
                  <c:v>Run L LoRA (offline-SFT)</c:v>
                </c:pt>
                <c:pt idx="2">
                  <c:v>r48 genesis-text SFT</c:v>
                </c:pt>
                <c:pt idx="3">
                  <c:v>r52 genesis + vision-inf</c:v>
                </c:pt>
                <c:pt idx="4">
                  <c:v>r57b Qwen3.5-4B base</c:v>
                </c:pt>
                <c:pt idx="5">
                  <c:v>r62 Qwen3.5 + Genesis-vision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7.76</c:v>
                </c:pt>
                <c:pt idx="3">
                  <c:v>8.6199999999999992</c:v>
                </c:pt>
                <c:pt idx="4">
                  <c:v>6.9</c:v>
                </c:pt>
                <c:pt idx="5">
                  <c:v>8.6999999999999993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E-E442-A115-576BE3396F3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021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AD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3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884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chart" Target="../charts/char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18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206240" y="548640"/>
            <a:ext cx="1463040" cy="1463040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194560" cy="2194560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82880"/>
            <a:ext cx="457200" cy="457200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29184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49377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14400" y="49377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12801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17830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Android UI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with </a:t>
            </a:r>
            <a:r>
              <a:rPr lang="en-US" sz="40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5486400" y="3703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Master's AI final project — focused on the AndroidControl training phase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0" y="457200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486400" y="4572000"/>
            <a:ext cx="73152" cy="1554480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623560" y="47091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0.5311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623560" y="52852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ELEMENT-ACC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23560" y="5577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set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178040" y="457200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178040" y="4572000"/>
            <a:ext cx="73152" cy="155448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315200" y="47091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+13.76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315200" y="52852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LIFT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315200" y="5577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points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869680" y="457200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8869680" y="4572000"/>
            <a:ext cx="73152" cy="1554480"/>
          </a:xfrm>
          <a:prstGeom prst="rect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006840" y="47091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+35%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9006840" y="52852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GAIN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9006840" y="5577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zero-shot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561320" y="457200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0561320" y="4572000"/>
            <a:ext cx="73152" cy="1554480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10698480" y="47091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8,217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10698480" y="52852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ROWS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98480" y="5577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AndroidControl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0" y="6309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this deck covers the AndroidControl phase; the AndroidWorld side quest appears only as a closing transition.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UI agents need grounded actions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554480"/>
            <a:ext cx="2286000" cy="41148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9050">
            <a:solidFill>
              <a:srgbClr val="202124"/>
            </a:solidFill>
            <a:prstDash val="solid"/>
          </a:ln>
          <a:effectLst>
            <a:outerShdw blurRad="1524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40080" y="1600200"/>
            <a:ext cx="2286000" cy="228600"/>
          </a:xfrm>
          <a:prstGeom prst="rect">
            <a:avLst/>
          </a:prstGeom>
          <a:solidFill>
            <a:srgbClr val="E6F4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1600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   ●●●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777240" y="1920240"/>
            <a:ext cx="2011680" cy="411480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1920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242316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68680" y="2514600"/>
            <a:ext cx="274320" cy="274320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234440" y="2423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7240" y="2926080"/>
            <a:ext cx="2011680" cy="457200"/>
          </a:xfrm>
          <a:prstGeom prst="rect">
            <a:avLst/>
          </a:prstGeom>
          <a:solidFill>
            <a:srgbClr val="E6F4EA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868680" y="3017520"/>
            <a:ext cx="274320" cy="27432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234440" y="2926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77240" y="342900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68680" y="3520440"/>
            <a:ext cx="274320" cy="274320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1234440" y="3429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Charlie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240280" y="4892040"/>
            <a:ext cx="502920" cy="50292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  <a:effectLst>
            <a:outerShdw blurRad="508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2240280" y="4892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94360" y="1371600"/>
            <a:ext cx="2377440" cy="228600"/>
          </a:xfrm>
          <a:prstGeom prst="roundRect">
            <a:avLst>
              <a:gd name="adj" fmla="val 20000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94360" y="1371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 Alice as a contact”</a:t>
            </a:r>
            <a:endParaRPr lang="en-US" sz="1000" dirty="0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383280"/>
            <a:ext cx="365760" cy="36576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3657600" y="237744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  <a:effectLst>
            <a:outerShdw blurRad="101600" dist="254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8404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JSON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3886200" y="288036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"action": </a:t>
            </a:r>
            <a:r>
              <a:rPr lang="en-US" sz="120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"tap",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"element_id": </a:t>
            </a:r>
            <a:r>
              <a:rPr lang="en-US" sz="12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"args": 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{...}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6583680" y="1554480"/>
            <a:ext cx="51206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583680" y="1554480"/>
            <a:ext cx="91440" cy="2286000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2"/>
          <p:cNvSpPr/>
          <p:nvPr/>
        </p:nvSpPr>
        <p:spPr>
          <a:xfrm>
            <a:off x="6812280" y="1755648"/>
            <a:ext cx="384048" cy="384048"/>
          </a:xfrm>
          <a:prstGeom prst="ellipse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1819656"/>
            <a:ext cx="256032" cy="256032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7296912" y="1719072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6812280" y="2267712"/>
            <a:ext cx="4709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UI targets after vision downsampling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mixes grounding, planning, and text entry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labels are noisy — "near" is not always correct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screenshot often lacks temporal state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6583680" y="4023360"/>
            <a:ext cx="5120640" cy="2331720"/>
          </a:xfrm>
          <a:prstGeom prst="roundRect">
            <a:avLst>
              <a:gd name="adj" fmla="val 3922"/>
            </a:avLst>
          </a:prstGeom>
          <a:solidFill>
            <a:srgbClr val="E6F4EA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6"/>
          <p:cNvSpPr/>
          <p:nvPr/>
        </p:nvSpPr>
        <p:spPr>
          <a:xfrm>
            <a:off x="6812280" y="4206240"/>
            <a:ext cx="457200" cy="45720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4288536"/>
            <a:ext cx="292608" cy="292608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7360920" y="4206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6812280" y="475488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2B-class VLM be fine-tuned on AndroidControl to outperform its zero-shot policy — and which task formulation makes the learning signal usable?</a:t>
            </a:r>
            <a:endParaRPr lang="en-US" sz="1400" dirty="0"/>
          </a:p>
        </p:txBody>
      </p:sp>
      <p:sp>
        <p:nvSpPr>
          <p:cNvPr id="45" name="Text 39"/>
          <p:cNvSpPr/>
          <p:nvPr/>
        </p:nvSpPr>
        <p:spPr>
          <a:xfrm>
            <a:off x="6812280" y="5897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(preview): </a:t>
            </a: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when the target is element-native, not coordinate-native.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SETUP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AndroidControl → step-level supervised fine-tuning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237744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70432" y="1719072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preprocessing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" y="2267712"/>
            <a:ext cx="5074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AndroidControl; later GCS canonical splits for a11y trees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training row = one screenshot + one target action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instruction granularities: episode goal &amp; step instruction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split for checkpoint selection; test never touched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26480" y="1554480"/>
            <a:ext cx="55778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126480" y="1554480"/>
            <a:ext cx="91440" cy="23774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355080" y="1755648"/>
            <a:ext cx="384048" cy="38404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819656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9712" y="171907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stack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355080" y="2267712"/>
            <a:ext cx="5166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(2B effective parameters)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Unsloth + QLoRA (4-bit base, low-rank adapters)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RTX 4090 · 24 GB VRAM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sweep → best checkpoint per run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4114800"/>
            <a:ext cx="363717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57200" y="4114800"/>
            <a:ext cx="3637178" cy="73152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85800" y="4361688"/>
            <a:ext cx="502920" cy="50292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4462272"/>
            <a:ext cx="301752" cy="30175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325880" y="4279392"/>
            <a:ext cx="263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73K</a:t>
            </a:r>
            <a:endParaRPr lang="en-US" sz="2400" dirty="0"/>
          </a:p>
        </p:txBody>
      </p:sp>
      <p:sp>
        <p:nvSpPr>
          <p:cNvPr id="29" name="Text 23"/>
          <p:cNvSpPr/>
          <p:nvPr/>
        </p:nvSpPr>
        <p:spPr>
          <a:xfrm>
            <a:off x="1325880" y="4709160"/>
            <a:ext cx="26313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A11Y-NATIVE TRAIN ROWS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77258" y="4114800"/>
            <a:ext cx="363717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4277258" y="4114800"/>
            <a:ext cx="3637178" cy="73152"/>
          </a:xfrm>
          <a:prstGeom prst="rect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505858" y="4361688"/>
            <a:ext cx="502920" cy="502920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6442" y="4462272"/>
            <a:ext cx="301752" cy="30175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145938" y="4279392"/>
            <a:ext cx="263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686</a:t>
            </a:r>
            <a:endParaRPr lang="en-US" sz="2400" dirty="0"/>
          </a:p>
        </p:txBody>
      </p:sp>
      <p:sp>
        <p:nvSpPr>
          <p:cNvPr id="35" name="Text 28"/>
          <p:cNvSpPr/>
          <p:nvPr/>
        </p:nvSpPr>
        <p:spPr>
          <a:xfrm>
            <a:off x="5145938" y="4709160"/>
            <a:ext cx="26313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ROWS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8097317" y="4114800"/>
            <a:ext cx="363717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8097317" y="4114800"/>
            <a:ext cx="3637178" cy="73152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1"/>
          <p:cNvSpPr/>
          <p:nvPr/>
        </p:nvSpPr>
        <p:spPr>
          <a:xfrm>
            <a:off x="8325917" y="4361688"/>
            <a:ext cx="502920" cy="502920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501" y="4462272"/>
            <a:ext cx="301752" cy="301752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8965997" y="4279392"/>
            <a:ext cx="263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8,217</a:t>
            </a:r>
            <a:endParaRPr lang="en-US" sz="2400" dirty="0"/>
          </a:p>
        </p:txBody>
      </p:sp>
      <p:sp>
        <p:nvSpPr>
          <p:cNvPr id="41" name="Text 33"/>
          <p:cNvSpPr/>
          <p:nvPr/>
        </p:nvSpPr>
        <p:spPr>
          <a:xfrm>
            <a:off x="8965997" y="4709160"/>
            <a:ext cx="26313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TEST ROWS</a:t>
            </a:r>
            <a:endParaRPr lang="en-US" sz="900" dirty="0"/>
          </a:p>
        </p:txBody>
      </p:sp>
      <p:sp>
        <p:nvSpPr>
          <p:cNvPr id="42" name="Shape 34"/>
          <p:cNvSpPr/>
          <p:nvPr/>
        </p:nvSpPr>
        <p:spPr>
          <a:xfrm>
            <a:off x="457200" y="534924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5"/>
          <p:cNvSpPr/>
          <p:nvPr/>
        </p:nvSpPr>
        <p:spPr>
          <a:xfrm>
            <a:off x="457200" y="5349240"/>
            <a:ext cx="91440" cy="960120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6"/>
          <p:cNvSpPr/>
          <p:nvPr/>
        </p:nvSpPr>
        <p:spPr>
          <a:xfrm>
            <a:off x="685800" y="5596128"/>
            <a:ext cx="457200" cy="45720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5678424"/>
            <a:ext cx="292608" cy="29260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28016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profile  ·  Run A baseline SFT</a:t>
            </a:r>
            <a:endParaRPr lang="en-US" sz="1200" dirty="0"/>
          </a:p>
        </p:txBody>
      </p:sp>
      <p:sp>
        <p:nvSpPr>
          <p:cNvPr id="47" name="Text 38"/>
          <p:cNvSpPr/>
          <p:nvPr/>
        </p:nvSpPr>
        <p:spPr>
          <a:xfrm>
            <a:off x="1280160" y="5733288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19,886 steps  ·  1 epoch  ·  8 h 41 min wall  ·  5.08 samples/s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29.86 M trainable params (0.58% of 5.15 B base)  ·  QLoRA r=16 / α=16, all-linear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bf16  ·  4-bit base  ·  2 × 4 grad-accum  ·  ~9.9 / 24 GB VRAM  ·  119 MB adapter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dynamics — loss is monotone, the eval is the surprise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676656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4297680"/>
          </a:xfrm>
          <a:prstGeom prst="rect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70432" y="171907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loss curve  ·  full epoch (19,886 steps)</a:t>
            </a:r>
            <a:endParaRPr lang="en-US" sz="13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731520" y="2331720"/>
          <a:ext cx="621792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 13"/>
          <p:cNvSpPr/>
          <p:nvPr/>
        </p:nvSpPr>
        <p:spPr>
          <a:xfrm>
            <a:off x="731520" y="539496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10.24 → 0.42 over one epoch  ·  final 100-step rolling avg = 0.4214  ·  no NaN  ·  grad-norm steady at 0.8–1.6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406640" y="1554480"/>
            <a:ext cx="4297680" cy="4297680"/>
          </a:xfrm>
          <a:prstGeom prst="roundRect">
            <a:avLst>
              <a:gd name="adj" fmla="val 2128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680960" y="1755648"/>
            <a:ext cx="457200" cy="45720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3256" y="1837944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75320" y="17190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≠ reality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680960" y="2423160"/>
            <a:ext cx="3749040" cy="36576"/>
          </a:xfrm>
          <a:prstGeom prst="rect">
            <a:avLst/>
          </a:prstGeom>
          <a:solidFill>
            <a:srgbClr val="EA4335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7680960" y="25146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−5.6 pp</a:t>
            </a:r>
            <a:endParaRPr lang="en-US" sz="4400" dirty="0"/>
          </a:p>
        </p:txBody>
      </p:sp>
      <p:sp>
        <p:nvSpPr>
          <p:cNvPr id="25" name="Text 19"/>
          <p:cNvSpPr/>
          <p:nvPr/>
        </p:nvSpPr>
        <p:spPr>
          <a:xfrm>
            <a:off x="7680960" y="3337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eval full-match 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0.288 → 0.232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72400" y="384048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loss looked great: 0.42 final 100-step avg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eval regressed: 0.288 → 0.232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averaged over ~256 image patches + prompt + ~25 JSON tokens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Image-token CE is easy and dominated the headline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motivated Run B (assistant-only loss masking)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5989320"/>
            <a:ext cx="11277295" cy="365760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9525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2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loss  ·  bad eval — every later recipe in this deck answers this gap.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FRAME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formulation: predict tap coordinates from screenshots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3035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2103120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13232" y="1755648"/>
            <a:ext cx="384048" cy="384048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target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777240" y="2286000"/>
            <a:ext cx="4709160" cy="1234440"/>
          </a:xfrm>
          <a:prstGeom prst="roundRect">
            <a:avLst>
              <a:gd name="adj" fmla="val 4444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960120" y="23774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"action": </a:t>
            </a:r>
            <a:r>
              <a:rPr lang="en-US" sz="120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"tap",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"x": </a:t>
            </a:r>
            <a:r>
              <a:rPr lang="en-US" sz="12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0.293,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"y": </a:t>
            </a:r>
            <a:r>
              <a:rPr lang="en-US" sz="12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48640" y="3749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looks attractive: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tap is a normalized (x, y) pair — universal, simple, and easy to evaluate.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943600" y="1554480"/>
            <a:ext cx="5760720" cy="4572000"/>
          </a:xfrm>
          <a:prstGeom prst="roundRect">
            <a:avLst>
              <a:gd name="adj" fmla="val 2000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217920" y="1755648"/>
            <a:ext cx="457200" cy="45720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1837944"/>
            <a:ext cx="292608" cy="29260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12280" y="1691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loss is misaligned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30936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cross-entropy reward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309360" y="2788920"/>
            <a:ext cx="50292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6446520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"0.500" </a:t>
            </a:r>
            <a:r>
              <a:rPr lang="en-US" sz="1100" b="1" dirty="0">
                <a:solidFill>
                  <a:srgbClr val="EA43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≠ </a:t>
            </a:r>
            <a:r>
              <a:rPr lang="en-US" sz="11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"0.293" </a:t>
            </a:r>
            <a:r>
              <a:rPr lang="en-US" sz="1100" i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token strings — but their screen distance is small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6400800" y="342900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rewards string tokens, not screen distance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Tap-heavy data encourages shortcut learning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UI elements fall below effective vision resolution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coordinate "modes" emerge instead of pointing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309360" y="5532120"/>
            <a:ext cx="5029200" cy="457200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6400800" y="5532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model learns plausible-looking coordinates, not correct UI targets.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B–H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tried before the pivot — coordinate SFT was a dead end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7295" cy="365760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 w="1270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BASELINE  </a:t>
            </a:r>
            <a:r>
              <a:rPr lang="en-US" sz="11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0.288 full-match / tap-radius — the bar to clear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47120" cy="3200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C40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r=16 LoRA, assistant-only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A43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C40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r=64 / α=128, all-linear, full-seq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A43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LoRA worsened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D2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C40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lr, early-stop sweep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A43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peak; never crossed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C40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coord-aware Huber auxiliary loss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A43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mode collapse, not accuracy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C40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 &lt;loc&gt; tokens + class weights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A43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token embeddings did not converge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4A8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projector unlocked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BBC0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3C40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lift — still below 0.288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5532120"/>
            <a:ext cx="11277295" cy="777240"/>
          </a:xfrm>
          <a:prstGeom prst="roundRect">
            <a:avLst>
              <a:gd name="adj" fmla="val 11765"/>
            </a:avLst>
          </a:prstGeom>
          <a:solidFill>
            <a:srgbClr val="E6F4EA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85800" y="5696712"/>
            <a:ext cx="457200" cy="45720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577900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55321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narrowed the cause: </a:t>
            </a:r>
            <a:r>
              <a:rPr lang="en-US" sz="12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LoRA rank, not lr, not optimizer settings — the representation itself was wrong.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diagnosis — the model learned formats, not grounding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4297680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70432" y="171907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failure mode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" y="2267712"/>
            <a:ext cx="3246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parse rates: JSON format learned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types partially learned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coords collapsed to plausible screen modes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losses diversified coords, still missed targets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≠ grounding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297680" y="1554480"/>
            <a:ext cx="4023360" cy="4297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297680" y="1554480"/>
            <a:ext cx="91440" cy="4297680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526280" y="1755648"/>
            <a:ext cx="384048" cy="384048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1819656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10912" y="17190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Mode-collapse smoking gun  ·  Run B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26280" y="233172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</a:t>
            </a:r>
            <a:endParaRPr lang="en-US" sz="5600" dirty="0"/>
          </a:p>
        </p:txBody>
      </p:sp>
      <p:sp>
        <p:nvSpPr>
          <p:cNvPr id="24" name="Text 19"/>
          <p:cNvSpPr/>
          <p:nvPr/>
        </p:nvSpPr>
        <p:spPr>
          <a:xfrm>
            <a:off x="4526280" y="3337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Run B tap predictions  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on top-9 (x, y) modes </a:t>
            </a:r>
            <a:r>
              <a:rPr lang="en-US" sz="11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27 % top-15 in baseline)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0" y="4297680"/>
            <a:ext cx="3474720" cy="365760"/>
          </a:xfrm>
          <a:prstGeom prst="rect">
            <a:avLst/>
          </a:prstGeom>
          <a:solidFill>
            <a:srgbClr val="F1F3F4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4663440" y="4297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(0.500, 0.500)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217920" y="4297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center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7406640" y="42976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17.9%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4709160"/>
            <a:ext cx="3474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4663440" y="4709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(0.500, 0.250)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217920" y="4709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middle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74066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8.8%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5120640"/>
            <a:ext cx="3474720" cy="365760"/>
          </a:xfrm>
          <a:prstGeom prst="rect">
            <a:avLst/>
          </a:prstGeom>
          <a:solidFill>
            <a:srgbClr val="F1F3F4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4663440" y="5120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(0.050, 0.050)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621792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top-left corner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7406640" y="5120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4.9%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4572000" y="5440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canonical screen positions, not grounding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8503920" y="1554480"/>
            <a:ext cx="3200400" cy="42976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8503920" y="1554480"/>
            <a:ext cx="91440" cy="4297680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8732520" y="1755648"/>
            <a:ext cx="384048" cy="384048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28" y="1819656"/>
            <a:ext cx="256032" cy="256032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9217152" y="1719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projector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8732520" y="23317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6F4EA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/>
          <p:nvPr/>
        </p:nvSpPr>
        <p:spPr>
          <a:xfrm>
            <a:off x="8915400" y="23317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tower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10607040" y="2532888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0"/>
          <p:cNvSpPr/>
          <p:nvPr/>
        </p:nvSpPr>
        <p:spPr>
          <a:xfrm>
            <a:off x="10607040" y="25328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✓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8732520" y="32461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2"/>
          <p:cNvSpPr/>
          <p:nvPr/>
        </p:nvSpPr>
        <p:spPr>
          <a:xfrm>
            <a:off x="8915400" y="3246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Projector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10607040" y="3447288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4"/>
          <p:cNvSpPr/>
          <p:nvPr/>
        </p:nvSpPr>
        <p:spPr>
          <a:xfrm>
            <a:off x="10607040" y="34472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8732520" y="41605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6F4EA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6"/>
          <p:cNvSpPr/>
          <p:nvPr/>
        </p:nvSpPr>
        <p:spPr>
          <a:xfrm>
            <a:off x="8915400" y="4160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model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10607040" y="4361688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8"/>
          <p:cNvSpPr/>
          <p:nvPr/>
        </p:nvSpPr>
        <p:spPr>
          <a:xfrm>
            <a:off x="10607040" y="43616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✓</a:t>
            </a:r>
            <a:endParaRPr lang="en-US" sz="900" dirty="0"/>
          </a:p>
        </p:txBody>
      </p:sp>
      <p:pic>
        <p:nvPicPr>
          <p:cNvPr id="5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0" y="3063240"/>
            <a:ext cx="201168" cy="164592"/>
          </a:xfrm>
          <a:prstGeom prst="rect">
            <a:avLst/>
          </a:prstGeom>
        </p:spPr>
      </p:pic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0" y="3977640"/>
            <a:ext cx="201168" cy="164592"/>
          </a:xfrm>
          <a:prstGeom prst="rect">
            <a:avLst/>
          </a:prstGeom>
        </p:spPr>
      </p:pic>
      <p:sp>
        <p:nvSpPr>
          <p:cNvPr id="57" name="Shape 49"/>
          <p:cNvSpPr/>
          <p:nvPr/>
        </p:nvSpPr>
        <p:spPr>
          <a:xfrm>
            <a:off x="8732520" y="5212080"/>
            <a:ext cx="2743200" cy="502920"/>
          </a:xfrm>
          <a:prstGeom prst="rect">
            <a:avLst/>
          </a:prstGeom>
          <a:solidFill>
            <a:srgbClr val="FEF7E0"/>
          </a:solidFill>
          <a:ln w="635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/>
          <p:cNvSpPr/>
          <p:nvPr/>
        </p:nvSpPr>
        <p:spPr>
          <a:xfrm>
            <a:off x="8823960" y="5212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 </a:t>
            </a:r>
            <a:r>
              <a:rPr lang="en-US" sz="9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(unfrozen): </a:t>
            </a:r>
            <a:r>
              <a:rPr lang="en-US" sz="95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+6.5 pp</a:t>
            </a:r>
            <a:r>
              <a:rPr lang="en-US" sz="95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still &lt;0.288 baseline</a:t>
            </a:r>
            <a:endParaRPr lang="en-US" sz="950" dirty="0"/>
          </a:p>
        </p:txBody>
      </p:sp>
      <p:sp>
        <p:nvSpPr>
          <p:cNvPr id="59" name="Shape 51"/>
          <p:cNvSpPr/>
          <p:nvPr/>
        </p:nvSpPr>
        <p:spPr>
          <a:xfrm>
            <a:off x="457200" y="5989320"/>
            <a:ext cx="11277295" cy="365760"/>
          </a:xfrm>
          <a:prstGeom prst="roundRect">
            <a:avLst>
              <a:gd name="adj" fmla="val 12500"/>
            </a:avLst>
          </a:prstGeom>
          <a:solidFill>
            <a:srgbClr val="FCE8E6"/>
          </a:solidFill>
          <a:ln w="9525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2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 was load-bearing — but the coordinate framing was the deeper problem.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target an element, not a coordinate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48640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4434840"/>
          </a:xfrm>
          <a:prstGeom prst="rect">
            <a:avLst/>
          </a:prstGeom>
          <a:solidFill>
            <a:srgbClr val="5F63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373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17373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X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85800" y="2148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Set-of-Marks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 numbered marks on interactable elements; model predicts mark id.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2960" y="324612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1371600" y="3703320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37160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017520" y="3886200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301752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103120" y="4526280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2103120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114800" y="4617720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11480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029200" y="3611880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0292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85800" y="5349240"/>
            <a:ext cx="5029200" cy="457200"/>
          </a:xfrm>
          <a:prstGeom prst="roundRect">
            <a:avLst>
              <a:gd name="adj" fmla="val 12000"/>
            </a:avLst>
          </a:prstGeom>
          <a:solidFill>
            <a:srgbClr val="FCE8E6"/>
          </a:solidFill>
          <a:ln w="9525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2296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Zero-shot:  </a:t>
            </a:r>
            <a:r>
              <a:rPr lang="en-US" sz="11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0.130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2B VLM could not attend to marks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126480" y="1554480"/>
            <a:ext cx="5577840" cy="4434840"/>
          </a:xfrm>
          <a:prstGeom prst="roundRect">
            <a:avLst>
              <a:gd name="adj" fmla="val 2062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1270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6126480" y="1554480"/>
            <a:ext cx="91440" cy="4434840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6355080" y="173736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355080" y="17373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W ★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355080" y="2148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Accessibility-native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6355080" y="2606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contains a text legend of UI elements; model emits an element_id.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355080" y="32461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492240" y="33375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LEGEND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[7] Button "Send"  bbox=(...)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[8] TextField "Name"  bbox=(...)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35508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6355080" y="4709160"/>
            <a:ext cx="5120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492240" y="47091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200" dirty="0">
                <a:solidFill>
                  <a:srgbClr val="34A8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"action": </a:t>
            </a:r>
            <a:r>
              <a:rPr lang="en-US" sz="120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"tap"</a:t>
            </a:r>
            <a:r>
              <a:rPr lang="en-US" sz="120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200" dirty="0">
                <a:solidFill>
                  <a:srgbClr val="34A8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"element_id": </a:t>
            </a:r>
            <a:r>
              <a:rPr lang="en-US" sz="12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r>
              <a:rPr lang="en-US" sz="120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6355080" y="534924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649224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0.3935 </a:t>
            </a: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element-acc — instantly usable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57200" y="6053328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grounding via the accessibility tree converts hard coordinate regression into discrete element selection.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pivot — element-accuracy replaced tap-radius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4864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3291840"/>
          </a:xfrm>
          <a:prstGeom prst="rect">
            <a:avLst/>
          </a:prstGeom>
          <a:solidFill>
            <a:srgbClr val="5F6368"/>
          </a:solidFill>
          <a:ln w="1270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5F6368"/>
          </a:solidFill>
          <a:ln w="1270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70432" y="1719072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tap-radius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" y="2267712"/>
            <a:ext cx="50749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if projected bbox center is within radius 0.14 of GT point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backward comparison to coordinate work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Forgives wrong element when UI controls are clustered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wrong-but-near predictions look right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217920" y="1554480"/>
            <a:ext cx="54864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217920" y="1554480"/>
            <a:ext cx="91440" cy="3291840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46520" y="1755648"/>
            <a:ext cx="384048" cy="384048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1819656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31152" y="1719072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element-accuracy ★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446520" y="2267712"/>
            <a:ext cx="50749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iff predicted element_id == GT element_id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production: wrong element fires wrong handler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validation and headline results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Strict, but unambiguous and aligned with intent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5029200"/>
            <a:ext cx="11277295" cy="1280160"/>
          </a:xfrm>
          <a:prstGeom prst="roundRect">
            <a:avLst>
              <a:gd name="adj" fmla="val 7143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" y="5495544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17320" y="5166360"/>
            <a:ext cx="10180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predictions, different story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1417320" y="562356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tap-radius: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checkpoints peaked, then "declined" — looked like overfitting.   </a:t>
            </a:r>
            <a:r>
              <a:rPr lang="en-US" sz="1100" b="1" i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element-accuracy: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became monotonic through late checkpoints — actual learning.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chain — each change tested a specific hypothesis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691640"/>
            <a:ext cx="2716454" cy="1965960"/>
          </a:xfrm>
          <a:prstGeom prst="roundRect">
            <a:avLst>
              <a:gd name="adj" fmla="val 4651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691640"/>
            <a:ext cx="2716454" cy="109728"/>
          </a:xfrm>
          <a:prstGeom prst="rect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" y="1874520"/>
            <a:ext cx="24421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94360" y="2331720"/>
            <a:ext cx="2442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0.4930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594360" y="3017520"/>
            <a:ext cx="24421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W v1 SFT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226" y="2555748"/>
            <a:ext cx="128016" cy="22860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310814" y="1691640"/>
            <a:ext cx="2716454" cy="1965960"/>
          </a:xfrm>
          <a:prstGeom prst="roundRect">
            <a:avLst>
              <a:gd name="adj" fmla="val 4651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3310814" y="1691640"/>
            <a:ext cx="2716454" cy="109728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3447974" y="1874520"/>
            <a:ext cx="24421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J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3447974" y="2331720"/>
            <a:ext cx="2442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0.4785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3447974" y="3017520"/>
            <a:ext cx="24421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Cui class weighting</a:t>
            </a:r>
            <a:endParaRPr lang="en-US" sz="11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840" y="2555748"/>
            <a:ext cx="128016" cy="22860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164428" y="1691640"/>
            <a:ext cx="2716454" cy="1965960"/>
          </a:xfrm>
          <a:prstGeom prst="roundRect">
            <a:avLst>
              <a:gd name="adj" fmla="val 4651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164428" y="1691640"/>
            <a:ext cx="2716454" cy="109728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6301588" y="1874520"/>
            <a:ext cx="24421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6301588" y="2331720"/>
            <a:ext cx="2442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0.5235</a:t>
            </a:r>
            <a:endParaRPr lang="en-US" sz="3000" dirty="0"/>
          </a:p>
        </p:txBody>
      </p:sp>
      <p:sp>
        <p:nvSpPr>
          <p:cNvPr id="28" name="Text 23"/>
          <p:cNvSpPr/>
          <p:nvPr/>
        </p:nvSpPr>
        <p:spPr>
          <a:xfrm>
            <a:off x="6301588" y="3017520"/>
            <a:ext cx="24421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CAP action schema</a:t>
            </a:r>
            <a:endParaRPr lang="en-US" sz="11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5453" y="2555748"/>
            <a:ext cx="128016" cy="22860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18041" y="1691640"/>
            <a:ext cx="2716454" cy="1965960"/>
          </a:xfrm>
          <a:prstGeom prst="roundRect">
            <a:avLst>
              <a:gd name="adj" fmla="val 4651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9018041" y="1691640"/>
            <a:ext cx="2716454" cy="109728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9155201" y="1874520"/>
            <a:ext cx="24421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 ★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9155201" y="2331720"/>
            <a:ext cx="2442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0.5311</a:t>
            </a:r>
            <a:endParaRPr lang="en-US" sz="3000" dirty="0"/>
          </a:p>
        </p:txBody>
      </p:sp>
      <p:sp>
        <p:nvSpPr>
          <p:cNvPr id="34" name="Text 28"/>
          <p:cNvSpPr/>
          <p:nvPr/>
        </p:nvSpPr>
        <p:spPr>
          <a:xfrm>
            <a:off x="9155201" y="3017520"/>
            <a:ext cx="24421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+ 1-step history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457200" y="4343400"/>
            <a:ext cx="11277295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457200" y="4343400"/>
            <a:ext cx="73152" cy="411480"/>
          </a:xfrm>
          <a:prstGeom prst="rect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640080" y="43434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  </a:t>
            </a:r>
            <a:r>
              <a:rPr lang="en-US" sz="11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a11y-native SFT clears zero-shot.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457200" y="4846320"/>
            <a:ext cx="11277295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457200" y="4846320"/>
            <a:ext cx="73152" cy="411480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/>
          <p:nvPr/>
        </p:nvSpPr>
        <p:spPr>
          <a:xfrm>
            <a:off x="640080" y="4846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J  </a:t>
            </a:r>
            <a:r>
              <a:rPr lang="en-US" sz="11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loss reweighting was the wrong intervention.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457200" y="5349240"/>
            <a:ext cx="11277295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37"/>
          <p:cNvSpPr/>
          <p:nvPr/>
        </p:nvSpPr>
        <p:spPr>
          <a:xfrm>
            <a:off x="457200" y="5349240"/>
            <a:ext cx="73152" cy="411480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/>
          <p:nvPr/>
        </p:nvSpPr>
        <p:spPr>
          <a:xfrm>
            <a:off x="640080" y="53492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  </a:t>
            </a:r>
            <a:r>
              <a:rPr lang="en-US" sz="11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hierarchical CAP schema fixed open_app class collision.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457200" y="5852160"/>
            <a:ext cx="11277295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0"/>
          <p:cNvSpPr/>
          <p:nvPr/>
        </p:nvSpPr>
        <p:spPr>
          <a:xfrm>
            <a:off x="457200" y="5852160"/>
            <a:ext cx="73152" cy="411480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1"/>
          <p:cNvSpPr/>
          <p:nvPr/>
        </p:nvSpPr>
        <p:spPr>
          <a:xfrm>
            <a:off x="64008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  </a:t>
            </a:r>
            <a:r>
              <a:rPr lang="en-US" sz="11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prior-action context substantially repaired scroll-direction errors.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SCHEMA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 — hierarchical action schema fixed open_app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2120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3657600"/>
          </a:xfrm>
          <a:prstGeom prst="rect">
            <a:avLst/>
          </a:prstGeom>
          <a:solidFill>
            <a:srgbClr val="5F636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8580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v1 schema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233172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2960" y="24231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"action": </a:t>
            </a:r>
            <a:r>
              <a:rPr lang="en-US" sz="115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"open_app",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"app_name": </a:t>
            </a:r>
            <a:r>
              <a:rPr lang="en-US" sz="115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"Slack"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33832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22960" y="34747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"action": </a:t>
            </a:r>
            <a:r>
              <a:rPr lang="en-US" sz="115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"tap",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"element_id": </a:t>
            </a:r>
            <a:r>
              <a:rPr lang="en-US" sz="115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8580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open_app competes directly with dominant tap in one flat distribution.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43600" y="1554480"/>
            <a:ext cx="5760720" cy="3657600"/>
          </a:xfrm>
          <a:prstGeom prst="roundRect">
            <a:avLst>
              <a:gd name="adj" fmla="val 2500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1016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943600" y="1554480"/>
            <a:ext cx="91440" cy="3657600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172200" y="173736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CAP-style v2 schema  </a:t>
            </a:r>
            <a:r>
              <a:rPr lang="en-US" sz="14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72200" y="23317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309360" y="24231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"action_type": </a:t>
            </a:r>
            <a:r>
              <a:rPr lang="en-US" sz="110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"open_app",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"action_args": </a:t>
            </a:r>
            <a:r>
              <a:rPr lang="en-US" sz="11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"app_name": "Slack"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172200" y="338328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309360" y="3474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"action_type": </a:t>
            </a:r>
            <a:r>
              <a:rPr lang="en-US" sz="110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"tap",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"action_args": </a:t>
            </a:r>
            <a:r>
              <a:rPr lang="en-US" sz="11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"element_id": 7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172200" y="44348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first, then type-specific args — separates action selection from argument generation.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4406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77240" y="5623560"/>
            <a:ext cx="548640" cy="548640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724144"/>
            <a:ext cx="347472" cy="347472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463040" y="5486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+69.9 pp</a:t>
            </a:r>
            <a:endParaRPr lang="en-US" sz="3600" dirty="0"/>
          </a:p>
        </p:txBody>
      </p:sp>
      <p:sp>
        <p:nvSpPr>
          <p:cNvPr id="32" name="Text 28"/>
          <p:cNvSpPr/>
          <p:nvPr/>
        </p:nvSpPr>
        <p:spPr>
          <a:xfrm>
            <a:off x="4206240" y="5532120"/>
            <a:ext cx="7619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 accuracy 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 (~2%) → Run K (~72%) on full test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 — prior-action history repaired scroll direction errors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6692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3657600"/>
          </a:xfrm>
          <a:prstGeom prst="rect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70432" y="171907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input change: prior action prefix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" y="2331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ACTION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85800" y="263347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822960" y="272491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"action_type": </a:t>
            </a:r>
            <a:r>
              <a:rPr lang="en-US" sz="1100" dirty="0">
                <a:solidFill>
                  <a:srgbClr val="FBBC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"scroll",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"action_args": </a:t>
            </a:r>
            <a:r>
              <a:rPr lang="en-US" sz="11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"direction": "down"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3657600"/>
            <a:ext cx="274320" cy="20116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5800" y="3931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SCREEN + ELEMENT LEGEND  →  NEXT ACTION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85800" y="4434840"/>
            <a:ext cx="5212080" cy="640080"/>
          </a:xfrm>
          <a:prstGeom prst="rect">
            <a:avLst/>
          </a:prstGeom>
          <a:solidFill>
            <a:srgbClr val="F3E5F5"/>
          </a:solidFill>
          <a:ln w="9525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822960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Single-variable A/B vs Run K — same lr, rank, schema, val selection. Only the prior-action prefix changed.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309360" y="155448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309360" y="1554480"/>
            <a:ext cx="91440" cy="3657600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537960" y="1755648"/>
            <a:ext cx="384048" cy="384048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1819656"/>
            <a:ext cx="256032" cy="25603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22592" y="17190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accuracy lifted — overall edged up</a:t>
            </a:r>
            <a:endParaRPr lang="en-US" sz="130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6537960" y="2331720"/>
          <a:ext cx="493776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0" name="Text 23"/>
          <p:cNvSpPr/>
          <p:nvPr/>
        </p:nvSpPr>
        <p:spPr>
          <a:xfrm>
            <a:off x="676656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scroll: +18.3 pp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57200" y="54406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777240" y="5623560"/>
            <a:ext cx="548640" cy="548640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" y="5724144"/>
            <a:ext cx="347472" cy="34747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463040" y="544068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Surprise finding:  </a:t>
            </a: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did </a:t>
            </a:r>
            <a:r>
              <a:rPr lang="en-US" sz="1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solve </a:t>
            </a:r>
            <a:r>
              <a:rPr lang="en-US" sz="1200" i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(still ~0). It mainly fixed a systematic scroll-down → scroll-up convention flip.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AndroidControl result — Run L is the best methodology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303520" cy="4023360"/>
          </a:xfrm>
          <a:prstGeom prst="roundRect">
            <a:avLst>
              <a:gd name="adj" fmla="val 2727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  <a:effectLst>
            <a:outerShdw blurRad="1524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>
            <a:alphaModFix amt="25000"/>
          </a:blip>
          <a:stretch>
            <a:fillRect/>
          </a:stretch>
        </p:blipFill>
        <p:spPr>
          <a:xfrm>
            <a:off x="4206240" y="4023360"/>
            <a:ext cx="1280160" cy="12801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FULL-TEST ELEMENT-ACCURACY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22960" y="23317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0.5311</a:t>
            </a:r>
            <a:endParaRPr lang="en-US" sz="9600" dirty="0"/>
          </a:p>
        </p:txBody>
      </p:sp>
      <p:sp>
        <p:nvSpPr>
          <p:cNvPr id="16" name="Shape 12"/>
          <p:cNvSpPr/>
          <p:nvPr/>
        </p:nvSpPr>
        <p:spPr>
          <a:xfrm>
            <a:off x="822960" y="3977640"/>
            <a:ext cx="457200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296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+13.76 pp </a:t>
            </a: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 ·  </a:t>
            </a: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+35% </a:t>
            </a: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vs zero-shot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82296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 · checkpoint 2100 · validation-selected · 8,217 test rows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0350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6309360" y="1737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full test</a:t>
            </a:r>
            <a:endParaRPr lang="en-US" sz="13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6263640" y="2194560"/>
          <a:ext cx="52120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2" name="Text 17"/>
          <p:cNvSpPr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tap-radius for Run L: 0.6196 (kept only for backward comparison)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final improvement came from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2926080" cy="14020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2926080" cy="73152"/>
          </a:xfrm>
          <a:prstGeom prst="rect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920240"/>
            <a:ext cx="502920" cy="502920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2020824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325880" y="2148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68.1%</a:t>
            </a:r>
            <a:endParaRPr lang="en-US" sz="2600" dirty="0"/>
          </a:p>
        </p:txBody>
      </p:sp>
      <p:sp>
        <p:nvSpPr>
          <p:cNvPr id="18" name="Shape 14"/>
          <p:cNvSpPr/>
          <p:nvPr/>
        </p:nvSpPr>
        <p:spPr>
          <a:xfrm>
            <a:off x="3566160" y="1554480"/>
            <a:ext cx="2926080" cy="14020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3566160" y="1554480"/>
            <a:ext cx="2926080" cy="73152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794760" y="1920240"/>
            <a:ext cx="502920" cy="50292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5344" y="2020824"/>
            <a:ext cx="301752" cy="3017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43484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4434840" y="2148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2600" dirty="0"/>
          </a:p>
        </p:txBody>
      </p:sp>
      <p:sp>
        <p:nvSpPr>
          <p:cNvPr id="24" name="Shape 19"/>
          <p:cNvSpPr/>
          <p:nvPr/>
        </p:nvSpPr>
        <p:spPr>
          <a:xfrm>
            <a:off x="457200" y="3139440"/>
            <a:ext cx="2926080" cy="14020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57200" y="3139440"/>
            <a:ext cx="2926080" cy="73152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85800" y="3505200"/>
            <a:ext cx="502920" cy="502920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3605784"/>
            <a:ext cx="301752" cy="30175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325880" y="3368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1325880" y="3733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75.0%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3566160" y="3139440"/>
            <a:ext cx="2926080" cy="14020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3566160" y="3139440"/>
            <a:ext cx="2926080" cy="73152"/>
          </a:xfrm>
          <a:prstGeom prst="rect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3794760" y="3505200"/>
            <a:ext cx="502920" cy="502920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5344" y="3605784"/>
            <a:ext cx="301752" cy="30175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434840" y="3368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</a:t>
            </a:r>
            <a:endParaRPr lang="en-US" sz="1400" dirty="0"/>
          </a:p>
        </p:txBody>
      </p:sp>
      <p:sp>
        <p:nvSpPr>
          <p:cNvPr id="35" name="Text 28"/>
          <p:cNvSpPr/>
          <p:nvPr/>
        </p:nvSpPr>
        <p:spPr>
          <a:xfrm>
            <a:off x="4434840" y="3733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39.8%</a:t>
            </a:r>
            <a:endParaRPr lang="en-US" sz="2600" dirty="0"/>
          </a:p>
        </p:txBody>
      </p:sp>
      <p:sp>
        <p:nvSpPr>
          <p:cNvPr id="36" name="Shape 29"/>
          <p:cNvSpPr/>
          <p:nvPr/>
        </p:nvSpPr>
        <p:spPr>
          <a:xfrm>
            <a:off x="457200" y="4724400"/>
            <a:ext cx="2926080" cy="14020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457200" y="4724400"/>
            <a:ext cx="2926080" cy="73152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1"/>
          <p:cNvSpPr/>
          <p:nvPr/>
        </p:nvSpPr>
        <p:spPr>
          <a:xfrm>
            <a:off x="685800" y="5090160"/>
            <a:ext cx="502920" cy="50292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84" y="5190744"/>
            <a:ext cx="301752" cy="301752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1325880" y="4953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navigate_back</a:t>
            </a:r>
            <a:endParaRPr lang="en-US" sz="1400" dirty="0"/>
          </a:p>
        </p:txBody>
      </p:sp>
      <p:sp>
        <p:nvSpPr>
          <p:cNvPr id="41" name="Text 33"/>
          <p:cNvSpPr/>
          <p:nvPr/>
        </p:nvSpPr>
        <p:spPr>
          <a:xfrm>
            <a:off x="1325880" y="531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97.7%</a:t>
            </a:r>
            <a:endParaRPr lang="en-US" sz="2600" dirty="0"/>
          </a:p>
        </p:txBody>
      </p:sp>
      <p:sp>
        <p:nvSpPr>
          <p:cNvPr id="42" name="Shape 34"/>
          <p:cNvSpPr/>
          <p:nvPr/>
        </p:nvSpPr>
        <p:spPr>
          <a:xfrm>
            <a:off x="3566160" y="4724400"/>
            <a:ext cx="2926080" cy="14020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5"/>
          <p:cNvSpPr/>
          <p:nvPr/>
        </p:nvSpPr>
        <p:spPr>
          <a:xfrm>
            <a:off x="3566160" y="4724400"/>
            <a:ext cx="2926080" cy="73152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6"/>
          <p:cNvSpPr/>
          <p:nvPr/>
        </p:nvSpPr>
        <p:spPr>
          <a:xfrm>
            <a:off x="3794760" y="509016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95344" y="5190744"/>
            <a:ext cx="301752" cy="301752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4434840" y="4953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400" dirty="0"/>
          </a:p>
        </p:txBody>
      </p:sp>
      <p:sp>
        <p:nvSpPr>
          <p:cNvPr id="47" name="Text 38"/>
          <p:cNvSpPr/>
          <p:nvPr/>
        </p:nvSpPr>
        <p:spPr>
          <a:xfrm>
            <a:off x="4434840" y="531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2600" dirty="0"/>
          </a:p>
        </p:txBody>
      </p:sp>
      <p:sp>
        <p:nvSpPr>
          <p:cNvPr id="48" name="Shape 39"/>
          <p:cNvSpPr/>
          <p:nvPr/>
        </p:nvSpPr>
        <p:spPr>
          <a:xfrm>
            <a:off x="6675120" y="155448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0"/>
          <p:cNvSpPr/>
          <p:nvPr/>
        </p:nvSpPr>
        <p:spPr>
          <a:xfrm>
            <a:off x="6675120" y="1554480"/>
            <a:ext cx="91440" cy="4572000"/>
          </a:xfrm>
          <a:prstGeom prst="rect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1"/>
          <p:cNvSpPr/>
          <p:nvPr/>
        </p:nvSpPr>
        <p:spPr>
          <a:xfrm>
            <a:off x="6903720" y="1755648"/>
            <a:ext cx="384048" cy="384048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67728" y="1819656"/>
            <a:ext cx="256032" cy="256032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7388352" y="17190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53" name="Shape 43"/>
          <p:cNvSpPr/>
          <p:nvPr/>
        </p:nvSpPr>
        <p:spPr>
          <a:xfrm>
            <a:off x="6949440" y="2514600"/>
            <a:ext cx="164592" cy="164592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4"/>
          <p:cNvSpPr/>
          <p:nvPr/>
        </p:nvSpPr>
        <p:spPr>
          <a:xfrm>
            <a:off x="7223760" y="242316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  </a:t>
            </a: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turned a near-zero class into a strong class</a:t>
            </a:r>
            <a:endParaRPr lang="en-US" sz="1100" dirty="0"/>
          </a:p>
        </p:txBody>
      </p:sp>
      <p:sp>
        <p:nvSpPr>
          <p:cNvPr id="55" name="Shape 45"/>
          <p:cNvSpPr/>
          <p:nvPr/>
        </p:nvSpPr>
        <p:spPr>
          <a:xfrm>
            <a:off x="6949440" y="3108960"/>
            <a:ext cx="164592" cy="164592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6"/>
          <p:cNvSpPr/>
          <p:nvPr/>
        </p:nvSpPr>
        <p:spPr>
          <a:xfrm>
            <a:off x="7223760" y="30175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 </a:t>
            </a: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a11y-native target lifted the dominant class</a:t>
            </a:r>
            <a:endParaRPr lang="en-US" sz="1100" dirty="0"/>
          </a:p>
        </p:txBody>
      </p:sp>
      <p:sp>
        <p:nvSpPr>
          <p:cNvPr id="57" name="Shape 47"/>
          <p:cNvSpPr/>
          <p:nvPr/>
        </p:nvSpPr>
        <p:spPr>
          <a:xfrm>
            <a:off x="6949440" y="3703320"/>
            <a:ext cx="164592" cy="164592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48"/>
          <p:cNvSpPr/>
          <p:nvPr/>
        </p:nvSpPr>
        <p:spPr>
          <a:xfrm>
            <a:off x="7223760" y="36118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 </a:t>
            </a: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prior-history prefix repaired direction errors</a:t>
            </a:r>
            <a:endParaRPr lang="en-US" sz="1100" dirty="0"/>
          </a:p>
        </p:txBody>
      </p:sp>
      <p:sp>
        <p:nvSpPr>
          <p:cNvPr id="59" name="Shape 49"/>
          <p:cNvSpPr/>
          <p:nvPr/>
        </p:nvSpPr>
        <p:spPr>
          <a:xfrm>
            <a:off x="6949440" y="4297680"/>
            <a:ext cx="164592" cy="164592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0"/>
          <p:cNvSpPr/>
          <p:nvPr/>
        </p:nvSpPr>
        <p:spPr>
          <a:xfrm>
            <a:off x="7223760" y="420624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 </a:t>
            </a: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runs — never a bottleneck</a:t>
            </a:r>
            <a:endParaRPr lang="en-US" sz="1100" dirty="0"/>
          </a:p>
        </p:txBody>
      </p:sp>
      <p:sp>
        <p:nvSpPr>
          <p:cNvPr id="61" name="Shape 51"/>
          <p:cNvSpPr/>
          <p:nvPr/>
        </p:nvSpPr>
        <p:spPr>
          <a:xfrm>
            <a:off x="6949440" y="4892040"/>
            <a:ext cx="164592" cy="164592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2"/>
          <p:cNvSpPr/>
          <p:nvPr/>
        </p:nvSpPr>
        <p:spPr>
          <a:xfrm>
            <a:off x="7223760" y="48006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navigate_back  </a:t>
            </a: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essentially solved by the schema change</a:t>
            </a:r>
            <a:endParaRPr lang="en-US" sz="1100" dirty="0"/>
          </a:p>
        </p:txBody>
      </p:sp>
      <p:sp>
        <p:nvSpPr>
          <p:cNvPr id="63" name="Shape 53"/>
          <p:cNvSpPr/>
          <p:nvPr/>
        </p:nvSpPr>
        <p:spPr>
          <a:xfrm>
            <a:off x="6949440" y="5486400"/>
            <a:ext cx="164592" cy="164592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/>
          <p:nvPr/>
        </p:nvSpPr>
        <p:spPr>
          <a:xfrm>
            <a:off x="7223760" y="539496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 </a:t>
            </a: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screenshots can't reveal loading state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691640"/>
            <a:ext cx="3637178" cy="365760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822960" y="2057400"/>
            <a:ext cx="914400" cy="91440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8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138" y="214884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22960" y="315468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&gt; knobs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822960" y="3886200"/>
            <a:ext cx="2905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from coordinate digits to element IDs mattered more than LoRA rank, loss tweaks, or longer training.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77258" y="1691640"/>
            <a:ext cx="3637178" cy="365760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643018" y="2057400"/>
            <a:ext cx="914400" cy="914400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4643018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7197" y="214884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643018" y="315468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can lie</a:t>
            </a:r>
            <a:endParaRPr lang="en-US" sz="1900" dirty="0"/>
          </a:p>
        </p:txBody>
      </p:sp>
      <p:sp>
        <p:nvSpPr>
          <p:cNvPr id="23" name="Text 18"/>
          <p:cNvSpPr/>
          <p:nvPr/>
        </p:nvSpPr>
        <p:spPr>
          <a:xfrm>
            <a:off x="4643018" y="3886200"/>
            <a:ext cx="2905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Tap-radius made wrong-but-near elements look correct and inverted the learning curve. Element-accuracy matched production.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097317" y="1691640"/>
            <a:ext cx="3637178" cy="365760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8463077" y="2057400"/>
            <a:ext cx="914400" cy="914400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8463077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214884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463077" y="315468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Ablations matter</a:t>
            </a:r>
            <a:endParaRPr lang="en-US" sz="1900" dirty="0"/>
          </a:p>
        </p:txBody>
      </p:sp>
      <p:sp>
        <p:nvSpPr>
          <p:cNvPr id="29" name="Text 23"/>
          <p:cNvSpPr/>
          <p:nvPr/>
        </p:nvSpPr>
        <p:spPr>
          <a:xfrm>
            <a:off x="8463077" y="3886200"/>
            <a:ext cx="29056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runs ruled out coordinate-token fixes and class-balanced loss, isolating CAP and history as the real gains.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5532120"/>
            <a:ext cx="11277295" cy="777240"/>
          </a:xfrm>
          <a:prstGeom prst="roundRect">
            <a:avLst>
              <a:gd name="adj" fmla="val 11765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687568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71600" y="553212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lesson  </a:t>
            </a: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mobile UI control as structured action selection over UI state, not raw pixel-coordinate regression.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ANDROIDWORLD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Transition: live emulator success ≠ per-step accuracy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4864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4297680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70432" y="17190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compounding-error problem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31520" y="2331720"/>
            <a:ext cx="4937760" cy="502920"/>
          </a:xfrm>
          <a:prstGeom prst="roundRect">
            <a:avLst>
              <a:gd name="adj" fmla="val 10909"/>
            </a:avLst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731520" y="2331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P(N-step success)  =  </a:t>
            </a:r>
            <a:r>
              <a:rPr lang="en-US" sz="1600" b="1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600" dirty="0">
                <a:solidFill>
                  <a:srgbClr val="3DDC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ᴺ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822960" y="3017520"/>
            <a:ext cx="4754880" cy="365760"/>
          </a:xfrm>
          <a:prstGeom prst="rect">
            <a:avLst/>
          </a:prstGeom>
          <a:solidFill>
            <a:srgbClr val="20212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22960" y="3017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PER-STEP p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2194560" y="3017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N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3566160" y="3017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P(SUCCESS)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822960" y="3383280"/>
            <a:ext cx="4754880" cy="457200"/>
          </a:xfrm>
          <a:prstGeom prst="rect">
            <a:avLst/>
          </a:prstGeom>
          <a:solidFill>
            <a:srgbClr val="F1F3F4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82296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0.95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219456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steps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56616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82296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0.85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219456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steps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5661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8.7%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822960" y="4297680"/>
            <a:ext cx="4754880" cy="457200"/>
          </a:xfrm>
          <a:prstGeom prst="rect">
            <a:avLst/>
          </a:prstGeom>
          <a:solidFill>
            <a:srgbClr val="F1F3F4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822960" y="4297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2194560" y="4297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steps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356616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0.08%</a:t>
            </a:r>
            <a:endParaRPr lang="en-US" sz="1400" dirty="0"/>
          </a:p>
        </p:txBody>
      </p:sp>
      <p:sp>
        <p:nvSpPr>
          <p:cNvPr id="35" name="Text 31"/>
          <p:cNvSpPr/>
          <p:nvPr/>
        </p:nvSpPr>
        <p:spPr>
          <a:xfrm>
            <a:off x="73152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 episodes average ~12–20 steps. Run L's ~70 % per-step compounds to &lt;5 % task success in the abstract.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6126480" y="1554480"/>
            <a:ext cx="5577840" cy="2057400"/>
          </a:xfrm>
          <a:prstGeom prst="roundRect">
            <a:avLst>
              <a:gd name="adj" fmla="val 4444"/>
            </a:avLst>
          </a:prstGeom>
          <a:solidFill>
            <a:srgbClr val="E6F4EA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3"/>
          <p:cNvSpPr/>
          <p:nvPr/>
        </p:nvSpPr>
        <p:spPr>
          <a:xfrm>
            <a:off x="6400800" y="17830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6400800" y="17830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ANDROIDCONTROL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6583680" y="2240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screenshots  ·  one row = one step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Element-accuracy  ·  offline grading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Human-curated demos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6126480" y="3794760"/>
            <a:ext cx="5577840" cy="2057400"/>
          </a:xfrm>
          <a:prstGeom prst="roundRect">
            <a:avLst>
              <a:gd name="adj" fmla="val 4444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7"/>
          <p:cNvSpPr/>
          <p:nvPr/>
        </p:nvSpPr>
        <p:spPr>
          <a:xfrm>
            <a:off x="6400800" y="402336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400800" y="40233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ANDROIDWORLD</a:t>
            </a:r>
            <a:endParaRPr lang="en-US" sz="850" dirty="0"/>
          </a:p>
        </p:txBody>
      </p:sp>
      <p:sp>
        <p:nvSpPr>
          <p:cNvPr id="43" name="Text 39"/>
          <p:cNvSpPr/>
          <p:nvPr/>
        </p:nvSpPr>
        <p:spPr>
          <a:xfrm>
            <a:off x="6583680" y="4480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emulator (M3A harness)  ·  116 tasks across 20 apps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task.is_successful() per episode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rollout  ·  model self-corrects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distribution shift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457200" y="5989320"/>
            <a:ext cx="11277295" cy="365760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9525">
            <a:solidFill>
              <a:srgbClr val="FBBC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1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 </a:t>
            </a:r>
            <a:r>
              <a:rPr lang="en-US" sz="11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metric  ·  different distribution — a per-step win does not automatically transfer.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 RESULT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on AndroidWorld: 8.70 % AW-116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68580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17373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AW-116 success-rate progression</a:t>
            </a:r>
            <a:endParaRPr lang="en-US" sz="130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685800" y="2194560"/>
          <a:ext cx="64008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Shape 11"/>
          <p:cNvSpPr/>
          <p:nvPr/>
        </p:nvSpPr>
        <p:spPr>
          <a:xfrm>
            <a:off x="7498080" y="1554480"/>
            <a:ext cx="4206240" cy="42976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1016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7498080" y="1554480"/>
            <a:ext cx="91440" cy="4297680"/>
          </a:xfrm>
          <a:prstGeom prst="rect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0688" y="1819656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11312" y="17190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r62 got there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726680" y="2267712"/>
            <a:ext cx="3794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Genesis-style trajectory synthesis (Gemma 31B teacher, filtered)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+ AndroidLab vocab mix so open_app exemplars exist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swap to Qwen3.5-4B for sharper agent priors (loss 0.15 vs 0.73)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2-epoch Genesis-vision continuation from r57b on aligned screenshots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5989320"/>
            <a:ext cx="11277295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9525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wins  ·  4 app families  </a:t>
            </a:r>
            <a:r>
              <a:rPr lang="en-US" sz="105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Markor / Recipes / Calendar / System / Contacts / OpenApp.   Baseline &amp; Run-L = 0/82 and 0/31 (early-stop).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ANALYSIS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couldn't fully bridge AC → AW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66928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91440" cy="4754880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1755648"/>
            <a:ext cx="384048" cy="384048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819656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70432" y="171907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M3A baseline failure modes  (n=82)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731520" y="2331720"/>
            <a:ext cx="5120640" cy="502920"/>
          </a:xfrm>
          <a:prstGeom prst="rect">
            <a:avLst/>
          </a:prstGeom>
          <a:solidFill>
            <a:srgbClr val="F1F3F4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22960" y="23317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67.9%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82880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max_steps_no_terminate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31520" y="2926080"/>
            <a:ext cx="512064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822960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12.3%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828800" y="2926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parse_fail_majority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31520" y="3520440"/>
            <a:ext cx="5120640" cy="502920"/>
          </a:xfrm>
          <a:prstGeom prst="rect">
            <a:avLst/>
          </a:prstGeom>
          <a:solidFill>
            <a:srgbClr val="F1F3F4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822960" y="3520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1828800" y="35204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answered_but_wrong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31520" y="4114800"/>
            <a:ext cx="512064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822960" y="4114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BBC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1828800" y="4114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thought_complete_wrong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731520" y="4709160"/>
            <a:ext cx="5120640" cy="502920"/>
          </a:xfrm>
          <a:prstGeom prst="rect">
            <a:avLst/>
          </a:prstGeom>
          <a:solidFill>
            <a:srgbClr val="F1F3F4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82296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4.9%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1828800" y="47091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gave_up_infeasible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31520" y="5303520"/>
            <a:ext cx="512064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822960" y="5303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1828800" y="53035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runtime_exception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731520" y="5852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 of failed episodes never emit a terminal status — model loops until step budget exhausts.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309360" y="1554480"/>
            <a:ext cx="53949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3"/>
          <p:cNvSpPr/>
          <p:nvPr/>
        </p:nvSpPr>
        <p:spPr>
          <a:xfrm>
            <a:off x="6309360" y="1554480"/>
            <a:ext cx="91440" cy="1508760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583680" y="18288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5"/>
          <p:cNvSpPr/>
          <p:nvPr/>
        </p:nvSpPr>
        <p:spPr>
          <a:xfrm>
            <a:off x="65836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0" name="Text 36"/>
          <p:cNvSpPr/>
          <p:nvPr/>
        </p:nvSpPr>
        <p:spPr>
          <a:xfrm>
            <a:off x="7223760" y="17190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Per-step → episode dropoff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7223760" y="210312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L's ~70% per-step accuracy compounds away over 12–20 step episodes.</a:t>
            </a:r>
            <a:endParaRPr lang="en-US" sz="1050" dirty="0"/>
          </a:p>
        </p:txBody>
      </p:sp>
      <p:sp>
        <p:nvSpPr>
          <p:cNvPr id="42" name="Shape 38"/>
          <p:cNvSpPr/>
          <p:nvPr/>
        </p:nvSpPr>
        <p:spPr>
          <a:xfrm>
            <a:off x="6309360" y="3154680"/>
            <a:ext cx="53949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9"/>
          <p:cNvSpPr/>
          <p:nvPr/>
        </p:nvSpPr>
        <p:spPr>
          <a:xfrm>
            <a:off x="6309360" y="3154680"/>
            <a:ext cx="91440" cy="1508760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6583680" y="3429000"/>
            <a:ext cx="502920" cy="502920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1"/>
          <p:cNvSpPr/>
          <p:nvPr/>
        </p:nvSpPr>
        <p:spPr>
          <a:xfrm>
            <a:off x="65836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6" name="Text 42"/>
          <p:cNvSpPr/>
          <p:nvPr/>
        </p:nvSpPr>
        <p:spPr>
          <a:xfrm>
            <a:off x="7223760" y="33192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OOD-prompt narrowness</a:t>
            </a:r>
            <a:endParaRPr lang="en-US" sz="1300" dirty="0"/>
          </a:p>
        </p:txBody>
      </p:sp>
      <p:sp>
        <p:nvSpPr>
          <p:cNvPr id="47" name="Text 43"/>
          <p:cNvSpPr/>
          <p:nvPr/>
        </p:nvSpPr>
        <p:spPr>
          <a:xfrm>
            <a:off x="7223760" y="370332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trained on single-shot "Previous action" prompts. AW's multi-step rollout is OOD; Run L mode-collapsed on 87% of tasks and hallucinated schemas (navigate_to, record_audio).</a:t>
            </a:r>
            <a:endParaRPr lang="en-US" sz="1050" dirty="0"/>
          </a:p>
        </p:txBody>
      </p:sp>
      <p:sp>
        <p:nvSpPr>
          <p:cNvPr id="48" name="Shape 44"/>
          <p:cNvSpPr/>
          <p:nvPr/>
        </p:nvSpPr>
        <p:spPr>
          <a:xfrm>
            <a:off x="6309360" y="4754880"/>
            <a:ext cx="53949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5"/>
          <p:cNvSpPr/>
          <p:nvPr/>
        </p:nvSpPr>
        <p:spPr>
          <a:xfrm>
            <a:off x="6309360" y="4754880"/>
            <a:ext cx="91440" cy="1508760"/>
          </a:xfrm>
          <a:prstGeom prst="rect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6"/>
          <p:cNvSpPr/>
          <p:nvPr/>
        </p:nvSpPr>
        <p:spPr>
          <a:xfrm>
            <a:off x="6583680" y="5029200"/>
            <a:ext cx="502920" cy="502920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7"/>
          <p:cNvSpPr/>
          <p:nvPr/>
        </p:nvSpPr>
        <p:spPr>
          <a:xfrm>
            <a:off x="658368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2" name="Text 48"/>
          <p:cNvSpPr/>
          <p:nvPr/>
        </p:nvSpPr>
        <p:spPr>
          <a:xfrm>
            <a:off x="7223760" y="4919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terminal-state signal</a:t>
            </a:r>
            <a:endParaRPr lang="en-US" sz="1300" dirty="0"/>
          </a:p>
        </p:txBody>
      </p:sp>
      <p:sp>
        <p:nvSpPr>
          <p:cNvPr id="53" name="Text 49"/>
          <p:cNvSpPr/>
          <p:nvPr/>
        </p:nvSpPr>
        <p:spPr>
          <a:xfrm>
            <a:off x="7223760" y="530352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and status:complete need a what-just-happened delta a single screenshot does not contain. wait stuck near 0 across every recipe.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926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9144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E2B · QLoRA · Final Project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997135" y="3840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997135" y="3840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didn't get to try (and why it plausibly works)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Control — Final Project · Sanskar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5547208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554480"/>
            <a:ext cx="5547208" cy="73152"/>
          </a:xfrm>
          <a:prstGeom prst="rect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31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17830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Trajectory-replay SFT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" y="2423160"/>
            <a:ext cx="509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full successful AW episodes, not per-step rows. Filtered behavior cloning + Monte-Carlo prefix filter (V-Droid §4.1).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31520" y="310896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3152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+5–15 pp expected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200400" y="3108960"/>
            <a:ext cx="2621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DigiRL: 17.7 → 67.2 % AitW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187288" y="1554480"/>
            <a:ext cx="5547208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187288" y="1554480"/>
            <a:ext cx="5547208" cy="73152"/>
          </a:xfrm>
          <a:prstGeom prst="rect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461608" y="1828800"/>
            <a:ext cx="502920" cy="502920"/>
          </a:xfrm>
          <a:prstGeom prst="ellipse">
            <a:avLst/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6160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7101688" y="17830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Schema-enforced decoding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461608" y="2423160"/>
            <a:ext cx="509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outlines / JSON-grammar at inference time. Eliminates the schema hallucinations (navigate_to, record_audio) Run L emitted on 213 steps.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61608" y="310896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461608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~5–10 pp parse loss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930488" y="3108960"/>
            <a:ext cx="2621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at inference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749040"/>
            <a:ext cx="5547208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57200" y="3749040"/>
            <a:ext cx="5547208" cy="73152"/>
          </a:xfrm>
          <a:prstGeom prst="rect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731520" y="4023360"/>
            <a:ext cx="502920" cy="502920"/>
          </a:xfrm>
          <a:prstGeom prst="ellipse">
            <a:avLst/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315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1371600" y="397764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 / ReAct-format SFT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1520" y="4617720"/>
            <a:ext cx="509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with "Thought: … Action: …" labels matching the M3A prompt. Every published AW model above floor uses this format.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731520" y="53035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731520" y="5303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~2–3 days + retrain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3200400" y="5303520"/>
            <a:ext cx="2621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UI-TARS, V-Droid, AndroidLab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187288" y="3749040"/>
            <a:ext cx="5547208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6187288" y="3749040"/>
            <a:ext cx="5547208" cy="73152"/>
          </a:xfrm>
          <a:prstGeom prst="rect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6461608" y="402336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646160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43" name="Text 40"/>
          <p:cNvSpPr/>
          <p:nvPr/>
        </p:nvSpPr>
        <p:spPr>
          <a:xfrm>
            <a:off x="7101688" y="397764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Inference-time reflector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6461608" y="4617720"/>
            <a:ext cx="509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Mobile-Agent-E-style scaffolding: planner / executor split, persistent memory, screen-diff reflection. No retrain.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6461608" y="53035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6461608" y="5303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 pp from harness alone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8930488" y="5303520"/>
            <a:ext cx="2621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no SFT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57200" y="5989320"/>
            <a:ext cx="11277295" cy="365760"/>
          </a:xfrm>
          <a:prstGeom prst="roundRect">
            <a:avLst>
              <a:gd name="adj" fmla="val 12500"/>
            </a:avLst>
          </a:prstGeom>
          <a:solidFill>
            <a:srgbClr val="F3E5F5"/>
          </a:solidFill>
          <a:ln w="9525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sit in TRAINING_LOG §51 with cost / risk / expected-gain estimates. None fit a one-term project; each is a credible follow-on.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4A8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448495" y="411480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094415" y="548640"/>
            <a:ext cx="731520" cy="731520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1148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440680"/>
            <a:ext cx="4114800" cy="411480"/>
          </a:xfrm>
          <a:prstGeom prst="roundRect">
            <a:avLst>
              <a:gd name="adj" fmla="val 48889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59893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AndroidWorld deployment was explored later, but it lies outside this deck's main scope — the AndroidControl result stands independently as the project's core.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120640" y="640080"/>
            <a:ext cx="6675120" cy="5669280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blurRad="1778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577840" y="9144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takeaway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577840" y="1325880"/>
            <a:ext cx="5760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UI control is solvable with a 2B-class VLM when framed as </a:t>
            </a:r>
            <a:r>
              <a:rPr lang="en-US" sz="19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accessibility-native element selection</a:t>
            </a:r>
            <a:r>
              <a:rPr lang="en-US" sz="19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live multi-step deployment is a separate problem.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577840" y="3246120"/>
            <a:ext cx="5760720" cy="640080"/>
          </a:xfrm>
          <a:prstGeom prst="roundRect">
            <a:avLst>
              <a:gd name="adj" fmla="val 14286"/>
            </a:avLst>
          </a:prstGeom>
          <a:solidFill>
            <a:srgbClr val="E6F4EA"/>
          </a:solidFill>
          <a:ln w="12700">
            <a:solidFill>
              <a:srgbClr val="34A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0" y="32461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recipe  </a:t>
            </a: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W </a:t>
            </a: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 schema </a:t>
            </a: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1-step history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577840" y="4023360"/>
            <a:ext cx="2788920" cy="1554480"/>
          </a:xfrm>
          <a:prstGeom prst="roundRect">
            <a:avLst>
              <a:gd name="adj" fmla="val 5882"/>
            </a:avLst>
          </a:prstGeom>
          <a:solidFill>
            <a:srgbClr val="34A85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0" y="42062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ANDROIDCONTROL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60720" y="44348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0.5311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5760720" y="5166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element-acc (Run L)  ·  +13.76 pp / +35 % vs 0.3935 zero-shot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49640" y="4023360"/>
            <a:ext cx="2788920" cy="1554480"/>
          </a:xfrm>
          <a:prstGeom prst="roundRect">
            <a:avLst>
              <a:gd name="adj" fmla="val 5882"/>
            </a:avLst>
          </a:prstGeom>
          <a:solidFill>
            <a:srgbClr val="4285F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732520" y="42062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ANDROIDWORLD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732520" y="44348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8.70 %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8732520" y="5166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AW-116 SR (r62)  ·  10/115 attempted, M3A harness  ·  vs 0/115 baseline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577840" y="5669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core is the headline; AW exploration is honest depth. Bridging the gap needs trajectory-level training and harness-aware scaffolding.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2761</Words>
  <Application>Microsoft Macintosh PowerPoint</Application>
  <PresentationFormat>Widescreen</PresentationFormat>
  <Paragraphs>479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Control — Final Project</dc:title>
  <dc:subject>PptxGenJS Presentation</dc:subject>
  <dc:creator>Sanskar</dc:creator>
  <cp:lastModifiedBy>Sanskar Thapa</cp:lastModifiedBy>
  <cp:revision>2</cp:revision>
  <dcterms:created xsi:type="dcterms:W3CDTF">2026-05-05T23:02:43Z</dcterms:created>
  <dcterms:modified xsi:type="dcterms:W3CDTF">2026-05-06T00:09:19Z</dcterms:modified>
</cp:coreProperties>
</file>