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 K</c:v>
                </c:pt>
              </c:strCache>
            </c:strRef>
          </c:tx>
          <c:spPr>
            <a:solidFill>
              <a:srgbClr val="9AA0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Scroll accuracy</c:v>
                  </c:pt>
                  <c:pt idx="1">
                    <c:v>Overall element-acc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21.5</c:v>
                </c:pt>
                <c:pt idx="1">
                  <c:v>52.3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 L</c:v>
                </c:pt>
              </c:strCache>
            </c:strRef>
          </c:tx>
          <c:spPr>
            <a:solidFill>
              <a:srgbClr val="34A85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Scroll accuracy</c:v>
                  </c:pt>
                  <c:pt idx="1">
                    <c:v>Overall element-acc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39.8</c:v>
                </c:pt>
                <c:pt idx="1">
                  <c:v>53.1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0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21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ADC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36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Element-accuracy</c:v>
                </c:pt>
              </c:strCache>
            </c:strRef>
          </c:tx>
          <c:spPr>
            <a:solidFill>
              <a:srgbClr val="34A853">
                <a:alpha val="75000"/>
              </a:srgbClr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Zero-shot</c:v>
                  </c:pt>
                  <c:pt idx="1">
                    <c:v>Run I: Path W SFT</c:v>
                  </c:pt>
                  <c:pt idx="2">
                    <c:v>Run J: + Cui</c:v>
                  </c:pt>
                  <c:pt idx="3">
                    <c:v>Run K: + CAP</c:v>
                  </c:pt>
                  <c:pt idx="4">
                    <c:v>Run L: + history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0.3935</c:v>
                </c:pt>
                <c:pt idx="1">
                  <c:v>0.493</c:v>
                </c:pt>
                <c:pt idx="2">
                  <c:v>0.4785</c:v>
                </c:pt>
                <c:pt idx="3">
                  <c:v>0.5235</c:v>
                </c:pt>
                <c:pt idx="4">
                  <c:v>0.5311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20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21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.3"/>
        </c:scaling>
        <c:delete val="0"/>
        <c:axPos val="b"/>
        <c:majorGridlines>
          <c:spPr>
            <a:ln w="6350" cap="flat">
              <a:solidFill>
                <a:srgbClr val="DADC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6" Type="http://schemas.openxmlformats.org/officeDocument/2006/relationships/image" Target="../media/image-1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548640"/>
            <a:ext cx="1463040" cy="14630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5303520"/>
            <a:ext cx="2194560" cy="219456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32918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49377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9377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0" y="17830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Android UI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with </a:t>
            </a:r>
            <a:pPr indent="0" marL="0">
              <a:buNone/>
            </a:pPr>
            <a:r>
              <a:rPr lang="en-US" sz="4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486400" y="3703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Master's AI final project — focused on the AndroidControl training phase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0" y="457200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4572000"/>
            <a:ext cx="73152" cy="155448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4709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0.5311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23560" y="52852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ELEMENT-ACC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623560" y="5577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178040" y="457200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78040" y="4572000"/>
            <a:ext cx="73152" cy="15544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4709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+13.76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315200" y="52852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LIFT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15200" y="5577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points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869680" y="457200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869680" y="4572000"/>
            <a:ext cx="73152" cy="155448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06840" y="4709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006840" y="52852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GAIN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006840" y="5577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zero-shot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561320" y="457200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561320" y="4572000"/>
            <a:ext cx="73152" cy="155448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698480" y="4709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8,217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698480" y="52852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98480" y="5577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AndroidControl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86400" y="6309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this deck covers the AndroidControl phase; the AndroidWorld side quest appears only as a closing transition.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 agents need grounded actions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1554480"/>
            <a:ext cx="2286000" cy="41148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202124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1600200"/>
            <a:ext cx="2286000" cy="228600"/>
          </a:xfrm>
          <a:prstGeom prst="rect">
            <a:avLst/>
          </a:prstGeom>
          <a:solidFill>
            <a:srgbClr val="E6F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1600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●●●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77240" y="1920240"/>
            <a:ext cx="2011680" cy="41148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24231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2514600"/>
            <a:ext cx="274320" cy="27432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4440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" y="2926080"/>
            <a:ext cx="2011680" cy="457200"/>
          </a:xfrm>
          <a:prstGeom prst="rect">
            <a:avLst/>
          </a:prstGeom>
          <a:solidFill>
            <a:srgbClr val="E6F4EA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3017520"/>
            <a:ext cx="274320" cy="27432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34440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77240" y="34290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8680" y="3520440"/>
            <a:ext cx="274320" cy="27432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3444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40280" y="4892040"/>
            <a:ext cx="502920" cy="50292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2402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594360" y="1371600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2021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Alice as a contact”</a:t>
            </a:r>
            <a:endParaRPr lang="en-US" sz="10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383280"/>
            <a:ext cx="365760" cy="36576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657600" y="237744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20212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38404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JSON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886200" y="28803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</a:t>
            </a:r>
            <a:pPr indent="0" marL="0">
              <a:buNone/>
            </a:pPr>
            <a:r>
              <a:rPr lang="en-US" sz="1200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"tap",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"element_id": </a:t>
            </a:r>
            <a:pPr indent="0" marL="0">
              <a:buNone/>
            </a:pPr>
            <a:r>
              <a:rPr lang="en-US" sz="120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"args":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{...}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583680" y="155448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583680" y="1554480"/>
            <a:ext cx="91440" cy="228600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812280" y="1755648"/>
            <a:ext cx="384048" cy="384048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819656"/>
            <a:ext cx="256032" cy="25603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296912" y="17190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6812280" y="2267712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UI targets after vision downsampling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 mixes grounding, planning, and text entry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labels are noisy — "near" is not always correct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screenshot often lacks temporal state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583680" y="402336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E6F4E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812280" y="4206240"/>
            <a:ext cx="457200" cy="45720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4288536"/>
            <a:ext cx="292608" cy="29260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36092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6812280" y="47548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2B-class VLM be fine-tuned on AndroidControl to outperform its zero-shot policy — and which task formulation makes the learning signal usable?</a:t>
            </a:r>
            <a:endParaRPr lang="en-US" sz="1400" dirty="0"/>
          </a:p>
        </p:txBody>
      </p:sp>
      <p:sp>
        <p:nvSpPr>
          <p:cNvPr id="45" name="Text 39"/>
          <p:cNvSpPr/>
          <p:nvPr/>
        </p:nvSpPr>
        <p:spPr>
          <a:xfrm>
            <a:off x="6812280" y="5897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(preview): </a:t>
            </a:r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when the target is element-native, not coordinate-native.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SETUP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AndroidControl → step-level supervised fine-tuning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54864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554480"/>
            <a:ext cx="91440" cy="30175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755648"/>
            <a:ext cx="384048" cy="38404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1965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70432" y="171907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5800" y="2267712"/>
            <a:ext cx="5074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AndroidControl; later migrated to GCS canonical splits for a11y trees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training row = one screenshot + one target action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instruction granularities: episode goal and step instruction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normalization used actual PNG dimensions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split used for checkpoint selection; test never touched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554480"/>
            <a:ext cx="55778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554480"/>
            <a:ext cx="91440" cy="30175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55080" y="1755648"/>
            <a:ext cx="384048" cy="3840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81965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39712" y="171907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stack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55080" y="2267712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(2B effective parameters)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+ QLoRA (4-bit base, low-rank adapters)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RTX 4090 · 24 GB VRAM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sweep → best checkpoint per run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4800600"/>
            <a:ext cx="363717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4800600"/>
            <a:ext cx="3637178" cy="73152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531266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5093208"/>
            <a:ext cx="2539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73K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1417320" y="557784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A11Y-NATIVE TRAIN ROWS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77258" y="4800600"/>
            <a:ext cx="363717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277258" y="4800600"/>
            <a:ext cx="3637178" cy="73152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551578" y="5212080"/>
            <a:ext cx="548640" cy="54864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162" y="5312664"/>
            <a:ext cx="347472" cy="34747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37378" y="5093208"/>
            <a:ext cx="2539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686</a:t>
            </a:r>
            <a:endParaRPr lang="en-US" sz="2800" dirty="0"/>
          </a:p>
        </p:txBody>
      </p:sp>
      <p:sp>
        <p:nvSpPr>
          <p:cNvPr id="35" name="Text 28"/>
          <p:cNvSpPr/>
          <p:nvPr/>
        </p:nvSpPr>
        <p:spPr>
          <a:xfrm>
            <a:off x="5237378" y="557784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ROWS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8097317" y="4800600"/>
            <a:ext cx="363717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097317" y="4800600"/>
            <a:ext cx="3637178" cy="73152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371637" y="5212080"/>
            <a:ext cx="548640" cy="54864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221" y="5312664"/>
            <a:ext cx="347472" cy="34747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057437" y="5093208"/>
            <a:ext cx="2539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8,217</a:t>
            </a:r>
            <a:endParaRPr lang="en-US" sz="2800" dirty="0"/>
          </a:p>
        </p:txBody>
      </p:sp>
      <p:sp>
        <p:nvSpPr>
          <p:cNvPr id="41" name="Text 33"/>
          <p:cNvSpPr/>
          <p:nvPr/>
        </p:nvSpPr>
        <p:spPr>
          <a:xfrm>
            <a:off x="9057437" y="557784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ROWS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FRAME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formulation: predict tap coordinates from screenshots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554480"/>
            <a:ext cx="91440" cy="210312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1755648"/>
            <a:ext cx="384048" cy="384048"/>
          </a:xfrm>
          <a:prstGeom prst="ellipse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1965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target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77240" y="2286000"/>
            <a:ext cx="4709160" cy="1234440"/>
          </a:xfrm>
          <a:prstGeom prst="roundRect">
            <a:avLst>
              <a:gd name="adj" fmla="val 4444"/>
            </a:avLst>
          </a:prstGeom>
          <a:solidFill>
            <a:srgbClr val="2021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60120" y="23774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</a:t>
            </a:r>
            <a:pPr indent="0" marL="0">
              <a:buNone/>
            </a:pPr>
            <a:r>
              <a:rPr lang="en-US" sz="1200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"tap",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"x": </a:t>
            </a:r>
            <a:pPr indent="0" marL="0">
              <a:buNone/>
            </a:pPr>
            <a:r>
              <a:rPr lang="en-US" sz="120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0.293,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"y": </a:t>
            </a:r>
            <a:pPr indent="0" marL="0">
              <a:buNone/>
            </a:pPr>
            <a:r>
              <a:rPr lang="en-US" sz="120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0.934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3749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looks attractive: </a:t>
            </a:r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tap is a normalized (x, y) pair — universal, simple, and easy to evaluate.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943600" y="1554480"/>
            <a:ext cx="5760720" cy="4572000"/>
          </a:xfrm>
          <a:prstGeom prst="roundRect">
            <a:avLst>
              <a:gd name="adj" fmla="val 2000"/>
            </a:avLst>
          </a:prstGeom>
          <a:solidFill>
            <a:srgbClr val="FCE8E6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17920" y="1755648"/>
            <a:ext cx="457200" cy="45720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837944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280" y="1691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loss is misaligned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0936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cross-entropy reward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309360" y="278892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4652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"0.500" </a:t>
            </a:r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≠ </a:t>
            </a:r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"0.293" </a:t>
            </a:r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token strings — but their screen distance is small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00800" y="3429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rewards string tokens, not screen distance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Tap-heavy data encourages shortcut learning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UI elements fall below effective vision resolution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coordinate "modes" emerge instead of pointing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309360" y="5532120"/>
            <a:ext cx="5029200" cy="457200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0" y="5532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model learns plausible-looking coordinates, not correct UI targets.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B–H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tried before the pivot — coordinate SFT was a dead end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508760"/>
            <a:ext cx="11277295" cy="365760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508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BASELINE  </a:t>
            </a:r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0.288 full-match / tap-radius — the bar to clear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7729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389120"/>
                <a:gridCol w="128016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r=16 LoRA, assistant-only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A4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r=64 / α=128, all-linear, full-seq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A4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LoRA worsened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D2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lr, early-stop sweep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A4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peak; never crossed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coord-aware Huber auxiliary 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A4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mode collapse, not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&lt;loc&gt; tokens + class weights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A4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token embeddings did not converge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A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projector unlocked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BBC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lift — still below 0.288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57200" y="5532120"/>
            <a:ext cx="11277295" cy="777240"/>
          </a:xfrm>
          <a:prstGeom prst="roundRect">
            <a:avLst>
              <a:gd name="adj" fmla="val 11765"/>
            </a:avLst>
          </a:prstGeom>
          <a:solidFill>
            <a:srgbClr val="E6F4E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5696712"/>
            <a:ext cx="457200" cy="45720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7790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553212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 narrowed the cause: </a:t>
            </a:r>
            <a:pPr indent="0" marL="0">
              <a:buNone/>
            </a:pPr>
            <a:r>
              <a:rPr lang="en-US" sz="12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LoRA rank, not lr, not optimizer settings — the representation itself was wrong.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 — the model learned formats, not grounding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554480"/>
            <a:ext cx="91440" cy="429768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755648"/>
            <a:ext cx="384048" cy="384048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1965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70432" y="17190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failure mode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5800" y="2267712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parse rates: JSON format learned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types partially learned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coordinates collapsed to plausible screen modes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losses diversified coords but still missed targets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≠ grounding: model outputs valid-looking but wrong taps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55448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554480"/>
            <a:ext cx="91440" cy="429768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55080" y="1755648"/>
            <a:ext cx="384048" cy="384048"/>
          </a:xfrm>
          <a:prstGeom prst="ellipse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81965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39712" y="17190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bug: frozen multimodal projector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583680" y="233172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E6F4E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858000" y="2331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tower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966960" y="253288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966960" y="25328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✓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583680" y="324612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CE8E6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858000" y="3246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projector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9966960" y="344728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966960" y="3447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✗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583680" y="416052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E6F4E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858000" y="4160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9966960" y="436168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966960" y="43616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✓</a:t>
            </a:r>
            <a:endParaRPr lang="en-US" sz="10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08" y="3063240"/>
            <a:ext cx="228600" cy="164592"/>
          </a:xfrm>
          <a:prstGeom prst="rect">
            <a:avLst/>
          </a:prstGeom>
        </p:spPr>
      </p:pic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08" y="3977640"/>
            <a:ext cx="228600" cy="16459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6492240" y="4983480"/>
            <a:ext cx="4846320" cy="640080"/>
          </a:xfrm>
          <a:prstGeom prst="rect">
            <a:avLst/>
          </a:prstGeom>
          <a:solidFill>
            <a:srgbClr val="FEF7E0"/>
          </a:solidFill>
          <a:ln w="9525">
            <a:solidFill>
              <a:srgbClr val="FBBC04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629400" y="4983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Unfreezing the projector (Run H): </a:t>
            </a:r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0.193 → 0.275, but coord regression still missed the 0.288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target an element, not a coordinate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554480"/>
            <a:ext cx="91440" cy="4434840"/>
          </a:xfrm>
          <a:prstGeom prst="rect">
            <a:avLst/>
          </a:prstGeom>
          <a:solidFill>
            <a:srgbClr val="5F63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7373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17373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X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Set-of-Marks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numbered marks on interactable elements; model predicts mark id.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324612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1F3F4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371600" y="3703320"/>
            <a:ext cx="365760" cy="365760"/>
          </a:xfrm>
          <a:prstGeom prst="ellipse">
            <a:avLst/>
          </a:prstGeom>
          <a:solidFill>
            <a:srgbClr val="EA43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017520" y="3886200"/>
            <a:ext cx="365760" cy="365760"/>
          </a:xfrm>
          <a:prstGeom prst="ellipse">
            <a:avLst/>
          </a:prstGeom>
          <a:solidFill>
            <a:srgbClr val="EA43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17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103120" y="4526280"/>
            <a:ext cx="365760" cy="365760"/>
          </a:xfrm>
          <a:prstGeom prst="ellipse">
            <a:avLst/>
          </a:prstGeom>
          <a:solidFill>
            <a:srgbClr val="EA43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0312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14800" y="4617720"/>
            <a:ext cx="365760" cy="365760"/>
          </a:xfrm>
          <a:prstGeom prst="ellipse">
            <a:avLst/>
          </a:prstGeom>
          <a:solidFill>
            <a:srgbClr val="EA43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0" y="3611880"/>
            <a:ext cx="365760" cy="365760"/>
          </a:xfrm>
          <a:prstGeom prst="ellipse">
            <a:avLst/>
          </a:prstGeom>
          <a:solidFill>
            <a:srgbClr val="EA43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5800" y="534924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 w="9525">
            <a:solidFill>
              <a:srgbClr val="EA43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 </a:t>
            </a:r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0.130 </a:t>
            </a:r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2B VLM could not attend to marks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26480" y="155448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26480" y="1554480"/>
            <a:ext cx="91440" cy="443484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55080" y="17373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55080" y="1737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W ★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355080" y="2148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Accessibility-native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355080" y="2606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contains a text legend of UI elements; model emits an element_id.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355080" y="324612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2021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92240" y="33375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LEGEND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[7] Button "Send"  bbox=(...)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[8] TextField "Name"  bbox=(...)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35508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355080" y="47091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92240" y="4709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"action": </a:t>
            </a:r>
            <a:pPr indent="0" marL="0">
              <a:buNone/>
            </a:pPr>
            <a:r>
              <a:rPr lang="en-US" sz="1200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"tap"</a:t>
            </a:r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"element_id": </a:t>
            </a:r>
            <a:pPr indent="0" marL="0">
              <a:buNone/>
            </a:pPr>
            <a:r>
              <a:rPr lang="en-US" sz="120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355080" y="53492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9224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0.3935 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element-acc — instantly usable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57200" y="6053328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grounding via the accessibility tree converts hard coordinate regression into discrete element selection.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pivot — element-accuracy replaced tap-radius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54864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554480"/>
            <a:ext cx="91440" cy="3291840"/>
          </a:xfrm>
          <a:prstGeom prst="rect">
            <a:avLst/>
          </a:prstGeom>
          <a:solidFill>
            <a:srgbClr val="5F6368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755648"/>
            <a:ext cx="384048" cy="384048"/>
          </a:xfrm>
          <a:prstGeom prst="ellipse">
            <a:avLst/>
          </a:prstGeom>
          <a:solidFill>
            <a:srgbClr val="5F6368"/>
          </a:solidFill>
          <a:ln w="12700">
            <a:solidFill>
              <a:srgbClr val="5F636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1965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70432" y="171907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Legacy: tap-radius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5800" y="2267712"/>
            <a:ext cx="5074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if projected bbox center is within radius 0.14 of GT point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backward comparison to coordinate 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Forgives wrong element when UI controls are clustered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wrong-but-near predictions look right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554480"/>
            <a:ext cx="54864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554480"/>
            <a:ext cx="91440" cy="32918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46520" y="1755648"/>
            <a:ext cx="384048" cy="38404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81965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31152" y="171907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element-accuracy ★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46520" y="2267712"/>
            <a:ext cx="5074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iff predicted element_id == GT element_id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production: wrong element fires wrong handler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validation and headline results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Strict, but unambiguous and aligned with intent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5029200"/>
            <a:ext cx="11277295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549554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51663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predictions, different story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17320" y="562356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tap-radius: </a:t>
            </a:r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checkpoints peaked, then "declined" — looked like overfitting.   </a:t>
            </a:r>
            <a:pPr indent="0" marL="0">
              <a:buNone/>
            </a:pPr>
            <a:r>
              <a:rPr lang="en-US" sz="1100" b="1" i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element-accuracy: </a:t>
            </a:r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became monotonic through late checkpoints — actual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chain — each change tested a specific hypothesis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691640"/>
            <a:ext cx="2716454" cy="1965960"/>
          </a:xfrm>
          <a:prstGeom prst="roundRect">
            <a:avLst>
              <a:gd name="adj" fmla="val 4651"/>
            </a:avLst>
          </a:prstGeom>
          <a:solidFill>
            <a:srgbClr val="E8F0FE"/>
          </a:solidFill>
          <a:ln w="19050">
            <a:solidFill>
              <a:srgbClr val="4285F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691640"/>
            <a:ext cx="2716454" cy="109728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874520"/>
            <a:ext cx="24421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94360" y="2331720"/>
            <a:ext cx="24421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0.4930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94360" y="3017520"/>
            <a:ext cx="24421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W v1 SFT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226" y="2555748"/>
            <a:ext cx="128016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310814" y="1691640"/>
            <a:ext cx="2716454" cy="1965960"/>
          </a:xfrm>
          <a:prstGeom prst="roundRect">
            <a:avLst>
              <a:gd name="adj" fmla="val 4651"/>
            </a:avLst>
          </a:prstGeom>
          <a:solidFill>
            <a:srgbClr val="FCE8E6"/>
          </a:solidFill>
          <a:ln w="19050">
            <a:solidFill>
              <a:srgbClr val="EA433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310814" y="1691640"/>
            <a:ext cx="2716454" cy="109728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47974" y="1874520"/>
            <a:ext cx="24421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J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447974" y="2331720"/>
            <a:ext cx="24421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0.4785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3447974" y="3017520"/>
            <a:ext cx="24421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Cui class weighting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840" y="2555748"/>
            <a:ext cx="128016" cy="2286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164428" y="1691640"/>
            <a:ext cx="2716454" cy="1965960"/>
          </a:xfrm>
          <a:prstGeom prst="roundRect">
            <a:avLst>
              <a:gd name="adj" fmla="val 4651"/>
            </a:avLst>
          </a:prstGeom>
          <a:solidFill>
            <a:srgbClr val="FEF7E0"/>
          </a:solidFill>
          <a:ln w="19050">
            <a:solidFill>
              <a:srgbClr val="FBBC0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64428" y="1691640"/>
            <a:ext cx="2716454" cy="109728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301588" y="1874520"/>
            <a:ext cx="24421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301588" y="2331720"/>
            <a:ext cx="24421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0.5235</a:t>
            </a:r>
            <a:endParaRPr lang="en-US" sz="3000" dirty="0"/>
          </a:p>
        </p:txBody>
      </p:sp>
      <p:sp>
        <p:nvSpPr>
          <p:cNvPr id="28" name="Text 23"/>
          <p:cNvSpPr/>
          <p:nvPr/>
        </p:nvSpPr>
        <p:spPr>
          <a:xfrm>
            <a:off x="6301588" y="3017520"/>
            <a:ext cx="24421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CAP action schema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453" y="2555748"/>
            <a:ext cx="128016" cy="2286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9018041" y="1691640"/>
            <a:ext cx="2716454" cy="1965960"/>
          </a:xfrm>
          <a:prstGeom prst="roundRect">
            <a:avLst>
              <a:gd name="adj" fmla="val 4651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018041" y="1691640"/>
            <a:ext cx="2716454" cy="109728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155201" y="1874520"/>
            <a:ext cx="24421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 ★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9155201" y="2331720"/>
            <a:ext cx="24421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0.5311</a:t>
            </a:r>
            <a:endParaRPr lang="en-US" sz="3000" dirty="0"/>
          </a:p>
        </p:txBody>
      </p:sp>
      <p:sp>
        <p:nvSpPr>
          <p:cNvPr id="34" name="Text 28"/>
          <p:cNvSpPr/>
          <p:nvPr/>
        </p:nvSpPr>
        <p:spPr>
          <a:xfrm>
            <a:off x="9155201" y="3017520"/>
            <a:ext cx="24421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+ 1-step history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457200" y="4343400"/>
            <a:ext cx="11277295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57200" y="4343400"/>
            <a:ext cx="73152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40080" y="43434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  </a:t>
            </a:r>
            <a:pPr indent="0" marL="0">
              <a:buNone/>
            </a:pPr>
            <a:r>
              <a:rPr lang="en-US" sz="11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a11y-native SFT clears zero-shot.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457200" y="4846320"/>
            <a:ext cx="11277295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57200" y="4846320"/>
            <a:ext cx="73152" cy="411480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40080" y="4846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J  </a:t>
            </a:r>
            <a:pPr indent="0" marL="0">
              <a:buNone/>
            </a:pPr>
            <a:r>
              <a:rPr lang="en-US" sz="11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loss reweighting was the wrong intervention.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457200" y="5349240"/>
            <a:ext cx="11277295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57200" y="5349240"/>
            <a:ext cx="73152" cy="41148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40080" y="53492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  </a:t>
            </a:r>
            <a:pPr indent="0" marL="0">
              <a:buNone/>
            </a:pPr>
            <a:r>
              <a:rPr lang="en-US" sz="11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hierarchical CAP schema fixed open_app class collision.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457200" y="5852160"/>
            <a:ext cx="11277295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57200" y="5852160"/>
            <a:ext cx="73152" cy="41148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4008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  </a:t>
            </a:r>
            <a:pPr indent="0" marL="0">
              <a:buNone/>
            </a:pPr>
            <a:r>
              <a:rPr lang="en-US" sz="11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prior-action context substantially repaired scroll-direction errors.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SCHEMA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 — hierarchical action schema fixed open_app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554480"/>
            <a:ext cx="91440" cy="3657600"/>
          </a:xfrm>
          <a:prstGeom prst="rect">
            <a:avLst/>
          </a:prstGeom>
          <a:solidFill>
            <a:srgbClr val="5F63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v1 schema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" y="233172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2021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24231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</a:t>
            </a:r>
            <a:pPr indent="0" marL="0">
              <a:buNone/>
            </a:pPr>
            <a:r>
              <a:rPr lang="en-US" sz="1150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"open_app",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"app_name": </a:t>
            </a:r>
            <a:pPr indent="0" marL="0">
              <a:buNone/>
            </a:pPr>
            <a:r>
              <a:rPr lang="en-US" sz="115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"Slack"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85800" y="338328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2021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4747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</a:t>
            </a:r>
            <a:pPr indent="0" marL="0">
              <a:buNone/>
            </a:pPr>
            <a:r>
              <a:rPr lang="en-US" sz="1150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"tap",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"element_id": </a:t>
            </a:r>
            <a:pPr indent="0" marL="0">
              <a:buNone/>
            </a:pPr>
            <a:r>
              <a:rPr lang="en-US" sz="115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85800" y="4434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open_app competes directly with dominant tap in one flat distribution.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43600" y="1554480"/>
            <a:ext cx="5760720" cy="3657600"/>
          </a:xfrm>
          <a:prstGeom prst="roundRect">
            <a:avLst>
              <a:gd name="adj" fmla="val 2500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0" y="1554480"/>
            <a:ext cx="91440" cy="365760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17373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CAP-style v2 schema  </a:t>
            </a:r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172200" y="23317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2021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24231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"action_type": </a:t>
            </a:r>
            <a:pPr indent="0" marL="0">
              <a:buNone/>
            </a:pPr>
            <a:r>
              <a:rPr lang="en-US" sz="1100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"open_app",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"action_args": </a:t>
            </a:r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"app_name": "Slack"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72200" y="338328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2021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34747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"action_type": </a:t>
            </a:r>
            <a:pPr indent="0" marL="0">
              <a:buNone/>
            </a:pPr>
            <a:r>
              <a:rPr lang="en-US" sz="1100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"tap",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"action_args": </a:t>
            </a:r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"element_id": 7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72200" y="44348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first, then type-specific args — separates action selection from argument generation.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440680"/>
            <a:ext cx="11277295" cy="914400"/>
          </a:xfrm>
          <a:prstGeom prst="roundRect">
            <a:avLst>
              <a:gd name="adj" fmla="val 10000"/>
            </a:avLst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" y="5623560"/>
            <a:ext cx="548640" cy="5486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724144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463040" y="5486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+69.9 pp</a:t>
            </a:r>
            <a:endParaRPr lang="en-US" sz="3600" dirty="0"/>
          </a:p>
        </p:txBody>
      </p:sp>
      <p:sp>
        <p:nvSpPr>
          <p:cNvPr id="32" name="Text 28"/>
          <p:cNvSpPr/>
          <p:nvPr/>
        </p:nvSpPr>
        <p:spPr>
          <a:xfrm>
            <a:off x="4206240" y="5532120"/>
            <a:ext cx="7619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open_app accuracy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 (~2%) → Run K (~72%) on full test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 — prior-action history repaired scroll direction errors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56692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554480"/>
            <a:ext cx="91440" cy="365760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755648"/>
            <a:ext cx="384048" cy="3840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1965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70432" y="171907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input change: prior action prefix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5800" y="2331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ACTION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85800" y="2633472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2021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2960" y="272491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"action_type": </a:t>
            </a:r>
            <a:pPr indent="0" marL="0">
              <a:buNone/>
            </a:pPr>
            <a:r>
              <a:rPr lang="en-US" sz="1100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"scroll",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"action_args": </a:t>
            </a:r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"direction": "down"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3657600"/>
            <a:ext cx="274320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" y="3931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SCREEN + ELEMENT LEGEND  →  NEXT ACTION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85800" y="4434840"/>
            <a:ext cx="5212080" cy="640080"/>
          </a:xfrm>
          <a:prstGeom prst="rect">
            <a:avLst/>
          </a:prstGeom>
          <a:solidFill>
            <a:srgbClr val="F3E5F5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" y="4434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Single-variable A/B vs Run K — same lr, rank, schema, val selection. Only the prior-action prefix changed.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309360" y="155448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09360" y="1554480"/>
            <a:ext cx="91440" cy="365760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537960" y="1755648"/>
            <a:ext cx="384048" cy="38404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819656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22592" y="17190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accuracy lifted — overall edged up</a:t>
            </a:r>
            <a:endParaRPr lang="en-US" sz="13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537960" y="2331720"/>
          <a:ext cx="49377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 23"/>
          <p:cNvSpPr/>
          <p:nvPr/>
        </p:nvSpPr>
        <p:spPr>
          <a:xfrm>
            <a:off x="676656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scroll: +18.3 pp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57200" y="5440680"/>
            <a:ext cx="11277295" cy="914400"/>
          </a:xfrm>
          <a:prstGeom prst="roundRect">
            <a:avLst>
              <a:gd name="adj" fmla="val 10000"/>
            </a:avLst>
          </a:prstGeom>
          <a:solidFill>
            <a:srgbClr val="FEF7E0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77240" y="5623560"/>
            <a:ext cx="548640" cy="54864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5724144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463040" y="544068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finding:  </a:t>
            </a:r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did </a:t>
            </a:r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solve </a:t>
            </a:r>
            <a:pPr indent="0" marL="0">
              <a:buNone/>
            </a:pPr>
            <a:r>
              <a:rPr lang="en-US" sz="1200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(still ~0). It mainly fixed a systematic scroll-down → scroll-up convention flip.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AndroidControl result — Run L is the best methodology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206240" y="4023360"/>
            <a:ext cx="1280160" cy="12801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FULL-TEST ELEMENT-ACCURACY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22960" y="23317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0.5311</a:t>
            </a:r>
            <a:endParaRPr lang="en-US" sz="9600" dirty="0"/>
          </a:p>
        </p:txBody>
      </p:sp>
      <p:sp>
        <p:nvSpPr>
          <p:cNvPr id="16" name="Shape 12"/>
          <p:cNvSpPr/>
          <p:nvPr/>
        </p:nvSpPr>
        <p:spPr>
          <a:xfrm>
            <a:off x="822960" y="3977640"/>
            <a:ext cx="45720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+13.76 pp 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 ·  </a:t>
            </a:r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 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vs zero-shot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2296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 · checkpoint 2100 · validation-selected · 8,217 test rows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35040" y="1554480"/>
            <a:ext cx="56692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30936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on full test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263640" y="2194560"/>
          <a:ext cx="5212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ext 17"/>
          <p:cNvSpPr/>
          <p:nvPr/>
        </p:nvSpPr>
        <p:spPr>
          <a:xfrm>
            <a:off x="457200" y="61722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tap-radius for Run L: 0.6196 (kept only for backward comparison)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final improvement came from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2926080" cy="14020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554480"/>
            <a:ext cx="2926080" cy="73152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02082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open_app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2588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68.1%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3566160" y="1554480"/>
            <a:ext cx="2926080" cy="14020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566160" y="1554480"/>
            <a:ext cx="2926080" cy="73152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794760" y="1920240"/>
            <a:ext cx="502920" cy="50292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202082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3484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43484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457200" y="3139440"/>
            <a:ext cx="2926080" cy="14020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3139440"/>
            <a:ext cx="2926080" cy="73152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5800" y="3505200"/>
            <a:ext cx="502920" cy="50292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605784"/>
            <a:ext cx="301752" cy="3017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3368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325880" y="3733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3566160" y="3139440"/>
            <a:ext cx="2926080" cy="14020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566160" y="3139440"/>
            <a:ext cx="292608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794760" y="3505200"/>
            <a:ext cx="502920" cy="50292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344" y="3605784"/>
            <a:ext cx="301752" cy="30175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434840" y="3368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4434840" y="3733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2600" dirty="0"/>
          </a:p>
        </p:txBody>
      </p:sp>
      <p:sp>
        <p:nvSpPr>
          <p:cNvPr id="36" name="Shape 29"/>
          <p:cNvSpPr/>
          <p:nvPr/>
        </p:nvSpPr>
        <p:spPr>
          <a:xfrm>
            <a:off x="457200" y="4724400"/>
            <a:ext cx="2926080" cy="14020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57200" y="4724400"/>
            <a:ext cx="2926080" cy="73152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85800" y="5090160"/>
            <a:ext cx="502920" cy="50292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190744"/>
            <a:ext cx="301752" cy="30175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325880" y="4953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navigate_back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1325880" y="531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</a:t>
            </a:r>
            <a:endParaRPr lang="en-US" sz="2600" dirty="0"/>
          </a:p>
        </p:txBody>
      </p:sp>
      <p:sp>
        <p:nvSpPr>
          <p:cNvPr id="42" name="Shape 34"/>
          <p:cNvSpPr/>
          <p:nvPr/>
        </p:nvSpPr>
        <p:spPr>
          <a:xfrm>
            <a:off x="3566160" y="4724400"/>
            <a:ext cx="2926080" cy="14020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3566160" y="4724400"/>
            <a:ext cx="2926080" cy="73152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3794760" y="5090160"/>
            <a:ext cx="502920" cy="50292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5344" y="5190744"/>
            <a:ext cx="301752" cy="30175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434840" y="4953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400" dirty="0"/>
          </a:p>
        </p:txBody>
      </p:sp>
      <p:sp>
        <p:nvSpPr>
          <p:cNvPr id="47" name="Text 38"/>
          <p:cNvSpPr/>
          <p:nvPr/>
        </p:nvSpPr>
        <p:spPr>
          <a:xfrm>
            <a:off x="4434840" y="531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2600" dirty="0"/>
          </a:p>
        </p:txBody>
      </p:sp>
      <p:sp>
        <p:nvSpPr>
          <p:cNvPr id="48" name="Shape 39"/>
          <p:cNvSpPr/>
          <p:nvPr/>
        </p:nvSpPr>
        <p:spPr>
          <a:xfrm>
            <a:off x="6675120" y="155448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6675120" y="1554480"/>
            <a:ext cx="91440" cy="4572000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6903720" y="1755648"/>
            <a:ext cx="384048" cy="38404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8" y="1819656"/>
            <a:ext cx="256032" cy="256032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7388352" y="17190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53" name="Shape 43"/>
          <p:cNvSpPr/>
          <p:nvPr/>
        </p:nvSpPr>
        <p:spPr>
          <a:xfrm>
            <a:off x="6949440" y="2514600"/>
            <a:ext cx="164592" cy="16459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722376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open_app  </a:t>
            </a:r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turned a near-zero class into a strong class</a:t>
            </a:r>
            <a:endParaRPr lang="en-US" sz="1100" dirty="0"/>
          </a:p>
        </p:txBody>
      </p:sp>
      <p:sp>
        <p:nvSpPr>
          <p:cNvPr id="55" name="Shape 45"/>
          <p:cNvSpPr/>
          <p:nvPr/>
        </p:nvSpPr>
        <p:spPr>
          <a:xfrm>
            <a:off x="6949440" y="3108960"/>
            <a:ext cx="164592" cy="16459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7223760" y="3017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 </a:t>
            </a:r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a11y-native target lifted the dominant class</a:t>
            </a:r>
            <a:endParaRPr lang="en-US" sz="1100" dirty="0"/>
          </a:p>
        </p:txBody>
      </p:sp>
      <p:sp>
        <p:nvSpPr>
          <p:cNvPr id="57" name="Shape 47"/>
          <p:cNvSpPr/>
          <p:nvPr/>
        </p:nvSpPr>
        <p:spPr>
          <a:xfrm>
            <a:off x="6949440" y="3703320"/>
            <a:ext cx="164592" cy="16459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7223760" y="36118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 </a:t>
            </a:r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prior-history prefix repaired direction errors</a:t>
            </a:r>
            <a:endParaRPr lang="en-US" sz="1100" dirty="0"/>
          </a:p>
        </p:txBody>
      </p:sp>
      <p:sp>
        <p:nvSpPr>
          <p:cNvPr id="59" name="Shape 49"/>
          <p:cNvSpPr/>
          <p:nvPr/>
        </p:nvSpPr>
        <p:spPr>
          <a:xfrm>
            <a:off x="6949440" y="4297680"/>
            <a:ext cx="164592" cy="16459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7223760" y="4206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</a:t>
            </a:r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runs — never a bottleneck</a:t>
            </a:r>
            <a:endParaRPr lang="en-US" sz="1100" dirty="0"/>
          </a:p>
        </p:txBody>
      </p:sp>
      <p:sp>
        <p:nvSpPr>
          <p:cNvPr id="61" name="Shape 51"/>
          <p:cNvSpPr/>
          <p:nvPr/>
        </p:nvSpPr>
        <p:spPr>
          <a:xfrm>
            <a:off x="6949440" y="4892040"/>
            <a:ext cx="164592" cy="16459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2"/>
          <p:cNvSpPr/>
          <p:nvPr/>
        </p:nvSpPr>
        <p:spPr>
          <a:xfrm>
            <a:off x="7223760" y="48006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navigate_back  </a:t>
            </a:r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solved by the schema change</a:t>
            </a:r>
            <a:endParaRPr lang="en-US" sz="1100" dirty="0"/>
          </a:p>
        </p:txBody>
      </p:sp>
      <p:sp>
        <p:nvSpPr>
          <p:cNvPr id="63" name="Shape 53"/>
          <p:cNvSpPr/>
          <p:nvPr/>
        </p:nvSpPr>
        <p:spPr>
          <a:xfrm>
            <a:off x="6949440" y="5486400"/>
            <a:ext cx="164592" cy="16459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54"/>
          <p:cNvSpPr/>
          <p:nvPr/>
        </p:nvSpPr>
        <p:spPr>
          <a:xfrm>
            <a:off x="7223760" y="53949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 </a:t>
            </a:r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screenshots can't reveal loading state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· QLoRA · Final Project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997135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97135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Control — Final Project · Sanskar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691640"/>
            <a:ext cx="3637178" cy="365760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2057400"/>
            <a:ext cx="914400" cy="91440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138" y="21488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" y="315468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&gt; knobs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822960" y="38862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from coordinate digits to element IDs mattered more than LoRA rank, loss tweaks, or longer training.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277258" y="1691640"/>
            <a:ext cx="3637178" cy="365760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43018" y="2057400"/>
            <a:ext cx="914400" cy="91440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43018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197" y="21488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43018" y="315468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can lie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4643018" y="38862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Tap-radius made wrong-but-near elements look correct and inverted the learning curve. Element-accuracy matched production.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097317" y="1691640"/>
            <a:ext cx="3637178" cy="365760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463077" y="2057400"/>
            <a:ext cx="914400" cy="91440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63077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14884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463077" y="315468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 matter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8463077" y="38862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runs ruled out coordinate-token fixes and class-balanced loss, isolating CAP and history as the real gains.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" y="5532120"/>
            <a:ext cx="11277295" cy="777240"/>
          </a:xfrm>
          <a:prstGeom prst="roundRect">
            <a:avLst>
              <a:gd name="adj" fmla="val 11765"/>
            </a:avLst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87568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71600" y="553212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lesson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mobile UI control as structured action selection over UI state, not raw pixel-coordinate regression.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4A8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94415" y="548640"/>
            <a:ext cx="731520" cy="7315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1148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411480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440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989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AndroidWorld deployment was explored later, but it lies outside this deck's main scope — the AndroidControl result stands independently as the project's core.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120640" y="914400"/>
            <a:ext cx="667512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77840" y="1280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77840" y="17830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2B-class VLM </a:t>
            </a:r>
            <a:pPr indent="0" marL="0">
              <a:buNone/>
            </a:pPr>
            <a:r>
              <a:rPr lang="en-US" sz="2600" b="1" i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</a:t>
            </a:r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Android UI control — when the problem is framed as </a:t>
            </a:r>
            <a:pPr indent="0" marL="0">
              <a:buNone/>
            </a:pPr>
            <a:r>
              <a:rPr lang="en-US" sz="2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accessibility-native element selection</a:t>
            </a:r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577840" y="3611880"/>
            <a:ext cx="5760720" cy="822960"/>
          </a:xfrm>
          <a:prstGeom prst="roundRect">
            <a:avLst>
              <a:gd name="adj" fmla="val 11111"/>
            </a:avLst>
          </a:prstGeom>
          <a:solidFill>
            <a:srgbClr val="E6F4E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RECIPE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60720" y="39319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W </a:t>
            </a:r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CAP-style schema </a:t>
            </a:r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one-step history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577840" y="45720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4572000"/>
            <a:ext cx="73152" cy="1188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4709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0.5311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715000" y="52852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15000" y="5577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element-acc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589520" y="45720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89520" y="4572000"/>
            <a:ext cx="73152" cy="1188720"/>
          </a:xfrm>
          <a:prstGeom prst="rect">
            <a:avLst/>
          </a:prstGeom>
          <a:solidFill>
            <a:srgbClr val="5F6368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26680" y="4709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0.3935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726680" y="52852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726680" y="5577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601200" y="45720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601200" y="4572000"/>
            <a:ext cx="73152" cy="11887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738360" y="4709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738360" y="5285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738360" y="5577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+13.76 pp absolute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Control — Final Project</dc:title>
  <dc:subject>PptxGenJS Presentation</dc:subject>
  <dc:creator>Sanskar</dc:creator>
  <cp:lastModifiedBy>Sanskar</cp:lastModifiedBy>
  <cp:revision>1</cp:revision>
  <dcterms:created xsi:type="dcterms:W3CDTF">2026-05-05T21:25:17Z</dcterms:created>
  <dcterms:modified xsi:type="dcterms:W3CDTF">2026-05-05T21:25:17Z</dcterms:modified>
</cp:coreProperties>
</file>